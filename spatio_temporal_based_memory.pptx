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9895"/>
            <a:ext cx="35928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18131"/>
            <a:ext cx="3230879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0601" y="3351784"/>
            <a:ext cx="1155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slide" Target="slide1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slide" Target="slide18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slide" Target="slide1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" Target="slide1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Relationship Id="rId3" Type="http://schemas.openxmlformats.org/officeDocument/2006/relationships/image" Target="../media/image29.jpg"/><Relationship Id="rId4" Type="http://schemas.openxmlformats.org/officeDocument/2006/relationships/slide" Target="slide18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Relationship Id="rId3" Type="http://schemas.openxmlformats.org/officeDocument/2006/relationships/image" Target="../media/image30.png"/><Relationship Id="rId4" Type="http://schemas.openxmlformats.org/officeDocument/2006/relationships/slide" Target="slide18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" Target="slide1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Relationship Id="rId3" Type="http://schemas.openxmlformats.org/officeDocument/2006/relationships/image" Target="../media/image35.jpg"/><Relationship Id="rId4" Type="http://schemas.openxmlformats.org/officeDocument/2006/relationships/slide" Target="slide18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3" Type="http://schemas.openxmlformats.org/officeDocument/2006/relationships/slide" Target="slide18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0.xml"/><Relationship Id="rId3" Type="http://schemas.openxmlformats.org/officeDocument/2006/relationships/image" Target="../media/image36.jpg"/><Relationship Id="rId4" Type="http://schemas.openxmlformats.org/officeDocument/2006/relationships/slide" Target="slide18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slide" Target="slide18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" Target="slide18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2.xml"/><Relationship Id="rId3" Type="http://schemas.openxmlformats.org/officeDocument/2006/relationships/image" Target="../media/image47.jpg"/><Relationship Id="rId4" Type="http://schemas.openxmlformats.org/officeDocument/2006/relationships/slide" Target="slide18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2.xml"/><Relationship Id="rId3" Type="http://schemas.openxmlformats.org/officeDocument/2006/relationships/image" Target="../media/image48.jpg"/><Relationship Id="rId4" Type="http://schemas.openxmlformats.org/officeDocument/2006/relationships/slide" Target="slide18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3" Type="http://schemas.openxmlformats.org/officeDocument/2006/relationships/slide" Target="slide18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2.xml"/><Relationship Id="rId3" Type="http://schemas.openxmlformats.org/officeDocument/2006/relationships/image" Target="../media/image49.jpg"/><Relationship Id="rId4" Type="http://schemas.openxmlformats.org/officeDocument/2006/relationships/slide" Target="slide18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7743" y="852748"/>
            <a:ext cx="4483735" cy="723265"/>
            <a:chOff x="87743" y="852748"/>
            <a:chExt cx="4483735" cy="723265"/>
          </a:xfrm>
        </p:grpSpPr>
        <p:sp>
          <p:nvSpPr>
            <p:cNvPr id="4" name="object 4" descr=""/>
            <p:cNvSpPr/>
            <p:nvPr/>
          </p:nvSpPr>
          <p:spPr>
            <a:xfrm>
              <a:off x="138544" y="871585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4"/>
                  </a:lnTo>
                  <a:lnTo>
                    <a:pt x="4432566" y="703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852748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200"/>
                  </a:lnTo>
                  <a:lnTo>
                    <a:pt x="4008" y="640925"/>
                  </a:lnTo>
                  <a:lnTo>
                    <a:pt x="14922" y="657078"/>
                  </a:lnTo>
                  <a:lnTo>
                    <a:pt x="31075" y="667992"/>
                  </a:lnTo>
                  <a:lnTo>
                    <a:pt x="50800" y="672001"/>
                  </a:lnTo>
                  <a:lnTo>
                    <a:pt x="4381765" y="672001"/>
                  </a:lnTo>
                  <a:lnTo>
                    <a:pt x="4401490" y="667992"/>
                  </a:lnTo>
                  <a:lnTo>
                    <a:pt x="4417643" y="657078"/>
                  </a:lnTo>
                  <a:lnTo>
                    <a:pt x="4428558" y="640925"/>
                  </a:lnTo>
                  <a:lnTo>
                    <a:pt x="4432566" y="62120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871585"/>
            <a:ext cx="4432935" cy="704215"/>
          </a:xfrm>
          <a:prstGeom prst="rect"/>
        </p:spPr>
        <p:txBody>
          <a:bodyPr wrap="square" lIns="0" tIns="41910" rIns="0" bIns="0" rtlCol="0" vert="horz">
            <a:spAutoFit/>
          </a:bodyPr>
          <a:lstStyle/>
          <a:p>
            <a:pPr marL="721360" marR="215265" indent="-600710">
              <a:lnSpc>
                <a:spcPct val="106700"/>
              </a:lnSpc>
              <a:spcBef>
                <a:spcPts val="330"/>
              </a:spcBef>
            </a:pPr>
            <a:r>
              <a:rPr dirty="0" spc="-35"/>
              <a:t>Memristor-</a:t>
            </a:r>
            <a:r>
              <a:rPr dirty="0" spc="-30"/>
              <a:t>Based</a:t>
            </a:r>
            <a:r>
              <a:rPr dirty="0" spc="-15"/>
              <a:t> </a:t>
            </a:r>
            <a:r>
              <a:rPr dirty="0" spc="-30"/>
              <a:t>Spatio-</a:t>
            </a:r>
            <a:r>
              <a:rPr dirty="0" spc="-40"/>
              <a:t>Temporal</a:t>
            </a:r>
            <a:r>
              <a:rPr dirty="0" spc="-10"/>
              <a:t> </a:t>
            </a:r>
            <a:r>
              <a:rPr dirty="0" spc="-30"/>
              <a:t>Associative</a:t>
            </a:r>
            <a:r>
              <a:rPr dirty="0" spc="-10"/>
              <a:t> Memory </a:t>
            </a:r>
            <a:r>
              <a:rPr dirty="0" spc="-20"/>
              <a:t>(Concept</a:t>
            </a:r>
            <a:r>
              <a:rPr dirty="0" spc="-50"/>
              <a:t> </a:t>
            </a:r>
            <a:r>
              <a:rPr dirty="0" spc="-25"/>
              <a:t>Explanation</a:t>
            </a:r>
            <a:r>
              <a:rPr dirty="0" spc="-50"/>
              <a:t> </a:t>
            </a:r>
            <a:r>
              <a:rPr dirty="0" spc="-30"/>
              <a:t>and</a:t>
            </a:r>
            <a:r>
              <a:rPr dirty="0" spc="-50"/>
              <a:t> </a:t>
            </a:r>
            <a:r>
              <a:rPr dirty="0" spc="-10"/>
              <a:t>Replication)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769440" y="1734831"/>
            <a:ext cx="1069340" cy="815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Sachin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Mohanty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Tahoma"/>
                <a:cs typeface="Tahoma"/>
              </a:rPr>
              <a:t>IIIT</a:t>
            </a:r>
            <a:r>
              <a:rPr dirty="0" sz="800" spc="-2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Guwahati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45">
                <a:latin typeface="Tahoma"/>
                <a:cs typeface="Tahoma"/>
              </a:rPr>
              <a:t>February </a:t>
            </a:r>
            <a:r>
              <a:rPr dirty="0" sz="1100" spc="-25">
                <a:latin typeface="Tahoma"/>
                <a:cs typeface="Tahoma"/>
              </a:rPr>
              <a:t>16,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58479" y="792"/>
            <a:ext cx="391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Motivation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25"/>
              <a:t> </a:t>
            </a:r>
            <a:r>
              <a:rPr dirty="0" spc="-45"/>
              <a:t>Neuromorphic</a:t>
            </a:r>
            <a:r>
              <a:rPr dirty="0" spc="-20"/>
              <a:t> Computing?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2260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012863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03122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393367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905939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096198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608757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2799016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089" y="2989262"/>
            <a:ext cx="65265" cy="6526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81089" y="3179521"/>
            <a:ext cx="65265" cy="65265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25844" y="518310"/>
            <a:ext cx="3765550" cy="276987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196850" algn="l"/>
              </a:tabLst>
            </a:pPr>
            <a:r>
              <a:rPr dirty="0" sz="1100" spc="-10" b="1">
                <a:latin typeface="Arial"/>
                <a:cs typeface="Arial"/>
              </a:rPr>
              <a:t>Limitation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Conventional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Computing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13500"/>
              </a:lnSpc>
              <a:spcBef>
                <a:spcPts val="25"/>
              </a:spcBef>
            </a:pPr>
            <a:r>
              <a:rPr dirty="0" sz="1100">
                <a:latin typeface="Tahoma"/>
                <a:cs typeface="Tahoma"/>
              </a:rPr>
              <a:t>Von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Neumann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architecture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separates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memory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processor </a:t>
            </a:r>
            <a:r>
              <a:rPr dirty="0" sz="1100" spc="-20">
                <a:latin typeface="Tahoma"/>
                <a:cs typeface="Tahoma"/>
              </a:rPr>
              <a:t>Constant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 </a:t>
            </a:r>
            <a:r>
              <a:rPr dirty="0" sz="1100" spc="-60">
                <a:latin typeface="Tahoma"/>
                <a:cs typeface="Tahoma"/>
              </a:rPr>
              <a:t>movement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-2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Tahoma"/>
                <a:cs typeface="Tahoma"/>
              </a:rPr>
              <a:t>high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energy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consumption </a:t>
            </a:r>
            <a:r>
              <a:rPr dirty="0" sz="1100" spc="-30">
                <a:latin typeface="Tahoma"/>
                <a:cs typeface="Tahoma"/>
              </a:rPr>
              <a:t>Memory bottleneck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limits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performance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80"/>
              </a:spcBef>
            </a:pPr>
            <a:r>
              <a:rPr dirty="0" sz="1100" spc="-20">
                <a:latin typeface="Tahoma"/>
                <a:cs typeface="Tahoma"/>
              </a:rPr>
              <a:t>Scaling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CMOS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reaching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physical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limits</a:t>
            </a:r>
            <a:endParaRPr sz="1100">
              <a:latin typeface="Tahoma"/>
              <a:cs typeface="Tahoma"/>
            </a:endParaRPr>
          </a:p>
          <a:p>
            <a:pPr marL="196850" indent="-184150">
              <a:lnSpc>
                <a:spcPct val="100000"/>
              </a:lnSpc>
              <a:spcBef>
                <a:spcPts val="1190"/>
              </a:spcBef>
              <a:buAutoNum type="arabicPeriod" startAt="2"/>
              <a:tabLst>
                <a:tab pos="196850" algn="l"/>
              </a:tabLst>
            </a:pPr>
            <a:r>
              <a:rPr dirty="0" sz="1100" spc="-40" b="1">
                <a:latin typeface="Arial"/>
                <a:cs typeface="Arial"/>
              </a:rPr>
              <a:t>Energy</a:t>
            </a:r>
            <a:r>
              <a:rPr dirty="0" sz="1100" spc="-10" b="1">
                <a:latin typeface="Arial"/>
                <a:cs typeface="Arial"/>
              </a:rPr>
              <a:t> Comparison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04"/>
              </a:spcBef>
            </a:pPr>
            <a:r>
              <a:rPr dirty="0" sz="1100" spc="-30">
                <a:latin typeface="Tahoma"/>
                <a:cs typeface="Tahoma"/>
              </a:rPr>
              <a:t>Human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brain:</a:t>
            </a:r>
            <a:r>
              <a:rPr dirty="0" sz="1100" spc="28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Watts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100" spc="-10">
                <a:latin typeface="Tahoma"/>
                <a:cs typeface="Tahoma"/>
              </a:rPr>
              <a:t>Modern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systems: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Kilowatts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Megawatts</a:t>
            </a:r>
            <a:endParaRPr sz="1100">
              <a:latin typeface="Tahoma"/>
              <a:cs typeface="Tahoma"/>
            </a:endParaRPr>
          </a:p>
          <a:p>
            <a:pPr marL="289560" marR="1765935" indent="-277495">
              <a:lnSpc>
                <a:spcPct val="115500"/>
              </a:lnSpc>
              <a:spcBef>
                <a:spcPts val="990"/>
              </a:spcBef>
            </a:pPr>
            <a:r>
              <a:rPr dirty="0" sz="1100" spc="-40">
                <a:latin typeface="Tahoma"/>
                <a:cs typeface="Tahoma"/>
              </a:rPr>
              <a:t>Need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systems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are: </a:t>
            </a:r>
            <a:r>
              <a:rPr dirty="0" sz="1100" spc="-35">
                <a:latin typeface="Tahoma"/>
                <a:cs typeface="Tahoma"/>
              </a:rPr>
              <a:t>Energy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efficient</a:t>
            </a:r>
            <a:endParaRPr sz="1100">
              <a:latin typeface="Tahoma"/>
              <a:cs typeface="Tahoma"/>
            </a:endParaRPr>
          </a:p>
          <a:p>
            <a:pPr marL="289560" marR="2742565">
              <a:lnSpc>
                <a:spcPct val="113500"/>
              </a:lnSpc>
            </a:pPr>
            <a:r>
              <a:rPr dirty="0" sz="1100" spc="-10">
                <a:latin typeface="Tahoma"/>
                <a:cs typeface="Tahoma"/>
              </a:rPr>
              <a:t>Parallel </a:t>
            </a:r>
            <a:r>
              <a:rPr dirty="0" sz="1100" spc="-45">
                <a:latin typeface="Tahoma"/>
                <a:cs typeface="Tahoma"/>
              </a:rPr>
              <a:t>Event-driven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100" spc="-30">
                <a:latin typeface="Tahoma"/>
                <a:cs typeface="Tahoma"/>
              </a:rPr>
              <a:t>Memory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computation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integrated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3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13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58479" y="792"/>
            <a:ext cx="391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Motivation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30"/>
              <a:t> </a:t>
            </a:r>
            <a:r>
              <a:rPr dirty="0" spc="-50"/>
              <a:t>Brain-</a:t>
            </a:r>
            <a:r>
              <a:rPr dirty="0" spc="-35"/>
              <a:t>Inspired</a:t>
            </a:r>
            <a:r>
              <a:rPr dirty="0" spc="-25"/>
              <a:t> </a:t>
            </a:r>
            <a:r>
              <a:rPr dirty="0" spc="-40"/>
              <a:t>Systems?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3582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041946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48079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45420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867750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073872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279993"/>
            <a:ext cx="65265" cy="6526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25844" y="505076"/>
            <a:ext cx="3066415" cy="2831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9560" marR="1357630" indent="-277495">
              <a:lnSpc>
                <a:spcPct val="123100"/>
              </a:lnSpc>
              <a:spcBef>
                <a:spcPts val="10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human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brain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performs: Pattern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recognition </a:t>
            </a:r>
            <a:r>
              <a:rPr dirty="0" sz="1100" spc="-25">
                <a:latin typeface="Tahoma"/>
                <a:cs typeface="Tahoma"/>
              </a:rPr>
              <a:t>Associative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memory </a:t>
            </a:r>
            <a:r>
              <a:rPr dirty="0" sz="1100" spc="-35">
                <a:latin typeface="Tahoma"/>
                <a:cs typeface="Tahoma"/>
              </a:rPr>
              <a:t>Learning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adaptation </a:t>
            </a:r>
            <a:r>
              <a:rPr dirty="0" sz="1100">
                <a:latin typeface="Tahoma"/>
                <a:cs typeface="Tahoma"/>
              </a:rPr>
              <a:t>Fault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tolerance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100" spc="-10">
                <a:latin typeface="Tahoma"/>
                <a:cs typeface="Tahoma"/>
              </a:rPr>
              <a:t>using:</a:t>
            </a:r>
            <a:endParaRPr sz="1100">
              <a:latin typeface="Tahoma"/>
              <a:cs typeface="Tahoma"/>
            </a:endParaRPr>
          </a:p>
          <a:p>
            <a:pPr marL="289560" marR="1419860">
              <a:lnSpc>
                <a:spcPct val="123000"/>
              </a:lnSpc>
              <a:spcBef>
                <a:spcPts val="5"/>
              </a:spcBef>
            </a:pPr>
            <a:r>
              <a:rPr dirty="0" sz="1100" spc="-25">
                <a:latin typeface="Tahoma"/>
                <a:cs typeface="Tahoma"/>
              </a:rPr>
              <a:t>Massive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parallelism </a:t>
            </a:r>
            <a:r>
              <a:rPr dirty="0" sz="1100" spc="-20">
                <a:latin typeface="Tahoma"/>
                <a:cs typeface="Tahoma"/>
              </a:rPr>
              <a:t>Spiking </a:t>
            </a:r>
            <a:r>
              <a:rPr dirty="0" sz="1100" spc="-45">
                <a:latin typeface="Tahoma"/>
                <a:cs typeface="Tahoma"/>
              </a:rPr>
              <a:t>communication </a:t>
            </a:r>
            <a:r>
              <a:rPr dirty="0" sz="1100" spc="-20">
                <a:latin typeface="Tahoma"/>
                <a:cs typeface="Tahoma"/>
              </a:rPr>
              <a:t>Synaptic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plasticity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Tahoma"/>
                <a:cs typeface="Tahoma"/>
              </a:rPr>
              <a:t>Neuromorphic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25">
                <a:latin typeface="Tahoma"/>
                <a:cs typeface="Tahoma"/>
              </a:rPr>
              <a:t> attempts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replicate: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marL="1302385">
              <a:lnSpc>
                <a:spcPct val="100000"/>
              </a:lnSpc>
              <a:spcBef>
                <a:spcPts val="5"/>
              </a:spcBef>
            </a:pPr>
            <a:r>
              <a:rPr dirty="0" sz="1100" spc="-40">
                <a:latin typeface="Tahoma"/>
                <a:cs typeface="Tahoma"/>
              </a:rPr>
              <a:t>Neurons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Synapses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Spikes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hardware.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0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10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58479" y="792"/>
            <a:ext cx="391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Motivation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 spc="-25"/>
              <a:t>Memristors</a:t>
            </a:r>
            <a:r>
              <a:rPr dirty="0" spc="-45"/>
              <a:t> </a:t>
            </a:r>
            <a:r>
              <a:rPr dirty="0" spc="-10"/>
              <a:t>for</a:t>
            </a:r>
            <a:r>
              <a:rPr dirty="0" spc="-45"/>
              <a:t> Neuromorphic</a:t>
            </a:r>
            <a:r>
              <a:rPr dirty="0" spc="-40"/>
              <a:t> </a:t>
            </a:r>
            <a:r>
              <a:rPr dirty="0" spc="-35"/>
              <a:t>Systems?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06272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16304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326337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536369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746402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642197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852229"/>
            <a:ext cx="65265" cy="6526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3062262"/>
            <a:ext cx="65265" cy="6526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5844" y="569008"/>
            <a:ext cx="2929255" cy="2601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dirty="0" sz="1100" spc="-30">
                <a:latin typeface="Tahoma"/>
                <a:cs typeface="Tahoma"/>
              </a:rPr>
              <a:t>Memristors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naturally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resemble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biological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synapses: </a:t>
            </a:r>
            <a:r>
              <a:rPr dirty="0" sz="1100" spc="-40">
                <a:latin typeface="Tahoma"/>
                <a:cs typeface="Tahoma"/>
              </a:rPr>
              <a:t>Resistance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depends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history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(plasticity) </a:t>
            </a:r>
            <a:r>
              <a:rPr dirty="0" sz="1100" spc="-45">
                <a:latin typeface="Tahoma"/>
                <a:cs typeface="Tahoma"/>
              </a:rPr>
              <a:t>Non-</a:t>
            </a:r>
            <a:r>
              <a:rPr dirty="0" sz="1100" spc="-20">
                <a:latin typeface="Tahoma"/>
                <a:cs typeface="Tahoma"/>
              </a:rPr>
              <a:t>volatile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memory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Tahoma"/>
                <a:cs typeface="Tahoma"/>
              </a:rPr>
              <a:t>Analog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weight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storage</a:t>
            </a:r>
            <a:endParaRPr sz="1100">
              <a:latin typeface="Tahoma"/>
              <a:cs typeface="Tahoma"/>
            </a:endParaRPr>
          </a:p>
          <a:p>
            <a:pPr marL="289560" marR="730250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High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density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crossbar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integration Energy </a:t>
            </a:r>
            <a:r>
              <a:rPr dirty="0" sz="1100" spc="-30">
                <a:latin typeface="Tahoma"/>
                <a:cs typeface="Tahoma"/>
              </a:rPr>
              <a:t>efficient </a:t>
            </a:r>
            <a:r>
              <a:rPr dirty="0" sz="1100" spc="-10">
                <a:latin typeface="Tahoma"/>
                <a:cs typeface="Tahoma"/>
              </a:rPr>
              <a:t>switching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Memristor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Electronic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analogue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synapse</a:t>
            </a:r>
            <a:endParaRPr sz="1100">
              <a:latin typeface="Tahoma"/>
              <a:cs typeface="Tahoma"/>
            </a:endParaRPr>
          </a:p>
          <a:p>
            <a:pPr marL="289560" marR="1261110" indent="-277495">
              <a:lnSpc>
                <a:spcPct val="125299"/>
              </a:lnSpc>
              <a:spcBef>
                <a:spcPts val="894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makes</a:t>
            </a:r>
            <a:r>
              <a:rPr dirty="0" sz="1100" spc="-25">
                <a:latin typeface="Tahoma"/>
                <a:cs typeface="Tahoma"/>
              </a:rPr>
              <a:t> them </a:t>
            </a:r>
            <a:r>
              <a:rPr dirty="0" sz="1100" spc="-20">
                <a:latin typeface="Tahoma"/>
                <a:cs typeface="Tahoma"/>
              </a:rPr>
              <a:t>ideal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for: </a:t>
            </a:r>
            <a:r>
              <a:rPr dirty="0" sz="1100" spc="-40">
                <a:latin typeface="Tahoma"/>
                <a:cs typeface="Tahoma"/>
              </a:rPr>
              <a:t>Neuromorphic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circuits </a:t>
            </a:r>
            <a:r>
              <a:rPr dirty="0" sz="1100" spc="-25">
                <a:latin typeface="Tahoma"/>
                <a:cs typeface="Tahoma"/>
              </a:rPr>
              <a:t>Associative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memory </a:t>
            </a:r>
            <a:r>
              <a:rPr dirty="0" sz="1100" spc="-20">
                <a:latin typeface="Tahoma"/>
                <a:cs typeface="Tahoma"/>
              </a:rPr>
              <a:t>Spiking</a:t>
            </a:r>
            <a:r>
              <a:rPr dirty="0" sz="1100" spc="-35">
                <a:latin typeface="Tahoma"/>
                <a:cs typeface="Tahoma"/>
              </a:rPr>
              <a:t> neural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11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11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82" y="792"/>
            <a:ext cx="7239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Fundamental</a:t>
            </a:r>
            <a:r>
              <a:rPr dirty="0" sz="600" spc="-1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Theory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Flux–Charge</a:t>
            </a:r>
            <a:r>
              <a:rPr dirty="0" spc="-70"/>
              <a:t> </a:t>
            </a:r>
            <a:r>
              <a:rPr dirty="0" spc="-20"/>
              <a:t>Relation</a:t>
            </a:r>
            <a:r>
              <a:rPr dirty="0" spc="-65"/>
              <a:t> </a:t>
            </a:r>
            <a:r>
              <a:rPr dirty="0"/>
              <a:t>(Chua’s</a:t>
            </a:r>
            <a:r>
              <a:rPr dirty="0" spc="-65"/>
              <a:t> </a:t>
            </a:r>
            <a:r>
              <a:rPr dirty="0" spc="-10"/>
              <a:t>Missing</a:t>
            </a:r>
            <a:r>
              <a:rPr dirty="0" spc="-65"/>
              <a:t> </a:t>
            </a:r>
            <a:r>
              <a:rPr dirty="0" spc="-10"/>
              <a:t>Element)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25844" y="545603"/>
            <a:ext cx="2033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Four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fundamental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circuit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variables: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42495" y="918907"/>
            <a:ext cx="417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72411" y="730337"/>
            <a:ext cx="102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0">
                <a:latin typeface="Arial MT"/>
                <a:cs typeface="Arial MT"/>
              </a:rPr>
              <a:t>∫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34057" y="918907"/>
            <a:ext cx="433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sz="1100" spc="50">
                <a:latin typeface="Tahoma"/>
                <a:cs typeface="Tahoma"/>
              </a:rPr>
              <a:t>(</a:t>
            </a:r>
            <a:r>
              <a:rPr dirty="0" sz="1100" spc="50" i="1">
                <a:latin typeface="Arial"/>
                <a:cs typeface="Arial"/>
              </a:rPr>
              <a:t>t</a:t>
            </a:r>
            <a:r>
              <a:rPr dirty="0" sz="1100" spc="50">
                <a:latin typeface="Tahoma"/>
                <a:cs typeface="Tahoma"/>
              </a:rPr>
              <a:t>)</a:t>
            </a:r>
            <a:r>
              <a:rPr dirty="0" sz="1100" spc="-1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dt,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03174" y="918907"/>
            <a:ext cx="422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ϕ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15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38322" y="730337"/>
            <a:ext cx="1028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0">
                <a:latin typeface="Arial MT"/>
                <a:cs typeface="Arial MT"/>
              </a:rPr>
              <a:t>∫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399955" y="918907"/>
            <a:ext cx="417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50">
                <a:latin typeface="Tahoma"/>
                <a:cs typeface="Tahoma"/>
              </a:rPr>
              <a:t>(</a:t>
            </a:r>
            <a:r>
              <a:rPr dirty="0" sz="1100" spc="50" i="1">
                <a:latin typeface="Arial"/>
                <a:cs typeface="Arial"/>
              </a:rPr>
              <a:t>t</a:t>
            </a:r>
            <a:r>
              <a:rPr dirty="0" sz="1100" spc="50">
                <a:latin typeface="Tahoma"/>
                <a:cs typeface="Tahoma"/>
              </a:rPr>
              <a:t>)</a:t>
            </a:r>
            <a:r>
              <a:rPr dirty="0" sz="1100" spc="-15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dt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20799"/>
            <a:ext cx="65265" cy="6526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9740"/>
            <a:ext cx="65265" cy="6526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8680"/>
            <a:ext cx="65265" cy="65265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25844" y="918907"/>
            <a:ext cx="1457960" cy="1337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68020">
              <a:lnSpc>
                <a:spcPct val="100000"/>
              </a:lnSpc>
              <a:spcBef>
                <a:spcPts val="90"/>
              </a:spcBef>
              <a:tabLst>
                <a:tab pos="1114425" algn="l"/>
              </a:tabLst>
            </a:pP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(</a:t>
            </a:r>
            <a:r>
              <a:rPr dirty="0" sz="1100" spc="-20" i="1">
                <a:latin typeface="Arial"/>
                <a:cs typeface="Arial"/>
              </a:rPr>
              <a:t>t</a:t>
            </a:r>
            <a:r>
              <a:rPr dirty="0" sz="1100" spc="-20">
                <a:latin typeface="Tahoma"/>
                <a:cs typeface="Tahoma"/>
              </a:rPr>
              <a:t>)</a:t>
            </a:r>
            <a:r>
              <a:rPr dirty="0" sz="1100" spc="-20" i="1">
                <a:latin typeface="Arial"/>
                <a:cs typeface="Arial"/>
              </a:rPr>
              <a:t>,</a:t>
            </a:r>
            <a:r>
              <a:rPr dirty="0" sz="1100" i="1">
                <a:latin typeface="Arial"/>
                <a:cs typeface="Arial"/>
              </a:rPr>
              <a:t>	i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(</a:t>
            </a:r>
            <a:r>
              <a:rPr dirty="0" sz="1100" spc="-20" i="1">
                <a:latin typeface="Arial"/>
                <a:cs typeface="Arial"/>
              </a:rPr>
              <a:t>t</a:t>
            </a:r>
            <a:r>
              <a:rPr dirty="0" sz="1100" spc="-20">
                <a:latin typeface="Tahoma"/>
                <a:cs typeface="Tahoma"/>
              </a:rPr>
              <a:t>)</a:t>
            </a:r>
            <a:r>
              <a:rPr dirty="0" sz="1100" spc="-20" i="1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  <a:p>
            <a:pPr marL="289560" marR="5080" indent="-277495">
              <a:lnSpc>
                <a:spcPct val="124700"/>
              </a:lnSpc>
              <a:spcBef>
                <a:spcPts val="790"/>
              </a:spcBef>
            </a:pPr>
            <a:r>
              <a:rPr dirty="0" sz="1100" spc="-20">
                <a:latin typeface="Tahoma"/>
                <a:cs typeface="Tahoma"/>
              </a:rPr>
              <a:t>Three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classical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elements: </a:t>
            </a:r>
            <a:r>
              <a:rPr dirty="0" sz="1100" spc="-30">
                <a:latin typeface="Tahoma"/>
                <a:cs typeface="Tahoma"/>
              </a:rPr>
              <a:t>Resistor: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v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Ri </a:t>
            </a:r>
            <a:r>
              <a:rPr dirty="0" sz="1100" spc="-20">
                <a:latin typeface="Tahoma"/>
                <a:cs typeface="Tahoma"/>
              </a:rPr>
              <a:t>Capacitor: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Cv </a:t>
            </a:r>
            <a:r>
              <a:rPr dirty="0" sz="1100" spc="-45">
                <a:latin typeface="Tahoma"/>
                <a:cs typeface="Tahoma"/>
              </a:rPr>
              <a:t>Inductor:</a:t>
            </a:r>
            <a:r>
              <a:rPr dirty="0" sz="1100" spc="1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ϕ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Li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40" b="1">
                <a:latin typeface="Arial"/>
                <a:cs typeface="Arial"/>
              </a:rPr>
              <a:t>Missing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relation: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41334" y="2439021"/>
            <a:ext cx="48958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M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2471508" y="2555633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 h="0">
                <a:moveTo>
                  <a:pt x="0" y="0"/>
                </a:moveTo>
                <a:lnTo>
                  <a:pt x="1672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458808" y="2322789"/>
            <a:ext cx="19304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 marR="5080" indent="-9525">
              <a:lnSpc>
                <a:spcPct val="112599"/>
              </a:lnSpc>
              <a:spcBef>
                <a:spcPts val="100"/>
              </a:spcBef>
            </a:pPr>
            <a:r>
              <a:rPr dirty="0" sz="1100" spc="-25" i="1">
                <a:latin typeface="Arial"/>
                <a:cs typeface="Arial"/>
              </a:rPr>
              <a:t>dϕ dq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5844" y="2777348"/>
            <a:ext cx="2892425" cy="532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0">
              <a:lnSpc>
                <a:spcPct val="151100"/>
              </a:lnSpc>
              <a:spcBef>
                <a:spcPts val="100"/>
              </a:spcBef>
            </a:pP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65" i="1">
                <a:latin typeface="Arial"/>
                <a:cs typeface="Arial"/>
              </a:rPr>
              <a:t> </a:t>
            </a:r>
            <a:r>
              <a:rPr dirty="0" sz="1100" spc="50">
                <a:latin typeface="Tahoma"/>
                <a:cs typeface="Tahoma"/>
              </a:rPr>
              <a:t>(</a:t>
            </a:r>
            <a:r>
              <a:rPr dirty="0" sz="1100" spc="50" i="1">
                <a:latin typeface="Arial"/>
                <a:cs typeface="Arial"/>
              </a:rPr>
              <a:t>t</a:t>
            </a:r>
            <a:r>
              <a:rPr dirty="0" sz="1100" spc="50">
                <a:latin typeface="Tahoma"/>
                <a:cs typeface="Tahoma"/>
              </a:rPr>
              <a:t>)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M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sz="1100">
                <a:latin typeface="Tahoma"/>
                <a:cs typeface="Tahoma"/>
              </a:rPr>
              <a:t>))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·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25">
                <a:latin typeface="Tahoma"/>
                <a:cs typeface="Tahoma"/>
              </a:rPr>
              <a:t>(</a:t>
            </a:r>
            <a:r>
              <a:rPr dirty="0" sz="1100" spc="25" i="1">
                <a:latin typeface="Arial"/>
                <a:cs typeface="Arial"/>
              </a:rPr>
              <a:t>t</a:t>
            </a:r>
            <a:r>
              <a:rPr dirty="0" sz="1100" spc="25">
                <a:latin typeface="Tahoma"/>
                <a:cs typeface="Tahoma"/>
              </a:rPr>
              <a:t>) </a:t>
            </a:r>
            <a:r>
              <a:rPr dirty="0" sz="1100" spc="-40">
                <a:latin typeface="Tahoma"/>
                <a:cs typeface="Tahoma"/>
              </a:rPr>
              <a:t>Resistance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depends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charge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history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-15">
                <a:latin typeface="Lucida Sans Unicode"/>
                <a:cs typeface="Lucida Sans Unicode"/>
              </a:rPr>
              <a:t> </a:t>
            </a:r>
            <a:r>
              <a:rPr dirty="0" sz="1100" spc="-75">
                <a:latin typeface="Tahoma"/>
                <a:cs typeface="Tahoma"/>
              </a:rPr>
              <a:t>memory.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6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6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82" y="792"/>
            <a:ext cx="7239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Fundamental</a:t>
            </a:r>
            <a:r>
              <a:rPr dirty="0" sz="600" spc="-1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Theory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285877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5">
                <a:solidFill>
                  <a:srgbClr val="CC0000"/>
                </a:solidFill>
                <a:latin typeface="Tahoma"/>
                <a:cs typeface="Tahoma"/>
              </a:rPr>
              <a:t>Flux–Charge</a:t>
            </a:r>
            <a:r>
              <a:rPr dirty="0" sz="1400" spc="-25">
                <a:solidFill>
                  <a:srgbClr val="CC0000"/>
                </a:solidFill>
                <a:latin typeface="Tahoma"/>
                <a:cs typeface="Tahoma"/>
              </a:rPr>
              <a:t> Graphical </a:t>
            </a:r>
            <a:r>
              <a:rPr dirty="0" sz="1400" spc="-45">
                <a:solidFill>
                  <a:srgbClr val="CC0000"/>
                </a:solidFill>
                <a:latin typeface="Tahoma"/>
                <a:cs typeface="Tahoma"/>
              </a:rPr>
              <a:t>Representation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700" y="687525"/>
            <a:ext cx="2455327" cy="2374687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82" y="792"/>
            <a:ext cx="7239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Fundamental</a:t>
            </a:r>
            <a:r>
              <a:rPr dirty="0" sz="600" spc="-1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Theory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139001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CC0000"/>
                </a:solidFill>
                <a:latin typeface="Tahoma"/>
                <a:cs typeface="Tahoma"/>
              </a:rPr>
              <a:t>Memristor</a:t>
            </a:r>
            <a:r>
              <a:rPr dirty="0" sz="1400" spc="-25">
                <a:solidFill>
                  <a:srgbClr val="CC0000"/>
                </a:solidFill>
                <a:latin typeface="Tahoma"/>
                <a:cs typeface="Tahoma"/>
              </a:rPr>
              <a:t> Symbol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8514" y="1270189"/>
            <a:ext cx="1723181" cy="930213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82" y="792"/>
            <a:ext cx="7239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Fundamental</a:t>
            </a:r>
            <a:r>
              <a:rPr dirty="0" sz="600" spc="-1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Theory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Formation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Hysteresis</a:t>
            </a:r>
            <a:r>
              <a:rPr dirty="0" spc="-40"/>
              <a:t> </a:t>
            </a:r>
            <a:r>
              <a:rPr dirty="0" spc="-20"/>
              <a:t>Loop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9839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9872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89937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99970"/>
            <a:ext cx="65265" cy="6526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7744" y="739964"/>
            <a:ext cx="2804795" cy="2222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Applied </a:t>
            </a:r>
            <a:r>
              <a:rPr dirty="0" sz="1100" spc="-10">
                <a:latin typeface="Tahoma"/>
                <a:cs typeface="Tahoma"/>
              </a:rPr>
              <a:t>voltage:</a:t>
            </a:r>
            <a:endParaRPr sz="1100">
              <a:latin typeface="Tahoma"/>
              <a:cs typeface="Tahoma"/>
            </a:endParaRPr>
          </a:p>
          <a:p>
            <a:pPr algn="ctr" marL="1628139">
              <a:lnSpc>
                <a:spcPct val="100000"/>
              </a:lnSpc>
              <a:spcBef>
                <a:spcPts val="35"/>
              </a:spcBef>
            </a:pPr>
            <a:r>
              <a:rPr dirty="0" sz="1100" spc="-55" i="1">
                <a:latin typeface="Arial"/>
                <a:cs typeface="Arial"/>
              </a:rPr>
              <a:t>v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50">
                <a:latin typeface="Tahoma"/>
                <a:cs typeface="Tahoma"/>
              </a:rPr>
              <a:t>(</a:t>
            </a:r>
            <a:r>
              <a:rPr dirty="0" sz="1100" spc="50" i="1">
                <a:latin typeface="Arial"/>
                <a:cs typeface="Arial"/>
              </a:rPr>
              <a:t>t</a:t>
            </a:r>
            <a:r>
              <a:rPr dirty="0" sz="1100" spc="50">
                <a:latin typeface="Tahoma"/>
                <a:cs typeface="Tahoma"/>
              </a:rPr>
              <a:t>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V</a:t>
            </a:r>
            <a:r>
              <a:rPr dirty="0" baseline="-10416" sz="1200">
                <a:latin typeface="Tahoma"/>
                <a:cs typeface="Tahoma"/>
              </a:rPr>
              <a:t>0</a:t>
            </a:r>
            <a:r>
              <a:rPr dirty="0" baseline="-10416" sz="1200" spc="-22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sin(</a:t>
            </a:r>
            <a:r>
              <a:rPr dirty="0" sz="1100" spc="-10" i="1">
                <a:latin typeface="Arial"/>
                <a:cs typeface="Arial"/>
              </a:rPr>
              <a:t>ωt</a:t>
            </a:r>
            <a:r>
              <a:rPr dirty="0" sz="1100" spc="-1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680"/>
              </a:spcBef>
            </a:pPr>
            <a:r>
              <a:rPr dirty="0" sz="1100" spc="-20">
                <a:latin typeface="Tahoma"/>
                <a:cs typeface="Tahoma"/>
              </a:rPr>
              <a:t>Low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frequency:</a:t>
            </a:r>
            <a:endParaRPr sz="1100">
              <a:latin typeface="Tahoma"/>
              <a:cs typeface="Tahoma"/>
            </a:endParaRPr>
          </a:p>
          <a:p>
            <a:pPr marL="327660" marR="824865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State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variable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tracks</a:t>
            </a:r>
            <a:r>
              <a:rPr dirty="0" sz="1100" spc="-45">
                <a:latin typeface="Tahoma"/>
                <a:cs typeface="Tahoma"/>
              </a:rPr>
              <a:t> voltage </a:t>
            </a:r>
            <a:r>
              <a:rPr dirty="0" sz="1100" spc="-40">
                <a:latin typeface="Tahoma"/>
                <a:cs typeface="Tahoma"/>
              </a:rPr>
              <a:t>Large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pinched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hysteresis</a:t>
            </a:r>
            <a:endParaRPr sz="110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High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frequency:</a:t>
            </a:r>
            <a:endParaRPr sz="1100">
              <a:latin typeface="Tahoma"/>
              <a:cs typeface="Tahoma"/>
            </a:endParaRPr>
          </a:p>
          <a:p>
            <a:pPr marL="327660" marR="1464310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State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lags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behind </a:t>
            </a:r>
            <a:r>
              <a:rPr dirty="0" sz="1100">
                <a:latin typeface="Tahoma"/>
                <a:cs typeface="Tahoma"/>
              </a:rPr>
              <a:t>Loop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shrinks</a:t>
            </a:r>
            <a:endParaRPr sz="110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335"/>
              </a:spcBef>
            </a:pPr>
            <a:r>
              <a:rPr dirty="0" sz="1100" spc="-20">
                <a:latin typeface="Tahoma"/>
                <a:cs typeface="Tahoma"/>
              </a:rPr>
              <a:t>Pinched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origin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because: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ahoma"/>
              <a:cs typeface="Tahoma"/>
            </a:endParaRPr>
          </a:p>
          <a:p>
            <a:pPr algn="ctr" marL="1628139">
              <a:lnSpc>
                <a:spcPct val="100000"/>
              </a:lnSpc>
            </a:pPr>
            <a:r>
              <a:rPr dirty="0" sz="1100" i="1">
                <a:latin typeface="Arial"/>
                <a:cs typeface="Arial"/>
              </a:rPr>
              <a:t>v</a:t>
            </a:r>
            <a:r>
              <a:rPr dirty="0" sz="1100" spc="12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130">
                <a:latin typeface="Cambria"/>
                <a:cs typeface="Cambria"/>
              </a:rPr>
              <a:t>⇒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25282" y="792"/>
            <a:ext cx="7239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Fundamental</a:t>
            </a:r>
            <a:r>
              <a:rPr dirty="0" sz="600" spc="-1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Theory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215646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CC0000"/>
                </a:solidFill>
                <a:latin typeface="Tahoma"/>
                <a:cs typeface="Tahoma"/>
              </a:rPr>
              <a:t>Pinched</a:t>
            </a:r>
            <a:r>
              <a:rPr dirty="0" sz="1400" spc="-8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C0000"/>
                </a:solidFill>
                <a:latin typeface="Tahoma"/>
                <a:cs typeface="Tahoma"/>
              </a:rPr>
              <a:t>I–V</a:t>
            </a:r>
            <a:r>
              <a:rPr dirty="0" sz="1400" spc="-7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CC0000"/>
                </a:solidFill>
                <a:latin typeface="Tahoma"/>
                <a:cs typeface="Tahoma"/>
              </a:rPr>
              <a:t>Hysteresis</a:t>
            </a:r>
            <a:r>
              <a:rPr dirty="0" sz="1400" spc="-6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C0000"/>
                </a:solidFill>
                <a:latin typeface="Tahoma"/>
                <a:cs typeface="Tahoma"/>
              </a:rPr>
              <a:t>Loop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202" y="1069230"/>
            <a:ext cx="3031000" cy="160946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5851" y="792"/>
            <a:ext cx="5435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VTEAM</a:t>
            </a:r>
            <a:r>
              <a:rPr dirty="0" sz="600" spc="3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Model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95"/>
              <a:t>VTEAM</a:t>
            </a:r>
            <a:r>
              <a:rPr dirty="0" spc="30"/>
              <a:t> </a:t>
            </a:r>
            <a:r>
              <a:rPr dirty="0" spc="-10"/>
              <a:t>Model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46759" y="1439556"/>
            <a:ext cx="191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i="1">
                <a:latin typeface="Arial"/>
                <a:cs typeface="Arial"/>
              </a:rPr>
              <a:t>dw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59459" y="1649895"/>
            <a:ext cx="181610" cy="0"/>
          </a:xfrm>
          <a:custGeom>
            <a:avLst/>
            <a:gdLst/>
            <a:ahLst/>
            <a:cxnLst/>
            <a:rect l="l" t="t" r="r" b="b"/>
            <a:pathLst>
              <a:path w="181609" h="0">
                <a:moveTo>
                  <a:pt x="0" y="0"/>
                </a:moveTo>
                <a:lnTo>
                  <a:pt x="1812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27937" y="1207705"/>
            <a:ext cx="148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Arial MT"/>
                <a:cs typeface="Arial MT"/>
              </a:rPr>
              <a:t>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27937" y="1373960"/>
            <a:ext cx="1358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0">
                <a:latin typeface="Arial MT"/>
                <a:cs typeface="Arial MT"/>
              </a:rPr>
              <a:t>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18818" y="1393354"/>
            <a:ext cx="6534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3875" algn="l"/>
              </a:tabLst>
            </a:pPr>
            <a:r>
              <a:rPr dirty="0" sz="800" spc="-25" i="1">
                <a:latin typeface="Arial"/>
                <a:cs typeface="Arial"/>
              </a:rPr>
              <a:t>off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25" i="1">
                <a:latin typeface="Arial"/>
                <a:cs typeface="Arial"/>
              </a:rPr>
              <a:t>off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27937" y="1333460"/>
            <a:ext cx="927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12445">
              <a:lnSpc>
                <a:spcPts val="660"/>
              </a:lnSpc>
              <a:spcBef>
                <a:spcPts val="90"/>
              </a:spcBef>
              <a:tabLst>
                <a:tab pos="859790" algn="l"/>
              </a:tabLst>
            </a:pPr>
            <a:r>
              <a:rPr dirty="0" sz="1100" spc="-254">
                <a:latin typeface="Cambria"/>
                <a:cs typeface="Cambria"/>
              </a:rPr>
              <a:t>—</a:t>
            </a:r>
            <a:r>
              <a:rPr dirty="0" sz="1100">
                <a:latin typeface="Cambria"/>
                <a:cs typeface="Cambria"/>
              </a:rPr>
              <a:t> </a:t>
            </a:r>
            <a:r>
              <a:rPr dirty="0" sz="1100" spc="-60" i="1">
                <a:latin typeface="Arial"/>
                <a:cs typeface="Arial"/>
              </a:rPr>
              <a:t>v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ts val="660"/>
              </a:lnSpc>
              <a:tabLst>
                <a:tab pos="348615" algn="l"/>
              </a:tabLst>
            </a:pPr>
            <a:r>
              <a:rPr dirty="0" sz="1100" spc="-25">
                <a:latin typeface="Arial MT"/>
                <a:cs typeface="Arial MT"/>
              </a:rPr>
              <a:t>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29193" y="1320506"/>
            <a:ext cx="946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25" i="1">
                <a:latin typeface="Arial"/>
                <a:cs typeface="Arial"/>
              </a:rPr>
              <a:t>α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198255" y="1363667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5" i="1">
                <a:latin typeface="Arial"/>
                <a:cs typeface="Arial"/>
              </a:rPr>
              <a:t>off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357437" y="1393354"/>
            <a:ext cx="1422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off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81697" y="1539949"/>
            <a:ext cx="402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940" algn="l"/>
              </a:tabLst>
            </a:pPr>
            <a:r>
              <a:rPr dirty="0" baseline="2525" sz="1650" spc="-75">
                <a:latin typeface="Tahoma"/>
                <a:cs typeface="Tahoma"/>
              </a:rPr>
              <a:t>=</a:t>
            </a:r>
            <a:r>
              <a:rPr dirty="0" baseline="2525" sz="1650">
                <a:latin typeface="Tahoma"/>
                <a:cs typeface="Tahoma"/>
              </a:rPr>
              <a:t>	</a:t>
            </a:r>
            <a:r>
              <a:rPr dirty="0" sz="1100" spc="-25">
                <a:latin typeface="Tahoma"/>
                <a:cs typeface="Tahoma"/>
              </a:rPr>
              <a:t>0</a:t>
            </a:r>
            <a:r>
              <a:rPr dirty="0" sz="1100" spc="-25" i="1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289708" y="1293226"/>
            <a:ext cx="1481455" cy="438784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  <a:tabLst>
                <a:tab pos="225425" algn="l"/>
                <a:tab pos="619760" algn="l"/>
              </a:tabLst>
            </a:pPr>
            <a:r>
              <a:rPr dirty="0" sz="1100" spc="-50" i="1">
                <a:latin typeface="Arial"/>
                <a:cs typeface="Arial"/>
              </a:rPr>
              <a:t>f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40">
                <a:latin typeface="Tahoma"/>
                <a:cs typeface="Tahoma"/>
              </a:rPr>
              <a:t>(</a:t>
            </a:r>
            <a:r>
              <a:rPr dirty="0" sz="1100" spc="-40" i="1">
                <a:latin typeface="Arial"/>
                <a:cs typeface="Arial"/>
              </a:rPr>
              <a:t>w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25" i="1">
                <a:latin typeface="Arial"/>
                <a:cs typeface="Arial"/>
              </a:rPr>
              <a:t>,</a:t>
            </a:r>
            <a:r>
              <a:rPr dirty="0" sz="1100" i="1">
                <a:latin typeface="Arial"/>
                <a:cs typeface="Arial"/>
              </a:rPr>
              <a:t>	v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&gt;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v</a:t>
            </a:r>
            <a:r>
              <a:rPr dirty="0" baseline="-13888" sz="1200" spc="-30" i="1">
                <a:latin typeface="Arial"/>
                <a:cs typeface="Arial"/>
              </a:rPr>
              <a:t>off</a:t>
            </a:r>
            <a:endParaRPr baseline="-13888" sz="1200">
              <a:latin typeface="Arial"/>
              <a:cs typeface="Arial"/>
            </a:endParaRPr>
          </a:p>
          <a:p>
            <a:pPr marL="619760">
              <a:lnSpc>
                <a:spcPct val="100000"/>
              </a:lnSpc>
              <a:spcBef>
                <a:spcPts val="305"/>
              </a:spcBef>
            </a:pPr>
            <a:r>
              <a:rPr dirty="0" sz="1100" i="1">
                <a:latin typeface="Arial"/>
                <a:cs typeface="Arial"/>
              </a:rPr>
              <a:t>v</a:t>
            </a:r>
            <a:r>
              <a:rPr dirty="0" baseline="-10416" sz="1200" i="1">
                <a:latin typeface="Arial"/>
                <a:cs typeface="Arial"/>
              </a:rPr>
              <a:t>on</a:t>
            </a:r>
            <a:r>
              <a:rPr dirty="0" baseline="-10416" sz="1200" spc="157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v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35" i="1">
                <a:latin typeface="Arial"/>
                <a:cs typeface="Arial"/>
              </a:rPr>
              <a:t> </a:t>
            </a:r>
            <a:r>
              <a:rPr dirty="0" sz="1100" spc="-20" i="1">
                <a:latin typeface="Arial"/>
                <a:cs typeface="Arial"/>
              </a:rPr>
              <a:t>v</a:t>
            </a:r>
            <a:r>
              <a:rPr dirty="0" baseline="-13888" sz="1200" spc="-30" i="1">
                <a:latin typeface="Arial"/>
                <a:cs typeface="Arial"/>
              </a:rPr>
              <a:t>off</a:t>
            </a:r>
            <a:endParaRPr baseline="-13888" sz="12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46188" y="1628316"/>
            <a:ext cx="6235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94335" algn="l"/>
              </a:tabLst>
            </a:pPr>
            <a:r>
              <a:rPr dirty="0" sz="1100" spc="-25" i="1">
                <a:latin typeface="Arial"/>
                <a:cs typeface="Arial"/>
              </a:rPr>
              <a:t>dt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baseline="2525" sz="1650" spc="-667">
                <a:latin typeface="Arial MT"/>
                <a:cs typeface="Arial MT"/>
              </a:rPr>
              <a:t></a:t>
            </a:r>
            <a:r>
              <a:rPr dirty="0" baseline="-15151" sz="1650" spc="-667">
                <a:latin typeface="Arial MT"/>
                <a:cs typeface="Arial MT"/>
              </a:rPr>
              <a:t></a:t>
            </a:r>
            <a:r>
              <a:rPr dirty="0" baseline="-47979" sz="1650" spc="-667" i="1">
                <a:latin typeface="Arial"/>
                <a:cs typeface="Arial"/>
              </a:rPr>
              <a:t>k</a:t>
            </a:r>
            <a:endParaRPr baseline="-47979" sz="16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94052" y="1708809"/>
            <a:ext cx="337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>
                <a:latin typeface="Tahoma"/>
                <a:cs typeface="Tahoma"/>
              </a:rPr>
              <a:t>)</a:t>
            </a:r>
            <a:r>
              <a:rPr dirty="0" baseline="6944" sz="1200" i="1">
                <a:latin typeface="Arial"/>
                <a:cs typeface="Arial"/>
              </a:rPr>
              <a:t>α</a:t>
            </a:r>
            <a:r>
              <a:rPr dirty="0" sz="600" i="1">
                <a:latin typeface="Arial"/>
                <a:cs typeface="Arial"/>
              </a:rPr>
              <a:t>on</a:t>
            </a:r>
            <a:r>
              <a:rPr dirty="0" sz="600" spc="-20" i="1">
                <a:latin typeface="Arial"/>
                <a:cs typeface="Arial"/>
              </a:rPr>
              <a:t> </a:t>
            </a:r>
            <a:r>
              <a:rPr dirty="0" baseline="-15151" sz="1650" spc="-75" i="1">
                <a:latin typeface="Arial"/>
                <a:cs typeface="Arial"/>
              </a:rPr>
              <a:t>f</a:t>
            </a:r>
            <a:endParaRPr baseline="-15151" sz="165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18818" y="1804541"/>
            <a:ext cx="9969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5934" algn="l"/>
                <a:tab pos="874394" algn="l"/>
              </a:tabLst>
            </a:pPr>
            <a:r>
              <a:rPr dirty="0" sz="800" spc="-25" i="1">
                <a:latin typeface="Arial"/>
                <a:cs typeface="Arial"/>
              </a:rPr>
              <a:t>on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25" i="1">
                <a:latin typeface="Arial"/>
                <a:cs typeface="Arial"/>
              </a:rPr>
              <a:t>on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25" i="1">
                <a:latin typeface="Arial"/>
                <a:cs typeface="Arial"/>
              </a:rPr>
              <a:t>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36141" y="1746439"/>
            <a:ext cx="1714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4394" algn="l"/>
                <a:tab pos="1373505" algn="l"/>
              </a:tabLst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v</a:t>
            </a:r>
            <a:r>
              <a:rPr dirty="0" sz="1100" spc="20" i="1">
                <a:latin typeface="Arial"/>
                <a:cs typeface="Arial"/>
              </a:rPr>
              <a:t> </a:t>
            </a:r>
            <a:r>
              <a:rPr dirty="0" sz="1100" spc="229">
                <a:latin typeface="Cambria"/>
                <a:cs typeface="Cambria"/>
              </a:rPr>
              <a:t>−</a:t>
            </a:r>
            <a:r>
              <a:rPr dirty="0" sz="1100" spc="-20">
                <a:latin typeface="Cambria"/>
                <a:cs typeface="Cambria"/>
              </a:rPr>
              <a:t> </a:t>
            </a:r>
            <a:r>
              <a:rPr dirty="0" sz="1100" spc="-50" i="1">
                <a:latin typeface="Arial"/>
                <a:cs typeface="Arial"/>
              </a:rPr>
              <a:t>v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40">
                <a:latin typeface="Tahoma"/>
                <a:cs typeface="Tahoma"/>
              </a:rPr>
              <a:t>(</a:t>
            </a:r>
            <a:r>
              <a:rPr dirty="0" sz="1100" spc="-40" i="1">
                <a:latin typeface="Arial"/>
                <a:cs typeface="Arial"/>
              </a:rPr>
              <a:t>w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25" i="1">
                <a:latin typeface="Arial"/>
                <a:cs typeface="Arial"/>
              </a:rPr>
              <a:t>,</a:t>
            </a:r>
            <a:r>
              <a:rPr dirty="0" sz="1100" i="1">
                <a:latin typeface="Arial"/>
                <a:cs typeface="Arial"/>
              </a:rPr>
              <a:t>	v</a:t>
            </a:r>
            <a:r>
              <a:rPr dirty="0" sz="1100" spc="85" i="1">
                <a:latin typeface="Arial"/>
                <a:cs typeface="Arial"/>
              </a:rPr>
              <a:t> </a:t>
            </a:r>
            <a:r>
              <a:rPr dirty="0" sz="1100" spc="200" i="1">
                <a:latin typeface="Arial"/>
                <a:cs typeface="Arial"/>
              </a:rPr>
              <a:t>&lt;</a:t>
            </a:r>
            <a:r>
              <a:rPr dirty="0" sz="1100" spc="-25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v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224669" y="1804541"/>
            <a:ext cx="1352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5844" y="1999486"/>
            <a:ext cx="240093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20">
                <a:latin typeface="Tahoma"/>
                <a:cs typeface="Tahoma"/>
              </a:rPr>
              <a:t>Switching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only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beyond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voltage. </a:t>
            </a:r>
            <a:r>
              <a:rPr dirty="0" sz="1100" spc="-30">
                <a:latin typeface="Tahoma"/>
                <a:cs typeface="Tahoma"/>
              </a:rPr>
              <a:t>Prevents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unwanted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5" name="object 2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5851" y="792"/>
            <a:ext cx="5435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VTEAM</a:t>
            </a:r>
            <a:r>
              <a:rPr dirty="0" sz="600" spc="3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Model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23050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5">
                <a:solidFill>
                  <a:srgbClr val="CC0000"/>
                </a:solidFill>
                <a:latin typeface="Tahoma"/>
                <a:cs typeface="Tahoma"/>
              </a:rPr>
              <a:t>VTEAM</a:t>
            </a:r>
            <a:r>
              <a:rPr dirty="0" sz="1400" spc="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CC0000"/>
                </a:solidFill>
                <a:latin typeface="Tahoma"/>
                <a:cs typeface="Tahoma"/>
              </a:rPr>
              <a:t>Model</a:t>
            </a:r>
            <a:r>
              <a:rPr dirty="0" sz="1400" spc="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CC0000"/>
                </a:solidFill>
                <a:latin typeface="Tahoma"/>
                <a:cs typeface="Tahoma"/>
              </a:rPr>
              <a:t>Characteristics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700" y="1021760"/>
            <a:ext cx="3086120" cy="177859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Human</a:t>
            </a:r>
            <a:r>
              <a:rPr dirty="0" spc="-60"/>
              <a:t> </a:t>
            </a:r>
            <a:r>
              <a:rPr dirty="0" spc="-25"/>
              <a:t>Associative</a:t>
            </a:r>
            <a:r>
              <a:rPr dirty="0" spc="-55"/>
              <a:t> </a:t>
            </a:r>
            <a:r>
              <a:rPr dirty="0" spc="-25"/>
              <a:t>Memory</a:t>
            </a:r>
            <a:r>
              <a:rPr dirty="0" spc="-60"/>
              <a:t> </a:t>
            </a:r>
            <a:r>
              <a:rPr dirty="0" spc="-25"/>
              <a:t>Mechanism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6459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6491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56524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966556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76589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86622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5844" y="547000"/>
            <a:ext cx="4012565" cy="19481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Brain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retrieves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information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pattern </a:t>
            </a:r>
            <a:r>
              <a:rPr dirty="0" sz="1100" spc="-25">
                <a:latin typeface="Tahoma"/>
                <a:cs typeface="Tahoma"/>
              </a:rPr>
              <a:t>similarity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(content-</a:t>
            </a:r>
            <a:r>
              <a:rPr dirty="0" sz="1100" spc="-35">
                <a:latin typeface="Tahoma"/>
                <a:cs typeface="Tahoma"/>
              </a:rPr>
              <a:t>addressable </a:t>
            </a:r>
            <a:r>
              <a:rPr dirty="0" sz="1100" spc="-10">
                <a:latin typeface="Tahoma"/>
                <a:cs typeface="Tahoma"/>
              </a:rPr>
              <a:t>memory).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100" spc="-25" b="1">
                <a:latin typeface="Arial"/>
                <a:cs typeface="Arial"/>
              </a:rPr>
              <a:t>Working</a:t>
            </a:r>
            <a:r>
              <a:rPr dirty="0" sz="1100" spc="-10" b="1">
                <a:latin typeface="Arial"/>
                <a:cs typeface="Arial"/>
              </a:rPr>
              <a:t> Principle:</a:t>
            </a:r>
            <a:endParaRPr sz="1100">
              <a:latin typeface="Arial"/>
              <a:cs typeface="Arial"/>
            </a:endParaRPr>
          </a:p>
          <a:p>
            <a:pPr marL="289560" marR="746125">
              <a:lnSpc>
                <a:spcPct val="125299"/>
              </a:lnSpc>
            </a:pPr>
            <a:r>
              <a:rPr dirty="0" sz="1100" spc="-45">
                <a:latin typeface="Tahoma"/>
                <a:cs typeface="Tahoma"/>
              </a:rPr>
              <a:t>Information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stored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distributed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synaptic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weights </a:t>
            </a:r>
            <a:r>
              <a:rPr dirty="0" sz="1100" spc="-40">
                <a:latin typeface="Tahoma"/>
                <a:cs typeface="Tahoma"/>
              </a:rPr>
              <a:t>Neurons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communicate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via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spikes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(temporal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coding) </a:t>
            </a:r>
            <a:r>
              <a:rPr dirty="0" sz="1100" spc="-60">
                <a:latin typeface="Tahoma"/>
                <a:cs typeface="Tahoma"/>
              </a:rPr>
              <a:t>Incoming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spikes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weighted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synaptic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strength </a:t>
            </a:r>
            <a:r>
              <a:rPr dirty="0" sz="1100" spc="-40">
                <a:latin typeface="Tahoma"/>
                <a:cs typeface="Tahoma"/>
              </a:rPr>
              <a:t>Neurons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integrate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inputs </a:t>
            </a:r>
            <a:r>
              <a:rPr dirty="0" sz="1100" spc="-50">
                <a:latin typeface="Tahoma"/>
                <a:cs typeface="Tahoma"/>
              </a:rPr>
              <a:t>over</a:t>
            </a:r>
            <a:r>
              <a:rPr dirty="0" sz="1100" spc="-20">
                <a:latin typeface="Tahoma"/>
                <a:cs typeface="Tahoma"/>
              </a:rPr>
              <a:t> time</a:t>
            </a:r>
            <a:endParaRPr sz="1100">
              <a:latin typeface="Tahoma"/>
              <a:cs typeface="Tahoma"/>
            </a:endParaRPr>
          </a:p>
          <a:p>
            <a:pPr marL="289560" marR="507365">
              <a:lnSpc>
                <a:spcPct val="125299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membrane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potential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crosses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-10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Tahoma"/>
                <a:cs typeface="Tahoma"/>
              </a:rPr>
              <a:t>neuron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fires Recurrent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connections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reconstruct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full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stored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pattern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4584" y="2976281"/>
            <a:ext cx="40995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Partial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Input</a:t>
            </a:r>
            <a:r>
              <a:rPr dirty="0" sz="1100" spc="-20">
                <a:latin typeface="Tahoma"/>
                <a:cs typeface="Tahoma"/>
              </a:rPr>
              <a:t> Pattern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Tahoma"/>
                <a:cs typeface="Tahoma"/>
              </a:rPr>
              <a:t>Neural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Dynamics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Tahoma"/>
                <a:cs typeface="Tahoma"/>
              </a:rPr>
              <a:t>Complete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Memory</a:t>
            </a:r>
            <a:r>
              <a:rPr dirty="0" sz="1100" spc="-10">
                <a:latin typeface="Tahoma"/>
                <a:cs typeface="Tahoma"/>
              </a:rPr>
              <a:t> Recall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9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9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Associative</a:t>
            </a:r>
            <a:r>
              <a:rPr dirty="0" spc="-35"/>
              <a:t> </a:t>
            </a:r>
            <a:r>
              <a:rPr dirty="0" spc="-25"/>
              <a:t>Memory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55"/>
              <a:t>Hardware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1663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6666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6699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46731"/>
            <a:ext cx="65265" cy="6526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5844" y="1179370"/>
            <a:ext cx="2084070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Tahoma"/>
                <a:cs typeface="Tahoma"/>
              </a:rPr>
              <a:t>Mapping: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SIPO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25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Cortex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dirty="0" sz="1100" spc="75">
                <a:latin typeface="Tahoma"/>
                <a:cs typeface="Tahoma"/>
              </a:rPr>
              <a:t>MMC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Stored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pattern </a:t>
            </a:r>
            <a:r>
              <a:rPr dirty="0" sz="1100">
                <a:latin typeface="Tahoma"/>
                <a:cs typeface="Tahoma"/>
              </a:rPr>
              <a:t>XNOR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0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9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Tahoma"/>
                <a:cs typeface="Tahoma"/>
              </a:rPr>
              <a:t>Comparator </a:t>
            </a:r>
            <a:r>
              <a:rPr dirty="0" sz="1100" spc="65">
                <a:latin typeface="Tahoma"/>
                <a:cs typeface="Tahoma"/>
              </a:rPr>
              <a:t>MBO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Neuron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firing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7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7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189103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60">
                <a:solidFill>
                  <a:srgbClr val="CC0000"/>
                </a:solidFill>
                <a:latin typeface="Tahoma"/>
                <a:cs typeface="Tahoma"/>
              </a:rPr>
              <a:t>Hardware</a:t>
            </a:r>
            <a:r>
              <a:rPr dirty="0" sz="1400">
                <a:solidFill>
                  <a:srgbClr val="CC0000"/>
                </a:solidFill>
                <a:latin typeface="Tahoma"/>
                <a:cs typeface="Tahoma"/>
              </a:rPr>
              <a:t> Block</a:t>
            </a:r>
            <a:r>
              <a:rPr dirty="0" sz="1400" spc="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C0000"/>
                </a:solidFill>
                <a:latin typeface="Tahoma"/>
                <a:cs typeface="Tahoma"/>
              </a:rPr>
              <a:t>Diagram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067" y="1159030"/>
            <a:ext cx="3495151" cy="166399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189103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60">
                <a:solidFill>
                  <a:srgbClr val="CC0000"/>
                </a:solidFill>
                <a:latin typeface="Tahoma"/>
                <a:cs typeface="Tahoma"/>
              </a:rPr>
              <a:t>Hardware</a:t>
            </a:r>
            <a:r>
              <a:rPr dirty="0" sz="1400">
                <a:solidFill>
                  <a:srgbClr val="CC0000"/>
                </a:solidFill>
                <a:latin typeface="Tahoma"/>
                <a:cs typeface="Tahoma"/>
              </a:rPr>
              <a:t> Block</a:t>
            </a:r>
            <a:r>
              <a:rPr dirty="0" sz="1400" spc="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CC0000"/>
                </a:solidFill>
                <a:latin typeface="Tahoma"/>
                <a:cs typeface="Tahoma"/>
              </a:rPr>
              <a:t>Diagram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537435"/>
            <a:ext cx="4608195" cy="2919095"/>
            <a:chOff x="0" y="537435"/>
            <a:chExt cx="4608195" cy="291909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104" y="537435"/>
              <a:ext cx="3897811" cy="291856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Pattern</a:t>
            </a:r>
            <a:r>
              <a:rPr dirty="0" spc="-50"/>
              <a:t> </a:t>
            </a:r>
            <a:r>
              <a:rPr dirty="0" spc="-35"/>
              <a:t>Recognition</a:t>
            </a:r>
            <a:r>
              <a:rPr dirty="0" spc="-50"/>
              <a:t> </a:t>
            </a:r>
            <a:r>
              <a:rPr dirty="0" spc="-10"/>
              <a:t>Principle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951926" y="1451062"/>
            <a:ext cx="1016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16963" y="1455304"/>
            <a:ext cx="179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45">
                <a:latin typeface="Arial MT"/>
                <a:cs typeface="Arial MT"/>
              </a:rPr>
              <a:t>^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95488" y="1646820"/>
            <a:ext cx="16395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3110" algn="l"/>
                <a:tab pos="1600200" algn="l"/>
              </a:tabLst>
            </a:pPr>
            <a:r>
              <a:rPr dirty="0" sz="800" spc="-25" i="1">
                <a:latin typeface="Arial"/>
                <a:cs typeface="Arial"/>
              </a:rPr>
              <a:t>RTR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03121" y="1586927"/>
            <a:ext cx="1802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0205" algn="l"/>
                <a:tab pos="689610" algn="l"/>
              </a:tabLst>
            </a:pPr>
            <a:r>
              <a:rPr dirty="0" sz="1100" spc="-50" i="1">
                <a:latin typeface="Arial"/>
                <a:cs typeface="Arial"/>
              </a:rPr>
              <a:t>V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(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 spc="40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XNOR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MMC</a:t>
            </a:r>
            <a:r>
              <a:rPr dirty="0" sz="1100" spc="3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5844" y="1759182"/>
            <a:ext cx="2550160" cy="39306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algn="r" marR="574040">
              <a:lnSpc>
                <a:spcPct val="100000"/>
              </a:lnSpc>
              <a:spcBef>
                <a:spcPts val="360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TRUE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25">
                <a:latin typeface="Lucida Sans Unicode"/>
                <a:cs typeface="Lucida Sans Unicode"/>
              </a:rPr>
              <a:t> </a:t>
            </a:r>
            <a:r>
              <a:rPr dirty="0" sz="1100" spc="65">
                <a:latin typeface="Tahoma"/>
                <a:cs typeface="Tahoma"/>
              </a:rPr>
              <a:t>MBO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enabled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→</a:t>
            </a:r>
            <a:r>
              <a:rPr dirty="0" sz="1100" spc="25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Tahoma"/>
                <a:cs typeface="Tahoma"/>
              </a:rPr>
              <a:t>Spike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output.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3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3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47559" y="792"/>
            <a:ext cx="1002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Associative</a:t>
            </a:r>
            <a:r>
              <a:rPr dirty="0" sz="600" spc="45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5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Concept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5300" y="199895"/>
            <a:ext cx="101346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CC0000"/>
                </a:solidFill>
                <a:latin typeface="Tahoma"/>
                <a:cs typeface="Tahoma"/>
              </a:rPr>
              <a:t>Output</a:t>
            </a:r>
            <a:r>
              <a:rPr dirty="0" sz="1400" spc="-15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CC0000"/>
                </a:solidFill>
                <a:latin typeface="Tahoma"/>
                <a:cs typeface="Tahoma"/>
              </a:rPr>
              <a:t>Spike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537385"/>
            <a:ext cx="4608195" cy="2919095"/>
            <a:chOff x="0" y="537385"/>
            <a:chExt cx="4608195" cy="291909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626" y="537385"/>
              <a:ext cx="3464761" cy="291861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4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4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61426" y="792"/>
            <a:ext cx="387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>
                <a:solidFill>
                  <a:srgbClr val="F2F2F2"/>
                </a:solidFill>
                <a:latin typeface="Tahoma"/>
                <a:cs typeface="Tahoma"/>
                <a:hlinkClick r:id="rId2" action="ppaction://hlinksldjump"/>
              </a:rPr>
              <a:t>Conclusion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 descr="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Conclusion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45362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pc="-30"/>
              <a:t>Conventional</a:t>
            </a:r>
            <a:r>
              <a:rPr dirty="0" spc="-15"/>
              <a:t> </a:t>
            </a:r>
            <a:r>
              <a:rPr dirty="0" spc="-35"/>
              <a:t>computing</a:t>
            </a:r>
            <a:r>
              <a:rPr dirty="0" spc="-15"/>
              <a:t> </a:t>
            </a:r>
            <a:r>
              <a:rPr dirty="0" spc="-50"/>
              <a:t>faces</a:t>
            </a:r>
            <a:r>
              <a:rPr dirty="0" spc="-20"/>
              <a:t> </a:t>
            </a:r>
            <a:r>
              <a:rPr dirty="0" spc="-65"/>
              <a:t>energy</a:t>
            </a:r>
            <a:r>
              <a:rPr dirty="0" spc="-20"/>
              <a:t> </a:t>
            </a:r>
            <a:r>
              <a:rPr dirty="0" spc="-35"/>
              <a:t>and</a:t>
            </a:r>
            <a:r>
              <a:rPr dirty="0" spc="-10"/>
              <a:t> </a:t>
            </a:r>
            <a:r>
              <a:rPr dirty="0" spc="-30"/>
              <a:t>scaling</a:t>
            </a:r>
            <a:r>
              <a:rPr dirty="0" spc="-20"/>
              <a:t> </a:t>
            </a:r>
            <a:r>
              <a:rPr dirty="0" spc="-10"/>
              <a:t>limits </a:t>
            </a:r>
            <a:r>
              <a:rPr dirty="0"/>
              <a:t>Brain</a:t>
            </a:r>
            <a:r>
              <a:rPr dirty="0" spc="-20"/>
              <a:t> </a:t>
            </a:r>
            <a:r>
              <a:rPr dirty="0" spc="-50"/>
              <a:t>provides</a:t>
            </a:r>
            <a:r>
              <a:rPr dirty="0" spc="-20"/>
              <a:t> </a:t>
            </a:r>
            <a:r>
              <a:rPr dirty="0" spc="-30"/>
              <a:t>efficient</a:t>
            </a:r>
            <a:r>
              <a:rPr dirty="0" spc="-25"/>
              <a:t> </a:t>
            </a:r>
            <a:r>
              <a:rPr dirty="0" spc="-10"/>
              <a:t>model</a:t>
            </a:r>
          </a:p>
          <a:p>
            <a:pPr marL="12700" marR="1120140">
              <a:lnSpc>
                <a:spcPct val="125299"/>
              </a:lnSpc>
            </a:pPr>
            <a:r>
              <a:rPr dirty="0" spc="-20"/>
              <a:t>Memristor</a:t>
            </a:r>
            <a:r>
              <a:rPr dirty="0" spc="-30"/>
              <a:t> </a:t>
            </a:r>
            <a:r>
              <a:rPr dirty="0" spc="-25"/>
              <a:t>mimics</a:t>
            </a:r>
            <a:r>
              <a:rPr dirty="0" spc="-35"/>
              <a:t> </a:t>
            </a:r>
            <a:r>
              <a:rPr dirty="0" spc="-30"/>
              <a:t>synaptic </a:t>
            </a:r>
            <a:r>
              <a:rPr dirty="0" spc="-45"/>
              <a:t>behavior </a:t>
            </a:r>
            <a:r>
              <a:rPr dirty="0" spc="65"/>
              <a:t>VTEAM</a:t>
            </a:r>
            <a:r>
              <a:rPr dirty="0" spc="10"/>
              <a:t> </a:t>
            </a:r>
            <a:r>
              <a:rPr dirty="0" spc="-50"/>
              <a:t>models</a:t>
            </a:r>
            <a:r>
              <a:rPr dirty="0" spc="10"/>
              <a:t> </a:t>
            </a:r>
            <a:r>
              <a:rPr dirty="0" spc="-40"/>
              <a:t>threshold</a:t>
            </a:r>
            <a:r>
              <a:rPr dirty="0" spc="20"/>
              <a:t> </a:t>
            </a:r>
            <a:r>
              <a:rPr dirty="0" spc="-35"/>
              <a:t>switching</a:t>
            </a:r>
          </a:p>
          <a:p>
            <a:pPr marL="12700" marR="516255">
              <a:lnSpc>
                <a:spcPct val="125299"/>
              </a:lnSpc>
            </a:pPr>
            <a:r>
              <a:rPr dirty="0" spc="-35"/>
              <a:t>Spatio-</a:t>
            </a:r>
            <a:r>
              <a:rPr dirty="0" spc="-30"/>
              <a:t>temporal</a:t>
            </a:r>
            <a:r>
              <a:rPr dirty="0" spc="10"/>
              <a:t> </a:t>
            </a:r>
            <a:r>
              <a:rPr dirty="0" spc="-35"/>
              <a:t>associative</a:t>
            </a:r>
            <a:r>
              <a:rPr dirty="0" spc="10"/>
              <a:t> </a:t>
            </a:r>
            <a:r>
              <a:rPr dirty="0" spc="-65"/>
              <a:t>memory</a:t>
            </a:r>
            <a:r>
              <a:rPr dirty="0" spc="5"/>
              <a:t> </a:t>
            </a:r>
            <a:r>
              <a:rPr dirty="0" spc="-35"/>
              <a:t>replicated </a:t>
            </a:r>
            <a:r>
              <a:rPr dirty="0" spc="-10"/>
              <a:t>Pattern</a:t>
            </a:r>
            <a:r>
              <a:rPr dirty="0" spc="-5"/>
              <a:t> </a:t>
            </a:r>
            <a:r>
              <a:rPr dirty="0" spc="-20"/>
              <a:t>match</a:t>
            </a:r>
            <a:r>
              <a:rPr dirty="0" spc="-5"/>
              <a:t> </a:t>
            </a:r>
            <a:r>
              <a:rPr dirty="0" spc="-60"/>
              <a:t>produces</a:t>
            </a:r>
            <a:r>
              <a:rPr dirty="0" spc="-10"/>
              <a:t> </a:t>
            </a:r>
            <a:r>
              <a:rPr dirty="0" spc="-50"/>
              <a:t>neuromorphic</a:t>
            </a:r>
            <a:r>
              <a:rPr dirty="0" spc="-5"/>
              <a:t> </a:t>
            </a:r>
            <a:r>
              <a:rPr dirty="0" spc="-10"/>
              <a:t>spike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55394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65427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75459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85492"/>
            <a:ext cx="65265" cy="6526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295525"/>
            <a:ext cx="65265" cy="65265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054271" y="3364484"/>
            <a:ext cx="156019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e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Memory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(Concept</a:t>
            </a:r>
            <a:r>
              <a:rPr dirty="0" sz="600" spc="2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Explanation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Replicati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Sachin</a:t>
            </a:r>
            <a:r>
              <a:rPr dirty="0" spc="25"/>
              <a:t> </a:t>
            </a:r>
            <a:r>
              <a:rPr dirty="0"/>
              <a:t>Mohanty</a:t>
            </a:r>
            <a:r>
              <a:rPr dirty="0" spc="250"/>
              <a:t> </a:t>
            </a:r>
            <a:r>
              <a:rPr dirty="0"/>
              <a:t>(IIIT</a:t>
            </a:r>
            <a:r>
              <a:rPr dirty="0" spc="30"/>
              <a:t> </a:t>
            </a:r>
            <a:r>
              <a:rPr dirty="0" spc="-10"/>
              <a:t>Guwahati)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1523276" y="3351784"/>
            <a:ext cx="15443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Memristor-Based</a:t>
            </a:r>
            <a:r>
              <a:rPr dirty="0" sz="600" spc="4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Spatio-Temporal</a:t>
            </a:r>
            <a:r>
              <a:rPr dirty="0" sz="600" spc="35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8E0000"/>
                </a:solidFill>
                <a:latin typeface="Tahoma"/>
                <a:cs typeface="Tahoma"/>
                <a:hlinkClick r:id="rId2" action="ppaction://hlinksldjump"/>
              </a:rPr>
              <a:t>Associativ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409111" y="3351784"/>
            <a:ext cx="63373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February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16,</a:t>
            </a:r>
            <a:r>
              <a:rPr dirty="0" sz="600" spc="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2026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z="600" spc="-1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10</a:t>
            </a:fld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90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/</a:t>
            </a:r>
            <a:r>
              <a:rPr dirty="0" sz="600" spc="-8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35">
                <a:solidFill>
                  <a:srgbClr val="7A0000"/>
                </a:solidFill>
                <a:latin typeface="Tahoma"/>
                <a:cs typeface="Tahoma"/>
                <a:hlinkClick r:id="rId2" action="ppaction://hlinksldjump"/>
              </a:rPr>
              <a:t>18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Sachin Mohanty</dc:creator>
  <dc:title>Memristor-Based Spatio-Temporal Associative Memory  (Concept Explanation and Replication)</dc:title>
  <dcterms:created xsi:type="dcterms:W3CDTF">2026-02-17T04:41:54Z</dcterms:created>
  <dcterms:modified xsi:type="dcterms:W3CDTF">2026-02-17T04:41:54Z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2026-02-17T00:00:00Z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