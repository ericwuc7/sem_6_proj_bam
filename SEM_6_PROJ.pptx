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0" d="100"/>
          <a:sy n="160" d="100"/>
        </p:scale>
        <p:origin x="922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C46A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0C46A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C46A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C46A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C46A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C46A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72527"/>
            <a:ext cx="450786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C46A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4493" y="623242"/>
            <a:ext cx="2614295" cy="1875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0C46A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98873" y="3135783"/>
            <a:ext cx="574039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2587" y="3135783"/>
            <a:ext cx="115506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25753" y="3135783"/>
            <a:ext cx="279706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slide" Target="slide9.xml"/><Relationship Id="rId12" Type="http://schemas.openxmlformats.org/officeDocument/2006/relationships/slide" Target="slid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slide" Target="slide7.xml"/><Relationship Id="rId11" Type="http://schemas.openxmlformats.org/officeDocument/2006/relationships/slide" Target="slide18.xml"/><Relationship Id="rId5" Type="http://schemas.openxmlformats.org/officeDocument/2006/relationships/slide" Target="slide3.xml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slide" Target="slide9.xml"/><Relationship Id="rId12" Type="http://schemas.openxmlformats.org/officeDocument/2006/relationships/slide" Target="slid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slide" Target="slide7.xml"/><Relationship Id="rId11" Type="http://schemas.openxmlformats.org/officeDocument/2006/relationships/slide" Target="slide18.xml"/><Relationship Id="rId5" Type="http://schemas.openxmlformats.org/officeDocument/2006/relationships/slide" Target="slide3.xml"/><Relationship Id="rId10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slide" Target="slide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slide" Target="slide9.xml"/><Relationship Id="rId12" Type="http://schemas.openxmlformats.org/officeDocument/2006/relationships/slide" Target="slide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slide" Target="slide7.xml"/><Relationship Id="rId11" Type="http://schemas.openxmlformats.org/officeDocument/2006/relationships/slide" Target="slide18.xml"/><Relationship Id="rId5" Type="http://schemas.openxmlformats.org/officeDocument/2006/relationships/slide" Target="slide3.xml"/><Relationship Id="rId10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slide" Target="slide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slide" Target="slide9.xml"/><Relationship Id="rId12" Type="http://schemas.openxmlformats.org/officeDocument/2006/relationships/slide" Target="slide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slide" Target="slide7.xml"/><Relationship Id="rId11" Type="http://schemas.openxmlformats.org/officeDocument/2006/relationships/slide" Target="slide18.xml"/><Relationship Id="rId5" Type="http://schemas.openxmlformats.org/officeDocument/2006/relationships/slide" Target="slide3.xml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slide" Target="slide9.xml"/><Relationship Id="rId12" Type="http://schemas.openxmlformats.org/officeDocument/2006/relationships/slide" Target="slide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slide" Target="slide7.xml"/><Relationship Id="rId11" Type="http://schemas.openxmlformats.org/officeDocument/2006/relationships/slide" Target="slide18.xml"/><Relationship Id="rId5" Type="http://schemas.openxmlformats.org/officeDocument/2006/relationships/slide" Target="slide3.xml"/><Relationship Id="rId10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slide" Target="slide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slide" Target="slide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slide" Target="slide1.xml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slide" Target="slide1.xml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slide" Target="slide9.xml"/><Relationship Id="rId12" Type="http://schemas.openxmlformats.org/officeDocument/2006/relationships/slide" Target="slide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slide" Target="slide7.xml"/><Relationship Id="rId11" Type="http://schemas.openxmlformats.org/officeDocument/2006/relationships/slide" Target="slide18.xml"/><Relationship Id="rId5" Type="http://schemas.openxmlformats.org/officeDocument/2006/relationships/slide" Target="slide3.xml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slide" Target="slide1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slide" Target="slide1.xml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slide" Target="slide1.xm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5952" y="217573"/>
            <a:ext cx="4887595" cy="68008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algn="ctr">
              <a:lnSpc>
                <a:spcPct val="106700"/>
              </a:lnSpc>
              <a:spcBef>
                <a:spcPts val="20"/>
              </a:spcBef>
            </a:pPr>
            <a:r>
              <a:rPr b="1" dirty="0">
                <a:latin typeface="Arial"/>
                <a:cs typeface="Arial"/>
              </a:rPr>
              <a:t>Full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spc="50" dirty="0">
                <a:latin typeface="Arial"/>
                <a:cs typeface="Arial"/>
              </a:rPr>
              <a:t>CMOS</a:t>
            </a:r>
            <a:r>
              <a:rPr b="1" spc="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Implementation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of</a:t>
            </a:r>
            <a:r>
              <a:rPr b="1" spc="6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Bidirectional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Associative </a:t>
            </a:r>
            <a:r>
              <a:rPr b="1" dirty="0">
                <a:latin typeface="Arial"/>
                <a:cs typeface="Arial"/>
              </a:rPr>
              <a:t>Memory</a:t>
            </a:r>
            <a:r>
              <a:rPr b="1" spc="8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Neural</a:t>
            </a:r>
            <a:r>
              <a:rPr b="1" spc="8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Network</a:t>
            </a:r>
            <a:r>
              <a:rPr b="1" spc="8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with</a:t>
            </a:r>
            <a:r>
              <a:rPr b="1" spc="8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Analog</a:t>
            </a:r>
            <a:r>
              <a:rPr b="1" spc="8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Memristive</a:t>
            </a:r>
            <a:r>
              <a:rPr b="1" spc="80" dirty="0">
                <a:latin typeface="Arial"/>
                <a:cs typeface="Arial"/>
              </a:rPr>
              <a:t> </a:t>
            </a:r>
            <a:r>
              <a:rPr b="1" spc="-50" dirty="0">
                <a:latin typeface="Arial"/>
                <a:cs typeface="Arial"/>
              </a:rPr>
              <a:t>Synapse</a:t>
            </a:r>
          </a:p>
          <a:p>
            <a:pPr marL="635" algn="ctr">
              <a:lnSpc>
                <a:spcPct val="100000"/>
              </a:lnSpc>
              <a:spcBef>
                <a:spcPts val="325"/>
              </a:spcBef>
            </a:pPr>
            <a:r>
              <a:rPr sz="1100" spc="-35" dirty="0">
                <a:latin typeface="Arial MT"/>
                <a:cs typeface="Arial MT"/>
              </a:rPr>
              <a:t>B.Tech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Thesis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Presentation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43924" y="1155495"/>
            <a:ext cx="1272540" cy="763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3815" algn="ctr">
              <a:lnSpc>
                <a:spcPts val="1310"/>
              </a:lnSpc>
              <a:spcBef>
                <a:spcPts val="90"/>
              </a:spcBef>
            </a:pPr>
            <a:r>
              <a:rPr sz="1100" b="1" spc="-45" dirty="0">
                <a:latin typeface="Arial"/>
                <a:cs typeface="Arial"/>
              </a:rPr>
              <a:t>Sachin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Mohanty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ts val="1190"/>
              </a:lnSpc>
            </a:pPr>
            <a:r>
              <a:rPr sz="1000" spc="-10" dirty="0">
                <a:latin typeface="Arial MT"/>
                <a:cs typeface="Arial MT"/>
              </a:rPr>
              <a:t>Roll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No:</a:t>
            </a:r>
            <a:r>
              <a:rPr sz="1000" spc="7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2301180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sz="900" spc="-10" dirty="0">
                <a:latin typeface="Arial MT"/>
                <a:cs typeface="Arial MT"/>
              </a:rPr>
              <a:t>Under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 </a:t>
            </a:r>
            <a:r>
              <a:rPr sz="900" spc="-30" dirty="0">
                <a:latin typeface="Arial MT"/>
                <a:cs typeface="Arial MT"/>
              </a:rPr>
              <a:t>Supervision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of:</a:t>
            </a:r>
            <a:endParaRPr sz="9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sz="1100" b="1" dirty="0">
                <a:latin typeface="Arial"/>
                <a:cs typeface="Arial"/>
              </a:rPr>
              <a:t>Dr.</a:t>
            </a:r>
            <a:r>
              <a:rPr sz="1100" b="1" spc="204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Mourina</a:t>
            </a:r>
            <a:r>
              <a:rPr sz="1100" b="1" spc="80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Ghosh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2867" y="2148135"/>
            <a:ext cx="295570" cy="28257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57096" y="2528044"/>
            <a:ext cx="2847340" cy="6400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065" marR="5080" algn="ctr">
              <a:lnSpc>
                <a:spcPct val="101499"/>
              </a:lnSpc>
              <a:spcBef>
                <a:spcPts val="80"/>
              </a:spcBef>
            </a:pPr>
            <a:r>
              <a:rPr sz="900" spc="-10" dirty="0">
                <a:latin typeface="Arial MT"/>
                <a:cs typeface="Arial MT"/>
              </a:rPr>
              <a:t>Department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Electronics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95" dirty="0">
                <a:latin typeface="Arial MT"/>
                <a:cs typeface="Arial MT"/>
              </a:rPr>
              <a:t>&amp;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Communication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30" dirty="0">
                <a:latin typeface="Arial MT"/>
                <a:cs typeface="Arial MT"/>
              </a:rPr>
              <a:t>Engineering </a:t>
            </a:r>
            <a:r>
              <a:rPr sz="900" spc="-10" dirty="0">
                <a:latin typeface="Arial MT"/>
                <a:cs typeface="Arial MT"/>
              </a:rPr>
              <a:t>Indian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Institute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Information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30" dirty="0">
                <a:latin typeface="Arial MT"/>
                <a:cs typeface="Arial MT"/>
              </a:rPr>
              <a:t>Technology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Guwahati</a:t>
            </a:r>
            <a:endParaRPr sz="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9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000" dirty="0">
                <a:latin typeface="Arial MT"/>
                <a:cs typeface="Arial MT"/>
              </a:rPr>
              <a:t>25th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April,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2022</a:t>
            </a:r>
            <a:endParaRPr sz="1000" dirty="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6883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0C46A0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739470"/>
            <a:ext cx="160096" cy="1600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80" y="1146746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554022"/>
            <a:ext cx="160096" cy="1600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9743" y="711363"/>
            <a:ext cx="900430" cy="10064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90"/>
              </a:spcBef>
              <a:buClr>
                <a:srgbClr val="E6ECF5"/>
              </a:buClr>
              <a:buSzPct val="72727"/>
              <a:buFont typeface="Tahoma"/>
              <a:buAutoNum type="arabicPlain"/>
              <a:tabLst>
                <a:tab pos="177165" algn="l"/>
              </a:tabLst>
            </a:pPr>
            <a:r>
              <a:rPr sz="1100" spc="-10" dirty="0">
                <a:solidFill>
                  <a:srgbClr val="0C46A0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Clr>
                <a:srgbClr val="E6ECF5"/>
              </a:buClr>
              <a:buFont typeface="Tahoma"/>
              <a:buAutoNum type="arabicPlain"/>
            </a:pPr>
            <a:endParaRPr sz="1100">
              <a:latin typeface="Arial MT"/>
              <a:cs typeface="Arial MT"/>
            </a:endParaRPr>
          </a:p>
          <a:p>
            <a:pPr marL="177165" indent="-164465">
              <a:lnSpc>
                <a:spcPct val="100000"/>
              </a:lnSpc>
              <a:buClr>
                <a:srgbClr val="E6ECF5"/>
              </a:buClr>
              <a:buSzPct val="72727"/>
              <a:buFont typeface="Tahoma"/>
              <a:buAutoNum type="arabicPlain"/>
              <a:tabLst>
                <a:tab pos="177165" algn="l"/>
              </a:tabLst>
            </a:pPr>
            <a:r>
              <a:rPr sz="1100" spc="-10" dirty="0">
                <a:solidFill>
                  <a:srgbClr val="0C46A0"/>
                </a:solidFill>
                <a:latin typeface="Arial MT"/>
                <a:cs typeface="Arial MT"/>
                <a:hlinkClick r:id="rId6" action="ppaction://hlinksldjump"/>
              </a:rPr>
              <a:t>Motivation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buClr>
                <a:srgbClr val="E6ECF5"/>
              </a:buClr>
              <a:buFont typeface="Tahoma"/>
              <a:buAutoNum type="arabicPlain"/>
            </a:pPr>
            <a:endParaRPr sz="1100">
              <a:latin typeface="Arial MT"/>
              <a:cs typeface="Arial MT"/>
            </a:endParaRPr>
          </a:p>
          <a:p>
            <a:pPr marL="177165" indent="-164465">
              <a:lnSpc>
                <a:spcPct val="100000"/>
              </a:lnSpc>
              <a:buClr>
                <a:srgbClr val="E6ECF5"/>
              </a:buClr>
              <a:buSzPct val="72727"/>
              <a:buFont typeface="Tahoma"/>
              <a:buAutoNum type="arabicPlain"/>
              <a:tabLst>
                <a:tab pos="177165" algn="l"/>
              </a:tabLst>
            </a:pPr>
            <a:r>
              <a:rPr sz="1100" spc="-10" dirty="0">
                <a:solidFill>
                  <a:srgbClr val="0C46A0"/>
                </a:solidFill>
                <a:latin typeface="Arial MT"/>
                <a:cs typeface="Arial MT"/>
                <a:hlinkClick r:id="rId7" action="ppaction://hlinksldjump"/>
              </a:rPr>
              <a:t>Objective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280" y="1961299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196063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6ECF5"/>
                </a:solidFill>
                <a:latin typeface="Tahoma"/>
                <a:cs typeface="Tahoma"/>
              </a:rPr>
              <a:t>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173" y="1933205"/>
            <a:ext cx="681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0C46A0"/>
                </a:solidFill>
                <a:latin typeface="Arial MT"/>
                <a:cs typeface="Arial MT"/>
                <a:hlinkClick r:id="rId9" action="ppaction://hlinksldjump"/>
              </a:rPr>
              <a:t>Work</a:t>
            </a:r>
            <a:r>
              <a:rPr sz="1100" spc="-30" dirty="0">
                <a:solidFill>
                  <a:srgbClr val="0C46A0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1100" spc="-50" dirty="0">
                <a:solidFill>
                  <a:srgbClr val="0C46A0"/>
                </a:solidFill>
                <a:latin typeface="Arial MT"/>
                <a:cs typeface="Arial MT"/>
                <a:hlinkClick r:id="rId9" action="ppaction://hlinksldjump"/>
              </a:rPr>
              <a:t>Done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2368575"/>
            <a:ext cx="160096" cy="16009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95173" y="2373871"/>
            <a:ext cx="168148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z="1100" spc="-55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Conclusion</a:t>
            </a:r>
            <a:r>
              <a:rPr sz="1100" spc="-10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100" spc="-45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and</a:t>
            </a:r>
            <a:r>
              <a:rPr sz="1100" spc="-10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100" spc="-25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Future</a:t>
            </a:r>
            <a:r>
              <a:rPr sz="1100" spc="-5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100" spc="-20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Work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9743" y="2392105"/>
            <a:ext cx="79375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50" dirty="0">
                <a:solidFill>
                  <a:srgbClr val="E6ECF5"/>
                </a:solidFill>
                <a:latin typeface="Tahoma"/>
                <a:cs typeface="Tahoma"/>
              </a:rPr>
              <a:t>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567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0C46A0"/>
                </a:solidFill>
                <a:latin typeface="Tahoma"/>
                <a:cs typeface="Tahoma"/>
              </a:rPr>
              <a:t>Outline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739470"/>
            <a:ext cx="160096" cy="1600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80" y="1146746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554022"/>
            <a:ext cx="160096" cy="1600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9743" y="711363"/>
            <a:ext cx="900430" cy="10064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90"/>
              </a:spcBef>
              <a:buClr>
                <a:srgbClr val="E6ECF5"/>
              </a:buClr>
              <a:buSzPct val="72727"/>
              <a:buFont typeface="Tahoma"/>
              <a:buAutoNum type="arabicPlain"/>
              <a:tabLst>
                <a:tab pos="177165" algn="l"/>
              </a:tabLst>
            </a:pPr>
            <a:r>
              <a:rPr sz="1100" spc="-10" dirty="0">
                <a:solidFill>
                  <a:srgbClr val="0C46A0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AutoNum type="arabicPlain"/>
            </a:pPr>
            <a:endParaRPr sz="1100">
              <a:latin typeface="Arial MT"/>
              <a:cs typeface="Arial MT"/>
            </a:endParaRPr>
          </a:p>
          <a:p>
            <a:pPr marL="177165" indent="-164465">
              <a:lnSpc>
                <a:spcPct val="100000"/>
              </a:lnSpc>
              <a:buClr>
                <a:srgbClr val="FAFBFD"/>
              </a:buClr>
              <a:buSzPct val="72727"/>
              <a:buFont typeface="Tahoma"/>
              <a:buAutoNum type="arabicPlain"/>
              <a:tabLst>
                <a:tab pos="177165" algn="l"/>
              </a:tabLst>
            </a:pPr>
            <a:r>
              <a:rPr sz="1100" spc="-10" dirty="0">
                <a:solidFill>
                  <a:srgbClr val="CEDAEC"/>
                </a:solidFill>
                <a:latin typeface="Arial MT"/>
                <a:cs typeface="Arial MT"/>
                <a:hlinkClick r:id="rId6" action="ppaction://hlinksldjump"/>
              </a:rPr>
              <a:t>Motivation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buAutoNum type="arabicPlain"/>
            </a:pPr>
            <a:endParaRPr sz="1100">
              <a:latin typeface="Arial MT"/>
              <a:cs typeface="Arial MT"/>
            </a:endParaRPr>
          </a:p>
          <a:p>
            <a:pPr marL="177165" indent="-164465">
              <a:lnSpc>
                <a:spcPct val="100000"/>
              </a:lnSpc>
              <a:buClr>
                <a:srgbClr val="FAFBFD"/>
              </a:buClr>
              <a:buSzPct val="72727"/>
              <a:buFont typeface="Tahoma"/>
              <a:buAutoNum type="arabicPlain"/>
              <a:tabLst>
                <a:tab pos="177165" algn="l"/>
              </a:tabLst>
            </a:pPr>
            <a:r>
              <a:rPr sz="1100" spc="-10" dirty="0">
                <a:solidFill>
                  <a:srgbClr val="CEDAEC"/>
                </a:solidFill>
                <a:latin typeface="Arial MT"/>
                <a:cs typeface="Arial MT"/>
                <a:hlinkClick r:id="rId7" action="ppaction://hlinksldjump"/>
              </a:rPr>
              <a:t>Objective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280" y="1961299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196063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BFD"/>
                </a:solidFill>
                <a:latin typeface="Tahoma"/>
                <a:cs typeface="Tahoma"/>
              </a:rPr>
              <a:t>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173" y="1933205"/>
            <a:ext cx="681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CEDAEC"/>
                </a:solidFill>
                <a:latin typeface="Arial MT"/>
                <a:cs typeface="Arial MT"/>
                <a:hlinkClick r:id="rId9" action="ppaction://hlinksldjump"/>
              </a:rPr>
              <a:t>Work</a:t>
            </a:r>
            <a:r>
              <a:rPr sz="1100" spc="-30" dirty="0">
                <a:solidFill>
                  <a:srgbClr val="CEDAEC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1100" spc="-50" dirty="0">
                <a:solidFill>
                  <a:srgbClr val="CEDAEC"/>
                </a:solidFill>
                <a:latin typeface="Arial MT"/>
                <a:cs typeface="Arial MT"/>
                <a:hlinkClick r:id="rId9" action="ppaction://hlinksldjump"/>
              </a:rPr>
              <a:t>Done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2368575"/>
            <a:ext cx="160096" cy="16009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95173" y="2373871"/>
            <a:ext cx="168148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z="1100" spc="-55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Conclusion</a:t>
            </a:r>
            <a:r>
              <a:rPr sz="1100" spc="-10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100" spc="-45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and</a:t>
            </a:r>
            <a:r>
              <a:rPr sz="1100" spc="-10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100" spc="-25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Future</a:t>
            </a:r>
            <a:r>
              <a:rPr sz="1100" spc="-5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100" spc="-20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Work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9743" y="2392105"/>
            <a:ext cx="79375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50" dirty="0">
                <a:solidFill>
                  <a:srgbClr val="E6ECF5"/>
                </a:solidFill>
                <a:latin typeface="Tahoma"/>
                <a:cs typeface="Tahoma"/>
              </a:rPr>
              <a:t>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spc="-3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spc="-45" dirty="0"/>
              <a:t>Neuromorphic</a:t>
            </a:r>
            <a:r>
              <a:rPr spc="-35" dirty="0"/>
              <a:t> </a:t>
            </a:r>
            <a:r>
              <a:rPr spc="-20" dirty="0"/>
              <a:t>Computing</a:t>
            </a:r>
            <a:r>
              <a:rPr spc="-30" dirty="0"/>
              <a:t> </a:t>
            </a:r>
            <a:r>
              <a:rPr spc="120" dirty="0"/>
              <a:t>&amp;</a:t>
            </a:r>
            <a:r>
              <a:rPr spc="-35" dirty="0"/>
              <a:t> </a:t>
            </a:r>
            <a:r>
              <a:rPr dirty="0"/>
              <a:t>Why</a:t>
            </a:r>
            <a:r>
              <a:rPr spc="-30" dirty="0"/>
              <a:t> </a:t>
            </a:r>
            <a:r>
              <a:rPr spc="-10" dirty="0"/>
              <a:t>Use</a:t>
            </a:r>
            <a:r>
              <a:rPr spc="-30" dirty="0"/>
              <a:t> </a:t>
            </a:r>
            <a:r>
              <a:rPr spc="-25" dirty="0"/>
              <a:t>It?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475" y="1330235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475" y="171234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1475" y="2094445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6230" y="882283"/>
            <a:ext cx="2693670" cy="132080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200" b="1" dirty="0">
                <a:solidFill>
                  <a:srgbClr val="E55100"/>
                </a:solidFill>
                <a:latin typeface="Arial"/>
                <a:cs typeface="Arial"/>
              </a:rPr>
              <a:t>The</a:t>
            </a:r>
            <a:r>
              <a:rPr sz="1200" b="1" spc="30" dirty="0">
                <a:solidFill>
                  <a:srgbClr val="E551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E55100"/>
                </a:solidFill>
                <a:latin typeface="Arial"/>
                <a:cs typeface="Arial"/>
              </a:rPr>
              <a:t>Von</a:t>
            </a:r>
            <a:r>
              <a:rPr sz="1200" b="1" spc="35" dirty="0">
                <a:solidFill>
                  <a:srgbClr val="E55100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E55100"/>
                </a:solidFill>
                <a:latin typeface="Arial"/>
                <a:cs typeface="Arial"/>
              </a:rPr>
              <a:t>Neumann</a:t>
            </a:r>
            <a:r>
              <a:rPr sz="1200" b="1" spc="35" dirty="0">
                <a:solidFill>
                  <a:srgbClr val="E5510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E55100"/>
                </a:solidFill>
                <a:latin typeface="Arial"/>
                <a:cs typeface="Arial"/>
              </a:rPr>
              <a:t>Bottleneck</a:t>
            </a:r>
            <a:endParaRPr sz="1200">
              <a:latin typeface="Arial"/>
              <a:cs typeface="Arial"/>
            </a:endParaRPr>
          </a:p>
          <a:p>
            <a:pPr marL="289560" marR="98425">
              <a:lnSpc>
                <a:spcPct val="102600"/>
              </a:lnSpc>
              <a:spcBef>
                <a:spcPts val="640"/>
              </a:spcBef>
            </a:pPr>
            <a:r>
              <a:rPr sz="1100" spc="-45" dirty="0">
                <a:latin typeface="Arial MT"/>
                <a:cs typeface="Arial MT"/>
              </a:rPr>
              <a:t>Conventional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computing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separates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CPU </a:t>
            </a:r>
            <a:r>
              <a:rPr sz="1100" spc="-45" dirty="0">
                <a:latin typeface="Arial MT"/>
                <a:cs typeface="Arial MT"/>
              </a:rPr>
              <a:t>and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Memory.</a:t>
            </a:r>
            <a:endParaRPr sz="1100">
              <a:latin typeface="Arial MT"/>
              <a:cs typeface="Arial MT"/>
            </a:endParaRP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sz="1100" spc="-30" dirty="0">
                <a:latin typeface="Arial MT"/>
                <a:cs typeface="Arial MT"/>
              </a:rPr>
              <a:t>Constant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data </a:t>
            </a:r>
            <a:r>
              <a:rPr sz="1100" spc="-45" dirty="0">
                <a:latin typeface="Arial MT"/>
                <a:cs typeface="Arial MT"/>
              </a:rPr>
              <a:t>movement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5" dirty="0">
                <a:latin typeface="Arial MT"/>
                <a:cs typeface="Arial MT"/>
              </a:rPr>
              <a:t>causes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high </a:t>
            </a:r>
            <a:r>
              <a:rPr sz="1100" spc="-30" dirty="0">
                <a:latin typeface="Arial MT"/>
                <a:cs typeface="Arial MT"/>
              </a:rPr>
              <a:t>latency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and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massive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energy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consumption.</a:t>
            </a:r>
            <a:endParaRPr sz="11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25" dirty="0">
                <a:latin typeface="Arial MT"/>
                <a:cs typeface="Arial MT"/>
              </a:rPr>
              <a:t>Modern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requires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Kilowatts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power.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86608" y="790762"/>
            <a:ext cx="1953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The</a:t>
            </a:r>
            <a:r>
              <a:rPr sz="1200" b="1" spc="6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40" dirty="0">
                <a:solidFill>
                  <a:srgbClr val="0C46A0"/>
                </a:solidFill>
                <a:latin typeface="Arial"/>
                <a:cs typeface="Arial"/>
              </a:rPr>
              <a:t>Neuromorphic</a:t>
            </a:r>
            <a:r>
              <a:rPr sz="1200" b="1" spc="6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40" dirty="0">
                <a:solidFill>
                  <a:srgbClr val="0C46A0"/>
                </a:solidFill>
                <a:latin typeface="Arial"/>
                <a:cs typeface="Arial"/>
              </a:rPr>
              <a:t>Solution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41852" y="1172921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263696" y="1089468"/>
            <a:ext cx="2306320" cy="13004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50495">
              <a:lnSpc>
                <a:spcPct val="102600"/>
              </a:lnSpc>
              <a:spcBef>
                <a:spcPts val="55"/>
              </a:spcBef>
            </a:pPr>
            <a:r>
              <a:rPr sz="1100" b="1" spc="-45" dirty="0">
                <a:latin typeface="Arial"/>
                <a:cs typeface="Arial"/>
              </a:rPr>
              <a:t>Brain-</a:t>
            </a:r>
            <a:r>
              <a:rPr sz="1100" b="1" spc="-25" dirty="0">
                <a:latin typeface="Arial"/>
                <a:cs typeface="Arial"/>
              </a:rPr>
              <a:t>Inspired:</a:t>
            </a:r>
            <a:r>
              <a:rPr sz="1100" b="1" spc="75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Brain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90" dirty="0">
                <a:latin typeface="Arial MT"/>
                <a:cs typeface="Arial MT"/>
              </a:rPr>
              <a:t>processes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and </a:t>
            </a:r>
            <a:r>
              <a:rPr sz="1100" spc="-65" dirty="0">
                <a:latin typeface="Arial MT"/>
                <a:cs typeface="Arial MT"/>
              </a:rPr>
              <a:t>stores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data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100" dirty="0">
                <a:latin typeface="Arial MT"/>
                <a:cs typeface="Arial MT"/>
              </a:rPr>
              <a:t>synapses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using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only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Lucida Sans Unicode"/>
                <a:cs typeface="Lucida Sans Unicode"/>
              </a:rPr>
              <a:t>∼</a:t>
            </a:r>
            <a:r>
              <a:rPr sz="1100" spc="-10" dirty="0">
                <a:latin typeface="Arial MT"/>
                <a:cs typeface="Arial MT"/>
              </a:rPr>
              <a:t>20W.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b="1" spc="-45" dirty="0">
                <a:latin typeface="Arial"/>
                <a:cs typeface="Arial"/>
              </a:rPr>
              <a:t>Neuromorphic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Computing:</a:t>
            </a:r>
            <a:r>
              <a:rPr sz="1100" b="1" spc="95" dirty="0">
                <a:latin typeface="Arial"/>
                <a:cs typeface="Arial"/>
              </a:rPr>
              <a:t> </a:t>
            </a:r>
            <a:r>
              <a:rPr sz="1100" spc="-55" dirty="0">
                <a:latin typeface="Arial MT"/>
                <a:cs typeface="Arial MT"/>
              </a:rPr>
              <a:t>Hardware </a:t>
            </a:r>
            <a:r>
              <a:rPr sz="1100" spc="-35" dirty="0">
                <a:latin typeface="Arial MT"/>
                <a:cs typeface="Arial MT"/>
              </a:rPr>
              <a:t>mimics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biological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neural</a:t>
            </a:r>
            <a:r>
              <a:rPr sz="1100" spc="-10" dirty="0">
                <a:latin typeface="Arial MT"/>
                <a:cs typeface="Arial MT"/>
              </a:rPr>
              <a:t> networks.</a:t>
            </a:r>
            <a:endParaRPr sz="1100">
              <a:latin typeface="Arial MT"/>
              <a:cs typeface="Arial MT"/>
            </a:endParaRPr>
          </a:p>
          <a:p>
            <a:pPr marL="12700" marR="23495">
              <a:lnSpc>
                <a:spcPct val="102600"/>
              </a:lnSpc>
              <a:spcBef>
                <a:spcPts val="300"/>
              </a:spcBef>
            </a:pPr>
            <a:r>
              <a:rPr sz="1100" spc="-20" dirty="0">
                <a:latin typeface="Arial MT"/>
                <a:cs typeface="Arial MT"/>
              </a:rPr>
              <a:t>Highly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parallel,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event-</a:t>
            </a:r>
            <a:r>
              <a:rPr sz="1100" spc="-30" dirty="0">
                <a:latin typeface="Arial MT"/>
                <a:cs typeface="Arial MT"/>
              </a:rPr>
              <a:t>driven,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integrates </a:t>
            </a:r>
            <a:r>
              <a:rPr sz="1100" spc="-60" dirty="0">
                <a:latin typeface="Arial MT"/>
                <a:cs typeface="Arial MT"/>
              </a:rPr>
              <a:t>memory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computation.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41852" y="1727098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41852" y="2109216"/>
            <a:ext cx="65265" cy="6526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spc="-3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20" dirty="0"/>
              <a:t>Memristor?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737" y="105337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737" y="1263408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9737" y="1473441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4493" y="605424"/>
            <a:ext cx="2849245" cy="114871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The</a:t>
            </a:r>
            <a:r>
              <a:rPr sz="1200" b="1" spc="3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C46A0"/>
                </a:solidFill>
                <a:latin typeface="Arial"/>
                <a:cs typeface="Arial"/>
              </a:rPr>
              <a:t>Fourth</a:t>
            </a:r>
            <a:r>
              <a:rPr sz="1200" b="1" spc="3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0C46A0"/>
                </a:solidFill>
                <a:latin typeface="Arial"/>
                <a:cs typeface="Arial"/>
              </a:rPr>
              <a:t>Fundamental</a:t>
            </a:r>
            <a:r>
              <a:rPr sz="1200" b="1" spc="3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C46A0"/>
                </a:solidFill>
                <a:latin typeface="Arial"/>
                <a:cs typeface="Arial"/>
              </a:rPr>
              <a:t>Element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675"/>
              </a:spcBef>
            </a:pPr>
            <a:r>
              <a:rPr sz="1100" spc="-40" dirty="0">
                <a:latin typeface="Arial MT"/>
                <a:cs typeface="Arial MT"/>
              </a:rPr>
              <a:t>Postulated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L.O.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Chua</a:t>
            </a:r>
            <a:r>
              <a:rPr sz="1100" spc="-10" dirty="0">
                <a:latin typeface="Arial MT"/>
                <a:cs typeface="Arial MT"/>
              </a:rPr>
              <a:t> (1971).</a:t>
            </a:r>
            <a:endParaRPr sz="11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60" dirty="0">
                <a:latin typeface="Arial MT"/>
                <a:cs typeface="Arial MT"/>
              </a:rPr>
              <a:t>Relates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b="1" spc="-25" dirty="0">
                <a:latin typeface="Arial"/>
                <a:cs typeface="Arial"/>
              </a:rPr>
              <a:t>magnetic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flux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Verdana"/>
                <a:cs typeface="Verdana"/>
              </a:rPr>
              <a:t>φ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b="1" spc="-50" dirty="0">
                <a:latin typeface="Arial"/>
                <a:cs typeface="Arial"/>
              </a:rPr>
              <a:t>charge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spc="-20" dirty="0">
                <a:latin typeface="Arial MT"/>
                <a:cs typeface="Arial MT"/>
              </a:rPr>
              <a:t>(</a:t>
            </a:r>
            <a:r>
              <a:rPr sz="1100" i="1" spc="-20" dirty="0">
                <a:latin typeface="Arial"/>
                <a:cs typeface="Arial"/>
              </a:rPr>
              <a:t>q</a:t>
            </a:r>
            <a:r>
              <a:rPr sz="1100" spc="-20" dirty="0">
                <a:latin typeface="Arial MT"/>
                <a:cs typeface="Arial MT"/>
              </a:rPr>
              <a:t>).</a:t>
            </a:r>
            <a:endParaRPr sz="1100">
              <a:latin typeface="Arial MT"/>
              <a:cs typeface="Arial MT"/>
            </a:endParaRPr>
          </a:p>
          <a:p>
            <a:pPr marL="289560" marR="20955">
              <a:lnSpc>
                <a:spcPct val="102600"/>
              </a:lnSpc>
              <a:spcBef>
                <a:spcPts val="300"/>
              </a:spcBef>
            </a:pPr>
            <a:r>
              <a:rPr sz="1100" spc="-80" dirty="0">
                <a:latin typeface="Arial MT"/>
                <a:cs typeface="Arial MT"/>
              </a:rPr>
              <a:t>Resistance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85" dirty="0">
                <a:latin typeface="Arial MT"/>
                <a:cs typeface="Arial MT"/>
              </a:rPr>
              <a:t>depends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history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current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— </a:t>
            </a:r>
            <a:r>
              <a:rPr sz="1100" spc="-45" dirty="0">
                <a:solidFill>
                  <a:srgbClr val="FF0000"/>
                </a:solidFill>
                <a:latin typeface="Arial MT"/>
                <a:cs typeface="Arial MT"/>
              </a:rPr>
              <a:t>non-</a:t>
            </a:r>
            <a:r>
              <a:rPr sz="1100" spc="-20" dirty="0">
                <a:solidFill>
                  <a:srgbClr val="FF0000"/>
                </a:solidFill>
                <a:latin typeface="Arial MT"/>
                <a:cs typeface="Arial MT"/>
              </a:rPr>
              <a:t>volatile</a:t>
            </a:r>
            <a:r>
              <a:rPr sz="1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Arial MT"/>
                <a:cs typeface="Arial MT"/>
              </a:rPr>
              <a:t>memory</a:t>
            </a:r>
            <a:r>
              <a:rPr sz="1100" spc="-10" dirty="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493" y="1938004"/>
            <a:ext cx="95376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Key</a:t>
            </a:r>
            <a:r>
              <a:rPr sz="1200" b="1" spc="1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0C46A0"/>
                </a:solidFill>
                <a:latin typeface="Arial"/>
                <a:cs typeface="Arial"/>
              </a:rPr>
              <a:t>Property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093" y="2136126"/>
            <a:ext cx="5441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baseline="-25252" dirty="0">
                <a:latin typeface="Arial"/>
                <a:cs typeface="Arial"/>
              </a:rPr>
              <a:t>M</a:t>
            </a:r>
            <a:r>
              <a:rPr sz="1650" i="1" spc="150" baseline="-25252" dirty="0">
                <a:latin typeface="Arial"/>
                <a:cs typeface="Arial"/>
              </a:rPr>
              <a:t> </a:t>
            </a:r>
            <a:r>
              <a:rPr sz="1650" spc="300" baseline="-25252" dirty="0">
                <a:latin typeface="Arial MT"/>
                <a:cs typeface="Arial MT"/>
              </a:rPr>
              <a:t>=</a:t>
            </a:r>
            <a:r>
              <a:rPr sz="1650" spc="209" baseline="-25252" dirty="0">
                <a:latin typeface="Arial MT"/>
                <a:cs typeface="Arial MT"/>
              </a:rPr>
              <a:t> </a:t>
            </a:r>
            <a:r>
              <a:rPr sz="8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dφ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6808" y="2283852"/>
            <a:ext cx="1365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dq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4156" y="2198749"/>
            <a:ext cx="10788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7660" algn="l"/>
              </a:tabLst>
            </a:pPr>
            <a:r>
              <a:rPr sz="1100" spc="-50" dirty="0">
                <a:latin typeface="Lucida Sans Unicode"/>
                <a:cs typeface="Lucida Sans Unicode"/>
              </a:rPr>
              <a:t>⇒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spc="-45" dirty="0">
                <a:latin typeface="Arial MT"/>
                <a:cs typeface="Arial MT"/>
              </a:rPr>
              <a:t>Memristance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493" y="2370821"/>
            <a:ext cx="25546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Arial MT"/>
                <a:cs typeface="Arial MT"/>
              </a:rPr>
              <a:t>Pinched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hysteresis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loop</a:t>
            </a:r>
            <a:r>
              <a:rPr sz="1100" dirty="0">
                <a:latin typeface="Arial MT"/>
                <a:cs typeface="Arial MT"/>
              </a:rPr>
              <a:t> in </a:t>
            </a:r>
            <a:r>
              <a:rPr sz="1100" spc="-10" dirty="0">
                <a:latin typeface="Arial MT"/>
                <a:cs typeface="Arial MT"/>
              </a:rPr>
              <a:t>I-</a:t>
            </a:r>
            <a:r>
              <a:rPr sz="1100" dirty="0">
                <a:latin typeface="Arial MT"/>
                <a:cs typeface="Arial MT"/>
              </a:rPr>
              <a:t>V </a:t>
            </a:r>
            <a:r>
              <a:rPr sz="1100" spc="-30" dirty="0">
                <a:latin typeface="Arial MT"/>
                <a:cs typeface="Arial MT"/>
              </a:rPr>
              <a:t>characteristic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48095" y="1002685"/>
            <a:ext cx="1013460" cy="912494"/>
            <a:chOff x="3848095" y="1002685"/>
            <a:chExt cx="1013460" cy="912494"/>
          </a:xfrm>
        </p:grpSpPr>
        <p:sp>
          <p:nvSpPr>
            <p:cNvPr id="13" name="object 13"/>
            <p:cNvSpPr/>
            <p:nvPr/>
          </p:nvSpPr>
          <p:spPr>
            <a:xfrm>
              <a:off x="3853175" y="1456308"/>
              <a:ext cx="998219" cy="0"/>
            </a:xfrm>
            <a:custGeom>
              <a:avLst/>
              <a:gdLst/>
              <a:ahLst/>
              <a:cxnLst/>
              <a:rect l="l" t="t" r="r" b="b"/>
              <a:pathLst>
                <a:path w="998220">
                  <a:moveTo>
                    <a:pt x="0" y="0"/>
                  </a:moveTo>
                  <a:lnTo>
                    <a:pt x="997885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23731" y="1416799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7179" y="1012826"/>
              <a:ext cx="0" cy="897255"/>
            </a:xfrm>
            <a:custGeom>
              <a:avLst/>
              <a:gdLst/>
              <a:ahLst/>
              <a:cxnLst/>
              <a:rect l="l" t="t" r="r" b="b"/>
              <a:pathLst>
                <a:path h="897255">
                  <a:moveTo>
                    <a:pt x="0" y="89708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17670" y="1007765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79207" y="1223583"/>
              <a:ext cx="756285" cy="465455"/>
            </a:xfrm>
            <a:custGeom>
              <a:avLst/>
              <a:gdLst/>
              <a:ahLst/>
              <a:cxnLst/>
              <a:rect l="l" t="t" r="r" b="b"/>
              <a:pathLst>
                <a:path w="756285" h="465455">
                  <a:moveTo>
                    <a:pt x="377972" y="232725"/>
                  </a:moveTo>
                  <a:lnTo>
                    <a:pt x="330371" y="235124"/>
                  </a:lnTo>
                  <a:lnTo>
                    <a:pt x="283517" y="242238"/>
                  </a:lnTo>
                  <a:lnTo>
                    <a:pt x="238167" y="253781"/>
                  </a:lnTo>
                  <a:lnTo>
                    <a:pt x="195034" y="269293"/>
                  </a:lnTo>
                  <a:lnTo>
                    <a:pt x="154836" y="288150"/>
                  </a:lnTo>
                  <a:lnTo>
                    <a:pt x="118183" y="309591"/>
                  </a:lnTo>
                  <a:lnTo>
                    <a:pt x="85675" y="332748"/>
                  </a:lnTo>
                  <a:lnTo>
                    <a:pt x="51634" y="362656"/>
                  </a:lnTo>
                  <a:lnTo>
                    <a:pt x="25701" y="391811"/>
                  </a:lnTo>
                  <a:lnTo>
                    <a:pt x="4233" y="427698"/>
                  </a:lnTo>
                  <a:lnTo>
                    <a:pt x="0" y="447367"/>
                  </a:lnTo>
                  <a:lnTo>
                    <a:pt x="280" y="450543"/>
                  </a:lnTo>
                  <a:lnTo>
                    <a:pt x="23583" y="465451"/>
                  </a:lnTo>
                  <a:lnTo>
                    <a:pt x="27904" y="465109"/>
                  </a:lnTo>
                  <a:lnTo>
                    <a:pt x="67680" y="452719"/>
                  </a:lnTo>
                  <a:lnTo>
                    <a:pt x="105463" y="433297"/>
                  </a:lnTo>
                  <a:lnTo>
                    <a:pt x="140635" y="411748"/>
                  </a:lnTo>
                  <a:lnTo>
                    <a:pt x="179580" y="385412"/>
                  </a:lnTo>
                  <a:lnTo>
                    <a:pt x="210900" y="362887"/>
                  </a:lnTo>
                  <a:lnTo>
                    <a:pt x="243719" y="338354"/>
                  </a:lnTo>
                  <a:lnTo>
                    <a:pt x="277745" y="312179"/>
                  </a:lnTo>
                  <a:lnTo>
                    <a:pt x="312664" y="284770"/>
                  </a:lnTo>
                  <a:lnTo>
                    <a:pt x="348164" y="256546"/>
                  </a:lnTo>
                  <a:lnTo>
                    <a:pt x="372004" y="237493"/>
                  </a:lnTo>
                  <a:lnTo>
                    <a:pt x="383928" y="227965"/>
                  </a:lnTo>
                  <a:lnTo>
                    <a:pt x="419642" y="199445"/>
                  </a:lnTo>
                  <a:lnTo>
                    <a:pt x="454995" y="171436"/>
                  </a:lnTo>
                  <a:lnTo>
                    <a:pt x="489649" y="144396"/>
                  </a:lnTo>
                  <a:lnTo>
                    <a:pt x="523299" y="118729"/>
                  </a:lnTo>
                  <a:lnTo>
                    <a:pt x="555649" y="94824"/>
                  </a:lnTo>
                  <a:lnTo>
                    <a:pt x="596254" y="66319"/>
                  </a:lnTo>
                  <a:lnTo>
                    <a:pt x="633388" y="42305"/>
                  </a:lnTo>
                  <a:lnTo>
                    <a:pt x="674013" y="19476"/>
                  </a:lnTo>
                  <a:lnTo>
                    <a:pt x="712973" y="3510"/>
                  </a:lnTo>
                  <a:lnTo>
                    <a:pt x="732361" y="0"/>
                  </a:lnTo>
                  <a:lnTo>
                    <a:pt x="736333" y="4"/>
                  </a:lnTo>
                  <a:lnTo>
                    <a:pt x="755944" y="18080"/>
                  </a:lnTo>
                  <a:lnTo>
                    <a:pt x="755847" y="21525"/>
                  </a:lnTo>
                  <a:lnTo>
                    <a:pt x="741628" y="57301"/>
                  </a:lnTo>
                  <a:lnTo>
                    <a:pt x="715703" y="90924"/>
                  </a:lnTo>
                  <a:lnTo>
                    <a:pt x="684822" y="120767"/>
                  </a:lnTo>
                  <a:lnTo>
                    <a:pt x="654579" y="144431"/>
                  </a:lnTo>
                  <a:lnTo>
                    <a:pt x="619926" y="166845"/>
                  </a:lnTo>
                  <a:lnTo>
                    <a:pt x="581419" y="187102"/>
                  </a:lnTo>
                  <a:lnTo>
                    <a:pt x="539672" y="204371"/>
                  </a:lnTo>
                  <a:lnTo>
                    <a:pt x="495351" y="217964"/>
                  </a:lnTo>
                  <a:lnTo>
                    <a:pt x="449158" y="227342"/>
                  </a:lnTo>
                  <a:lnTo>
                    <a:pt x="401827" y="232126"/>
                  </a:lnTo>
                  <a:lnTo>
                    <a:pt x="389911" y="232575"/>
                  </a:lnTo>
                  <a:lnTo>
                    <a:pt x="377983" y="232725"/>
                  </a:lnTo>
                </a:path>
              </a:pathLst>
            </a:custGeom>
            <a:ln w="10122">
              <a:solidFill>
                <a:srgbClr val="0C46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899710" y="1353170"/>
            <a:ext cx="11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V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15980" y="800225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28350" y="1726722"/>
            <a:ext cx="7131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solidFill>
                  <a:srgbClr val="0C46A0"/>
                </a:solidFill>
                <a:latin typeface="Arial MT"/>
                <a:cs typeface="Arial MT"/>
              </a:rPr>
              <a:t>Pinched</a:t>
            </a:r>
            <a:r>
              <a:rPr sz="1000" spc="-30" dirty="0">
                <a:solidFill>
                  <a:srgbClr val="0C46A0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0C46A0"/>
                </a:solidFill>
                <a:latin typeface="Arial MT"/>
                <a:cs typeface="Arial MT"/>
              </a:rPr>
              <a:t>loop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46185" y="1607086"/>
            <a:ext cx="115126" cy="15415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297301" y="2063196"/>
            <a:ext cx="1090930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The</a:t>
            </a:r>
            <a:r>
              <a:rPr sz="1000" b="1" spc="9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4</a:t>
            </a:r>
            <a:r>
              <a:rPr sz="1000" b="1" spc="9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elements: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195"/>
              </a:lnSpc>
              <a:tabLst>
                <a:tab pos="565150" algn="l"/>
              </a:tabLst>
            </a:pPr>
            <a:r>
              <a:rPr sz="1000" dirty="0">
                <a:latin typeface="Arial MT"/>
                <a:cs typeface="Arial MT"/>
              </a:rPr>
              <a:t>R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(V-</a:t>
            </a:r>
            <a:r>
              <a:rPr sz="1000" spc="-25" dirty="0">
                <a:latin typeface="Arial MT"/>
                <a:cs typeface="Arial MT"/>
              </a:rPr>
              <a:t>I)</a:t>
            </a:r>
            <a:r>
              <a:rPr sz="1000" dirty="0">
                <a:latin typeface="Arial MT"/>
                <a:cs typeface="Arial MT"/>
              </a:rPr>
              <a:t>	L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(Flux-</a:t>
            </a:r>
            <a:r>
              <a:rPr sz="1000" spc="-25" dirty="0">
                <a:latin typeface="Arial MT"/>
                <a:cs typeface="Arial MT"/>
              </a:rPr>
              <a:t>I)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200"/>
              </a:lnSpc>
            </a:pPr>
            <a:r>
              <a:rPr sz="1000" spc="-35" dirty="0">
                <a:solidFill>
                  <a:srgbClr val="FF0000"/>
                </a:solidFill>
                <a:latin typeface="Arial MT"/>
                <a:cs typeface="Arial MT"/>
              </a:rPr>
              <a:t>(Flux-</a:t>
            </a:r>
            <a:r>
              <a:rPr sz="1000" spc="-10" dirty="0">
                <a:solidFill>
                  <a:srgbClr val="FF0000"/>
                </a:solidFill>
                <a:latin typeface="Arial MT"/>
                <a:cs typeface="Arial MT"/>
              </a:rPr>
              <a:t>Charge)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31451" y="2215024"/>
            <a:ext cx="10198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5350" algn="l"/>
              </a:tabLst>
            </a:pPr>
            <a:r>
              <a:rPr sz="1000" dirty="0">
                <a:latin typeface="Arial MT"/>
                <a:cs typeface="Arial MT"/>
              </a:rPr>
              <a:t>C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(Charge-</a:t>
            </a:r>
            <a:r>
              <a:rPr sz="1000" spc="-25" dirty="0">
                <a:latin typeface="Arial MT"/>
                <a:cs typeface="Arial MT"/>
              </a:rPr>
              <a:t>V)</a:t>
            </a:r>
            <a:r>
              <a:rPr sz="1000" dirty="0">
                <a:latin typeface="Arial MT"/>
                <a:cs typeface="Arial MT"/>
              </a:rPr>
              <a:t>	</a:t>
            </a:r>
            <a:r>
              <a:rPr sz="1000" spc="-50" dirty="0">
                <a:solidFill>
                  <a:srgbClr val="FF0000"/>
                </a:solidFill>
                <a:latin typeface="Arial MT"/>
                <a:cs typeface="Arial MT"/>
              </a:rPr>
              <a:t>M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5" name="object 25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Memristors</a:t>
            </a:r>
            <a:r>
              <a:rPr spc="-30" dirty="0"/>
              <a:t> as </a:t>
            </a:r>
            <a:r>
              <a:rPr dirty="0"/>
              <a:t>Artificial</a:t>
            </a:r>
            <a:r>
              <a:rPr spc="-30" dirty="0"/>
              <a:t> </a:t>
            </a:r>
            <a:r>
              <a:rPr spc="-60" dirty="0"/>
              <a:t>Synapses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493" y="536089"/>
            <a:ext cx="12560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Why</a:t>
            </a:r>
            <a:r>
              <a:rPr sz="1200" b="1" spc="5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40" dirty="0">
                <a:solidFill>
                  <a:srgbClr val="0C46A0"/>
                </a:solidFill>
                <a:latin typeface="Arial"/>
                <a:cs typeface="Arial"/>
              </a:rPr>
              <a:t>Memristors?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737" y="918248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1581" y="834794"/>
            <a:ext cx="2414905" cy="9944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67640">
              <a:lnSpc>
                <a:spcPct val="102600"/>
              </a:lnSpc>
              <a:spcBef>
                <a:spcPts val="55"/>
              </a:spcBef>
            </a:pPr>
            <a:r>
              <a:rPr sz="1100" spc="-35" dirty="0">
                <a:latin typeface="Arial MT"/>
                <a:cs typeface="Arial MT"/>
              </a:rPr>
              <a:t>Analog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tunable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resistance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b="1" spc="-50" dirty="0">
                <a:latin typeface="Arial"/>
                <a:cs typeface="Arial"/>
              </a:rPr>
              <a:t>synaptic </a:t>
            </a:r>
            <a:r>
              <a:rPr sz="1100" b="1" spc="-10" dirty="0">
                <a:latin typeface="Arial"/>
                <a:cs typeface="Arial"/>
              </a:rPr>
              <a:t>weight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50" dirty="0">
                <a:latin typeface="Arial MT"/>
                <a:cs typeface="Arial MT"/>
              </a:rPr>
              <a:t>Non-</a:t>
            </a:r>
            <a:r>
              <a:rPr sz="1100" spc="-20" dirty="0">
                <a:latin typeface="Arial MT"/>
                <a:cs typeface="Arial MT"/>
              </a:rPr>
              <a:t>volatile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b="1" spc="-40" dirty="0">
                <a:latin typeface="Arial"/>
                <a:cs typeface="Arial"/>
              </a:rPr>
              <a:t>memory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without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power</a:t>
            </a:r>
            <a:endParaRPr sz="1100">
              <a:latin typeface="Arial"/>
              <a:cs typeface="Arial"/>
            </a:endParaRPr>
          </a:p>
          <a:p>
            <a:pPr marL="12700" marR="779145">
              <a:lnSpc>
                <a:spcPct val="125299"/>
              </a:lnSpc>
            </a:pPr>
            <a:r>
              <a:rPr sz="1100" spc="-10" dirty="0">
                <a:latin typeface="Arial MT"/>
                <a:cs typeface="Arial MT"/>
              </a:rPr>
              <a:t>High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density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crossbar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arrays </a:t>
            </a:r>
            <a:r>
              <a:rPr sz="1100" spc="-40" dirty="0">
                <a:latin typeface="Arial MT"/>
                <a:cs typeface="Arial MT"/>
              </a:rPr>
              <a:t>In-memory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computation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737" y="1300352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9737" y="1510385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737" y="1720418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4493" y="1926829"/>
            <a:ext cx="2411095" cy="88265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0"/>
              </a:spcBef>
            </a:pPr>
            <a:r>
              <a:rPr sz="1200" b="1" spc="-30" dirty="0">
                <a:solidFill>
                  <a:srgbClr val="E55100"/>
                </a:solidFill>
                <a:latin typeface="Arial"/>
                <a:cs typeface="Arial"/>
              </a:rPr>
              <a:t>Hardware</a:t>
            </a:r>
            <a:r>
              <a:rPr sz="1200" b="1" dirty="0">
                <a:solidFill>
                  <a:srgbClr val="E5510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E55100"/>
                </a:solidFill>
                <a:latin typeface="Arial"/>
                <a:cs typeface="Arial"/>
              </a:rPr>
              <a:t>Challenge</a:t>
            </a:r>
            <a:endParaRPr sz="1200">
              <a:latin typeface="Arial"/>
              <a:cs typeface="Arial"/>
            </a:endParaRPr>
          </a:p>
          <a:p>
            <a:pPr marL="12700" marR="5080" algn="just">
              <a:lnSpc>
                <a:spcPct val="102600"/>
              </a:lnSpc>
              <a:spcBef>
                <a:spcPts val="575"/>
              </a:spcBef>
            </a:pPr>
            <a:r>
              <a:rPr sz="1100" spc="-45" dirty="0">
                <a:latin typeface="Arial MT"/>
                <a:cs typeface="Arial MT"/>
              </a:rPr>
              <a:t>Physical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memristors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are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not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available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 MT"/>
                <a:cs typeface="Arial MT"/>
              </a:rPr>
              <a:t>in </a:t>
            </a:r>
            <a:r>
              <a:rPr sz="1100" spc="-40" dirty="0">
                <a:latin typeface="Arial MT"/>
                <a:cs typeface="Arial MT"/>
              </a:rPr>
              <a:t>standard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CMOS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PDKs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due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fabrication </a:t>
            </a:r>
            <a:r>
              <a:rPr sz="1100" spc="-45" dirty="0">
                <a:latin typeface="Arial MT"/>
                <a:cs typeface="Arial MT"/>
              </a:rPr>
              <a:t>complexities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spc="-75" dirty="0">
                <a:latin typeface="Arial MT"/>
                <a:cs typeface="Arial MT"/>
              </a:rPr>
              <a:t>Need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CMOS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emulator!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984917" y="1379023"/>
            <a:ext cx="221615" cy="804545"/>
            <a:chOff x="3984917" y="1379023"/>
            <a:chExt cx="221615" cy="804545"/>
          </a:xfrm>
        </p:grpSpPr>
        <p:sp>
          <p:nvSpPr>
            <p:cNvPr id="11" name="object 11"/>
            <p:cNvSpPr/>
            <p:nvPr/>
          </p:nvSpPr>
          <p:spPr>
            <a:xfrm>
              <a:off x="3987457" y="2029577"/>
              <a:ext cx="216535" cy="151765"/>
            </a:xfrm>
            <a:custGeom>
              <a:avLst/>
              <a:gdLst/>
              <a:ahLst/>
              <a:cxnLst/>
              <a:rect l="l" t="t" r="r" b="b"/>
              <a:pathLst>
                <a:path w="216535" h="151764">
                  <a:moveTo>
                    <a:pt x="0" y="151202"/>
                  </a:moveTo>
                  <a:lnTo>
                    <a:pt x="0" y="0"/>
                  </a:lnTo>
                  <a:lnTo>
                    <a:pt x="216004" y="0"/>
                  </a:lnTo>
                  <a:lnTo>
                    <a:pt x="216004" y="151202"/>
                  </a:lnTo>
                  <a:lnTo>
                    <a:pt x="0" y="151202"/>
                  </a:lnTo>
                  <a:close/>
                </a:path>
              </a:pathLst>
            </a:custGeom>
            <a:solidFill>
              <a:srgbClr val="CED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87457" y="2029577"/>
              <a:ext cx="216535" cy="151765"/>
            </a:xfrm>
            <a:custGeom>
              <a:avLst/>
              <a:gdLst/>
              <a:ahLst/>
              <a:cxnLst/>
              <a:rect l="l" t="t" r="r" b="b"/>
              <a:pathLst>
                <a:path w="216535" h="151764">
                  <a:moveTo>
                    <a:pt x="0" y="151202"/>
                  </a:moveTo>
                  <a:lnTo>
                    <a:pt x="0" y="0"/>
                  </a:lnTo>
                  <a:lnTo>
                    <a:pt x="216004" y="0"/>
                  </a:lnTo>
                  <a:lnTo>
                    <a:pt x="216004" y="151202"/>
                  </a:lnTo>
                  <a:lnTo>
                    <a:pt x="0" y="1512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87457" y="1705570"/>
              <a:ext cx="216535" cy="151765"/>
            </a:xfrm>
            <a:custGeom>
              <a:avLst/>
              <a:gdLst/>
              <a:ahLst/>
              <a:cxnLst/>
              <a:rect l="l" t="t" r="r" b="b"/>
              <a:pathLst>
                <a:path w="216535" h="151764">
                  <a:moveTo>
                    <a:pt x="0" y="151202"/>
                  </a:moveTo>
                  <a:lnTo>
                    <a:pt x="0" y="0"/>
                  </a:lnTo>
                  <a:lnTo>
                    <a:pt x="216004" y="0"/>
                  </a:lnTo>
                  <a:lnTo>
                    <a:pt x="216004" y="151202"/>
                  </a:lnTo>
                  <a:lnTo>
                    <a:pt x="0" y="151202"/>
                  </a:lnTo>
                  <a:close/>
                </a:path>
              </a:pathLst>
            </a:custGeom>
            <a:solidFill>
              <a:srgbClr val="CED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87457" y="1705570"/>
              <a:ext cx="216535" cy="151765"/>
            </a:xfrm>
            <a:custGeom>
              <a:avLst/>
              <a:gdLst/>
              <a:ahLst/>
              <a:cxnLst/>
              <a:rect l="l" t="t" r="r" b="b"/>
              <a:pathLst>
                <a:path w="216535" h="151764">
                  <a:moveTo>
                    <a:pt x="0" y="151202"/>
                  </a:moveTo>
                  <a:lnTo>
                    <a:pt x="0" y="0"/>
                  </a:lnTo>
                  <a:lnTo>
                    <a:pt x="216004" y="0"/>
                  </a:lnTo>
                  <a:lnTo>
                    <a:pt x="216004" y="151202"/>
                  </a:lnTo>
                  <a:lnTo>
                    <a:pt x="0" y="1512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87457" y="1381563"/>
              <a:ext cx="216535" cy="151765"/>
            </a:xfrm>
            <a:custGeom>
              <a:avLst/>
              <a:gdLst/>
              <a:ahLst/>
              <a:cxnLst/>
              <a:rect l="l" t="t" r="r" b="b"/>
              <a:pathLst>
                <a:path w="216535" h="151765">
                  <a:moveTo>
                    <a:pt x="0" y="151202"/>
                  </a:moveTo>
                  <a:lnTo>
                    <a:pt x="0" y="0"/>
                  </a:lnTo>
                  <a:lnTo>
                    <a:pt x="216004" y="0"/>
                  </a:lnTo>
                  <a:lnTo>
                    <a:pt x="216004" y="151202"/>
                  </a:lnTo>
                  <a:lnTo>
                    <a:pt x="0" y="151202"/>
                  </a:lnTo>
                  <a:close/>
                </a:path>
              </a:pathLst>
            </a:custGeom>
            <a:solidFill>
              <a:srgbClr val="CED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87457" y="1381563"/>
              <a:ext cx="216535" cy="151765"/>
            </a:xfrm>
            <a:custGeom>
              <a:avLst/>
              <a:gdLst/>
              <a:ahLst/>
              <a:cxnLst/>
              <a:rect l="l" t="t" r="r" b="b"/>
              <a:pathLst>
                <a:path w="216535" h="151765">
                  <a:moveTo>
                    <a:pt x="0" y="151202"/>
                  </a:moveTo>
                  <a:lnTo>
                    <a:pt x="0" y="0"/>
                  </a:lnTo>
                  <a:lnTo>
                    <a:pt x="216004" y="0"/>
                  </a:lnTo>
                  <a:lnTo>
                    <a:pt x="216004" y="151202"/>
                  </a:lnTo>
                  <a:lnTo>
                    <a:pt x="0" y="1512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047578" y="1394909"/>
            <a:ext cx="958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35" dirty="0">
                <a:latin typeface="Tahoma"/>
                <a:cs typeface="Tahoma"/>
              </a:rPr>
              <a:t>M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39176" y="1203678"/>
            <a:ext cx="701675" cy="1025525"/>
            <a:chOff x="3939176" y="1203678"/>
            <a:chExt cx="701675" cy="1025525"/>
          </a:xfrm>
        </p:grpSpPr>
        <p:sp>
          <p:nvSpPr>
            <p:cNvPr id="19" name="object 19"/>
            <p:cNvSpPr/>
            <p:nvPr/>
          </p:nvSpPr>
          <p:spPr>
            <a:xfrm>
              <a:off x="3944256" y="2105177"/>
              <a:ext cx="691515" cy="0"/>
            </a:xfrm>
            <a:custGeom>
              <a:avLst/>
              <a:gdLst/>
              <a:ahLst/>
              <a:cxnLst/>
              <a:rect l="l" t="t" r="r" b="b"/>
              <a:pathLst>
                <a:path w="691514">
                  <a:moveTo>
                    <a:pt x="0" y="0"/>
                  </a:moveTo>
                  <a:lnTo>
                    <a:pt x="367207" y="0"/>
                  </a:lnTo>
                </a:path>
                <a:path w="691514">
                  <a:moveTo>
                    <a:pt x="583212" y="0"/>
                  </a:moveTo>
                  <a:lnTo>
                    <a:pt x="691214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95459" y="1208758"/>
              <a:ext cx="0" cy="1015365"/>
            </a:xfrm>
            <a:custGeom>
              <a:avLst/>
              <a:gdLst/>
              <a:ahLst/>
              <a:cxnLst/>
              <a:rect l="l" t="t" r="r" b="b"/>
              <a:pathLst>
                <a:path h="1015364">
                  <a:moveTo>
                    <a:pt x="0" y="101522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11464" y="2029577"/>
              <a:ext cx="216535" cy="151765"/>
            </a:xfrm>
            <a:custGeom>
              <a:avLst/>
              <a:gdLst/>
              <a:ahLst/>
              <a:cxnLst/>
              <a:rect l="l" t="t" r="r" b="b"/>
              <a:pathLst>
                <a:path w="216535" h="151764">
                  <a:moveTo>
                    <a:pt x="0" y="151202"/>
                  </a:moveTo>
                  <a:lnTo>
                    <a:pt x="0" y="0"/>
                  </a:lnTo>
                  <a:lnTo>
                    <a:pt x="216005" y="0"/>
                  </a:lnTo>
                  <a:lnTo>
                    <a:pt x="216005" y="151202"/>
                  </a:lnTo>
                  <a:lnTo>
                    <a:pt x="0" y="151202"/>
                  </a:lnTo>
                  <a:close/>
                </a:path>
              </a:pathLst>
            </a:custGeom>
            <a:solidFill>
              <a:srgbClr val="CED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11464" y="2029577"/>
              <a:ext cx="216535" cy="151765"/>
            </a:xfrm>
            <a:custGeom>
              <a:avLst/>
              <a:gdLst/>
              <a:ahLst/>
              <a:cxnLst/>
              <a:rect l="l" t="t" r="r" b="b"/>
              <a:pathLst>
                <a:path w="216535" h="151764">
                  <a:moveTo>
                    <a:pt x="0" y="151202"/>
                  </a:moveTo>
                  <a:lnTo>
                    <a:pt x="0" y="0"/>
                  </a:lnTo>
                  <a:lnTo>
                    <a:pt x="216005" y="0"/>
                  </a:lnTo>
                  <a:lnTo>
                    <a:pt x="216005" y="151202"/>
                  </a:lnTo>
                  <a:lnTo>
                    <a:pt x="0" y="1512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11464" y="1705570"/>
              <a:ext cx="216535" cy="151765"/>
            </a:xfrm>
            <a:custGeom>
              <a:avLst/>
              <a:gdLst/>
              <a:ahLst/>
              <a:cxnLst/>
              <a:rect l="l" t="t" r="r" b="b"/>
              <a:pathLst>
                <a:path w="216535" h="151764">
                  <a:moveTo>
                    <a:pt x="0" y="151202"/>
                  </a:moveTo>
                  <a:lnTo>
                    <a:pt x="0" y="0"/>
                  </a:lnTo>
                  <a:lnTo>
                    <a:pt x="216005" y="0"/>
                  </a:lnTo>
                  <a:lnTo>
                    <a:pt x="216005" y="151202"/>
                  </a:lnTo>
                  <a:lnTo>
                    <a:pt x="0" y="151202"/>
                  </a:lnTo>
                  <a:close/>
                </a:path>
              </a:pathLst>
            </a:custGeom>
            <a:solidFill>
              <a:srgbClr val="CED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11464" y="1705570"/>
              <a:ext cx="216535" cy="151765"/>
            </a:xfrm>
            <a:custGeom>
              <a:avLst/>
              <a:gdLst/>
              <a:ahLst/>
              <a:cxnLst/>
              <a:rect l="l" t="t" r="r" b="b"/>
              <a:pathLst>
                <a:path w="216535" h="151764">
                  <a:moveTo>
                    <a:pt x="0" y="151202"/>
                  </a:moveTo>
                  <a:lnTo>
                    <a:pt x="0" y="0"/>
                  </a:lnTo>
                  <a:lnTo>
                    <a:pt x="216005" y="0"/>
                  </a:lnTo>
                  <a:lnTo>
                    <a:pt x="216005" y="151202"/>
                  </a:lnTo>
                  <a:lnTo>
                    <a:pt x="0" y="1512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371581" y="1718924"/>
            <a:ext cx="958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35" dirty="0">
                <a:latin typeface="Tahoma"/>
                <a:cs typeface="Tahoma"/>
              </a:rPr>
              <a:t>M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308924" y="1379023"/>
            <a:ext cx="221615" cy="156845"/>
            <a:chOff x="4308924" y="1379023"/>
            <a:chExt cx="221615" cy="156845"/>
          </a:xfrm>
        </p:grpSpPr>
        <p:sp>
          <p:nvSpPr>
            <p:cNvPr id="27" name="object 27"/>
            <p:cNvSpPr/>
            <p:nvPr/>
          </p:nvSpPr>
          <p:spPr>
            <a:xfrm>
              <a:off x="4311464" y="1381563"/>
              <a:ext cx="216535" cy="151765"/>
            </a:xfrm>
            <a:custGeom>
              <a:avLst/>
              <a:gdLst/>
              <a:ahLst/>
              <a:cxnLst/>
              <a:rect l="l" t="t" r="r" b="b"/>
              <a:pathLst>
                <a:path w="216535" h="151765">
                  <a:moveTo>
                    <a:pt x="0" y="151202"/>
                  </a:moveTo>
                  <a:lnTo>
                    <a:pt x="0" y="0"/>
                  </a:lnTo>
                  <a:lnTo>
                    <a:pt x="216005" y="0"/>
                  </a:lnTo>
                  <a:lnTo>
                    <a:pt x="216005" y="151202"/>
                  </a:lnTo>
                  <a:lnTo>
                    <a:pt x="0" y="151202"/>
                  </a:lnTo>
                  <a:close/>
                </a:path>
              </a:pathLst>
            </a:custGeom>
            <a:solidFill>
              <a:srgbClr val="CED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11464" y="1381563"/>
              <a:ext cx="216535" cy="151765"/>
            </a:xfrm>
            <a:custGeom>
              <a:avLst/>
              <a:gdLst/>
              <a:ahLst/>
              <a:cxnLst/>
              <a:rect l="l" t="t" r="r" b="b"/>
              <a:pathLst>
                <a:path w="216535" h="151765">
                  <a:moveTo>
                    <a:pt x="0" y="151202"/>
                  </a:moveTo>
                  <a:lnTo>
                    <a:pt x="0" y="0"/>
                  </a:lnTo>
                  <a:lnTo>
                    <a:pt x="216005" y="0"/>
                  </a:lnTo>
                  <a:lnTo>
                    <a:pt x="216005" y="151202"/>
                  </a:lnTo>
                  <a:lnTo>
                    <a:pt x="0" y="1512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371581" y="1394909"/>
            <a:ext cx="958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35" dirty="0">
                <a:latin typeface="Tahoma"/>
                <a:cs typeface="Tahoma"/>
              </a:rPr>
              <a:t>M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939176" y="1203678"/>
            <a:ext cx="915035" cy="1025525"/>
            <a:chOff x="3939176" y="1203678"/>
            <a:chExt cx="915035" cy="1025525"/>
          </a:xfrm>
        </p:grpSpPr>
        <p:sp>
          <p:nvSpPr>
            <p:cNvPr id="31" name="object 31"/>
            <p:cNvSpPr/>
            <p:nvPr/>
          </p:nvSpPr>
          <p:spPr>
            <a:xfrm>
              <a:off x="3944256" y="1781170"/>
              <a:ext cx="691515" cy="0"/>
            </a:xfrm>
            <a:custGeom>
              <a:avLst/>
              <a:gdLst/>
              <a:ahLst/>
              <a:cxnLst/>
              <a:rect l="l" t="t" r="r" b="b"/>
              <a:pathLst>
                <a:path w="691514">
                  <a:moveTo>
                    <a:pt x="0" y="0"/>
                  </a:moveTo>
                  <a:lnTo>
                    <a:pt x="691214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19466" y="1208758"/>
              <a:ext cx="0" cy="1015365"/>
            </a:xfrm>
            <a:custGeom>
              <a:avLst/>
              <a:gdLst/>
              <a:ahLst/>
              <a:cxnLst/>
              <a:rect l="l" t="t" r="r" b="b"/>
              <a:pathLst>
                <a:path h="1015364">
                  <a:moveTo>
                    <a:pt x="0" y="101522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635471" y="2029577"/>
              <a:ext cx="216535" cy="151765"/>
            </a:xfrm>
            <a:custGeom>
              <a:avLst/>
              <a:gdLst/>
              <a:ahLst/>
              <a:cxnLst/>
              <a:rect l="l" t="t" r="r" b="b"/>
              <a:pathLst>
                <a:path w="216535" h="151764">
                  <a:moveTo>
                    <a:pt x="0" y="151202"/>
                  </a:moveTo>
                  <a:lnTo>
                    <a:pt x="0" y="0"/>
                  </a:lnTo>
                  <a:lnTo>
                    <a:pt x="216004" y="0"/>
                  </a:lnTo>
                  <a:lnTo>
                    <a:pt x="216004" y="151202"/>
                  </a:lnTo>
                  <a:lnTo>
                    <a:pt x="0" y="151202"/>
                  </a:lnTo>
                  <a:close/>
                </a:path>
              </a:pathLst>
            </a:custGeom>
            <a:solidFill>
              <a:srgbClr val="CED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635471" y="2029577"/>
              <a:ext cx="216535" cy="151765"/>
            </a:xfrm>
            <a:custGeom>
              <a:avLst/>
              <a:gdLst/>
              <a:ahLst/>
              <a:cxnLst/>
              <a:rect l="l" t="t" r="r" b="b"/>
              <a:pathLst>
                <a:path w="216535" h="151764">
                  <a:moveTo>
                    <a:pt x="0" y="151202"/>
                  </a:moveTo>
                  <a:lnTo>
                    <a:pt x="0" y="0"/>
                  </a:lnTo>
                  <a:lnTo>
                    <a:pt x="216004" y="0"/>
                  </a:lnTo>
                  <a:lnTo>
                    <a:pt x="216004" y="151202"/>
                  </a:lnTo>
                  <a:lnTo>
                    <a:pt x="0" y="1512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047578" y="2042927"/>
            <a:ext cx="7442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6550" algn="l"/>
                <a:tab pos="660400" algn="l"/>
              </a:tabLst>
            </a:pPr>
            <a:r>
              <a:rPr sz="600" spc="35" dirty="0">
                <a:latin typeface="Tahoma"/>
                <a:cs typeface="Tahoma"/>
              </a:rPr>
              <a:t>M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spc="25" dirty="0">
                <a:latin typeface="Tahoma"/>
                <a:cs typeface="Tahoma"/>
              </a:rPr>
              <a:t>M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spc="25" dirty="0">
                <a:latin typeface="Tahoma"/>
                <a:cs typeface="Tahoma"/>
              </a:rPr>
              <a:t>M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632931" y="1703030"/>
            <a:ext cx="221615" cy="156845"/>
            <a:chOff x="4632931" y="1703030"/>
            <a:chExt cx="221615" cy="156845"/>
          </a:xfrm>
        </p:grpSpPr>
        <p:sp>
          <p:nvSpPr>
            <p:cNvPr id="37" name="object 37"/>
            <p:cNvSpPr/>
            <p:nvPr/>
          </p:nvSpPr>
          <p:spPr>
            <a:xfrm>
              <a:off x="4635471" y="1705570"/>
              <a:ext cx="216535" cy="151765"/>
            </a:xfrm>
            <a:custGeom>
              <a:avLst/>
              <a:gdLst/>
              <a:ahLst/>
              <a:cxnLst/>
              <a:rect l="l" t="t" r="r" b="b"/>
              <a:pathLst>
                <a:path w="216535" h="151764">
                  <a:moveTo>
                    <a:pt x="0" y="151202"/>
                  </a:moveTo>
                  <a:lnTo>
                    <a:pt x="0" y="0"/>
                  </a:lnTo>
                  <a:lnTo>
                    <a:pt x="216004" y="0"/>
                  </a:lnTo>
                  <a:lnTo>
                    <a:pt x="216004" y="151202"/>
                  </a:lnTo>
                  <a:lnTo>
                    <a:pt x="0" y="151202"/>
                  </a:lnTo>
                  <a:close/>
                </a:path>
              </a:pathLst>
            </a:custGeom>
            <a:solidFill>
              <a:srgbClr val="CED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35471" y="1705570"/>
              <a:ext cx="216535" cy="151765"/>
            </a:xfrm>
            <a:custGeom>
              <a:avLst/>
              <a:gdLst/>
              <a:ahLst/>
              <a:cxnLst/>
              <a:rect l="l" t="t" r="r" b="b"/>
              <a:pathLst>
                <a:path w="216535" h="151764">
                  <a:moveTo>
                    <a:pt x="0" y="151202"/>
                  </a:moveTo>
                  <a:lnTo>
                    <a:pt x="0" y="0"/>
                  </a:lnTo>
                  <a:lnTo>
                    <a:pt x="216004" y="0"/>
                  </a:lnTo>
                  <a:lnTo>
                    <a:pt x="216004" y="151202"/>
                  </a:lnTo>
                  <a:lnTo>
                    <a:pt x="0" y="1512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695583" y="1718924"/>
            <a:ext cx="958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35" dirty="0">
                <a:latin typeface="Tahoma"/>
                <a:cs typeface="Tahoma"/>
              </a:rPr>
              <a:t>M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632931" y="1379023"/>
            <a:ext cx="221615" cy="156845"/>
            <a:chOff x="4632931" y="1379023"/>
            <a:chExt cx="221615" cy="156845"/>
          </a:xfrm>
        </p:grpSpPr>
        <p:sp>
          <p:nvSpPr>
            <p:cNvPr id="41" name="object 41"/>
            <p:cNvSpPr/>
            <p:nvPr/>
          </p:nvSpPr>
          <p:spPr>
            <a:xfrm>
              <a:off x="4635471" y="1381563"/>
              <a:ext cx="216535" cy="151765"/>
            </a:xfrm>
            <a:custGeom>
              <a:avLst/>
              <a:gdLst/>
              <a:ahLst/>
              <a:cxnLst/>
              <a:rect l="l" t="t" r="r" b="b"/>
              <a:pathLst>
                <a:path w="216535" h="151765">
                  <a:moveTo>
                    <a:pt x="0" y="151202"/>
                  </a:moveTo>
                  <a:lnTo>
                    <a:pt x="0" y="0"/>
                  </a:lnTo>
                  <a:lnTo>
                    <a:pt x="216004" y="0"/>
                  </a:lnTo>
                  <a:lnTo>
                    <a:pt x="216004" y="151202"/>
                  </a:lnTo>
                  <a:lnTo>
                    <a:pt x="0" y="151202"/>
                  </a:lnTo>
                  <a:close/>
                </a:path>
              </a:pathLst>
            </a:custGeom>
            <a:solidFill>
              <a:srgbClr val="CED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635471" y="1381563"/>
              <a:ext cx="216535" cy="151765"/>
            </a:xfrm>
            <a:custGeom>
              <a:avLst/>
              <a:gdLst/>
              <a:ahLst/>
              <a:cxnLst/>
              <a:rect l="l" t="t" r="r" b="b"/>
              <a:pathLst>
                <a:path w="216535" h="151765">
                  <a:moveTo>
                    <a:pt x="0" y="151202"/>
                  </a:moveTo>
                  <a:lnTo>
                    <a:pt x="0" y="0"/>
                  </a:lnTo>
                  <a:lnTo>
                    <a:pt x="216004" y="0"/>
                  </a:lnTo>
                  <a:lnTo>
                    <a:pt x="216004" y="151202"/>
                  </a:lnTo>
                  <a:lnTo>
                    <a:pt x="0" y="1512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695583" y="1394909"/>
            <a:ext cx="958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35" dirty="0">
                <a:latin typeface="Tahoma"/>
                <a:cs typeface="Tahoma"/>
              </a:rPr>
              <a:t>M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944256" y="1208758"/>
            <a:ext cx="864235" cy="1015365"/>
          </a:xfrm>
          <a:custGeom>
            <a:avLst/>
            <a:gdLst/>
            <a:ahLst/>
            <a:cxnLst/>
            <a:rect l="l" t="t" r="r" b="b"/>
            <a:pathLst>
              <a:path w="864235" h="1015364">
                <a:moveTo>
                  <a:pt x="0" y="248404"/>
                </a:moveTo>
                <a:lnTo>
                  <a:pt x="864018" y="248404"/>
                </a:lnTo>
              </a:path>
              <a:path w="864235" h="1015364">
                <a:moveTo>
                  <a:pt x="799216" y="1015221"/>
                </a:moveTo>
                <a:lnTo>
                  <a:pt x="799216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3707028" y="1676392"/>
            <a:ext cx="4622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353060" algn="l"/>
              </a:tabLst>
            </a:pPr>
            <a:r>
              <a:rPr sz="1000" i="1" spc="-25" dirty="0">
                <a:latin typeface="Arial"/>
                <a:cs typeface="Arial"/>
              </a:rPr>
              <a:t>V</a:t>
            </a:r>
            <a:r>
              <a:rPr sz="1050" spc="-37" baseline="-11904" dirty="0">
                <a:latin typeface="Tahoma"/>
                <a:cs typeface="Tahoma"/>
              </a:rPr>
              <a:t>2</a:t>
            </a:r>
            <a:r>
              <a:rPr sz="1050" baseline="-11904" dirty="0">
                <a:latin typeface="Tahoma"/>
                <a:cs typeface="Tahoma"/>
              </a:rPr>
              <a:t>	</a:t>
            </a:r>
            <a:r>
              <a:rPr sz="900" spc="52" baseline="4629" dirty="0">
                <a:latin typeface="Tahoma"/>
                <a:cs typeface="Tahoma"/>
              </a:rPr>
              <a:t>M</a:t>
            </a:r>
            <a:endParaRPr sz="900" baseline="4629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719728" y="2000394"/>
            <a:ext cx="2076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-25" dirty="0">
                <a:latin typeface="Arial"/>
                <a:cs typeface="Arial"/>
              </a:rPr>
              <a:t>V</a:t>
            </a:r>
            <a:r>
              <a:rPr sz="1050" spc="-37" baseline="-11904" dirty="0">
                <a:latin typeface="Tahoma"/>
                <a:cs typeface="Tahoma"/>
              </a:rPr>
              <a:t>1</a:t>
            </a:r>
            <a:endParaRPr sz="1050" baseline="-11904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719728" y="1352389"/>
            <a:ext cx="2076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-25" dirty="0">
                <a:latin typeface="Arial"/>
                <a:cs typeface="Arial"/>
              </a:rPr>
              <a:t>V</a:t>
            </a:r>
            <a:r>
              <a:rPr sz="1050" spc="-37" baseline="-11904" dirty="0">
                <a:latin typeface="Tahoma"/>
                <a:cs typeface="Tahoma"/>
              </a:rPr>
              <a:t>3</a:t>
            </a:r>
            <a:endParaRPr sz="1050" baseline="-11904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971404" y="1001857"/>
            <a:ext cx="9029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374650" algn="l"/>
                <a:tab pos="698500" algn="l"/>
              </a:tabLst>
            </a:pPr>
            <a:r>
              <a:rPr sz="1000" i="1" spc="-25" dirty="0">
                <a:latin typeface="Arial"/>
                <a:cs typeface="Arial"/>
              </a:rPr>
              <a:t>O</a:t>
            </a:r>
            <a:r>
              <a:rPr sz="1050" spc="-37" baseline="-11904" dirty="0">
                <a:latin typeface="Tahoma"/>
                <a:cs typeface="Tahoma"/>
              </a:rPr>
              <a:t>1</a:t>
            </a:r>
            <a:r>
              <a:rPr sz="1050" baseline="-11904" dirty="0">
                <a:latin typeface="Tahoma"/>
                <a:cs typeface="Tahoma"/>
              </a:rPr>
              <a:t>	</a:t>
            </a:r>
            <a:r>
              <a:rPr sz="1000" i="1" spc="-25" dirty="0">
                <a:latin typeface="Arial"/>
                <a:cs typeface="Arial"/>
              </a:rPr>
              <a:t>O</a:t>
            </a:r>
            <a:r>
              <a:rPr sz="1050" spc="-37" baseline="-11904" dirty="0">
                <a:latin typeface="Tahoma"/>
                <a:cs typeface="Tahoma"/>
              </a:rPr>
              <a:t>2</a:t>
            </a:r>
            <a:r>
              <a:rPr sz="1050" baseline="-11904" dirty="0">
                <a:latin typeface="Tahoma"/>
                <a:cs typeface="Tahoma"/>
              </a:rPr>
              <a:t>	</a:t>
            </a:r>
            <a:r>
              <a:rPr sz="1000" i="1" spc="-25" dirty="0">
                <a:latin typeface="Arial"/>
                <a:cs typeface="Arial"/>
              </a:rPr>
              <a:t>O</a:t>
            </a:r>
            <a:r>
              <a:rPr sz="1050" spc="-37" baseline="-11904" dirty="0">
                <a:latin typeface="Tahoma"/>
                <a:cs typeface="Tahoma"/>
              </a:rPr>
              <a:t>3</a:t>
            </a:r>
            <a:endParaRPr sz="1050" baseline="-11904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805809" y="2236690"/>
            <a:ext cx="10979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Arial MT"/>
                <a:cs typeface="Arial MT"/>
              </a:rPr>
              <a:t>Memristive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Crossbar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51" name="object 51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567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0C46A0"/>
                </a:solidFill>
                <a:latin typeface="Tahoma"/>
                <a:cs typeface="Tahoma"/>
              </a:rPr>
              <a:t>Outline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739470"/>
            <a:ext cx="160096" cy="1600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80" y="1146746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554022"/>
            <a:ext cx="160096" cy="1600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9743" y="711363"/>
            <a:ext cx="900430" cy="10064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90"/>
              </a:spcBef>
              <a:buClr>
                <a:srgbClr val="FAFBFD"/>
              </a:buClr>
              <a:buSzPct val="72727"/>
              <a:buFont typeface="Tahoma"/>
              <a:buAutoNum type="arabicPlain"/>
              <a:tabLst>
                <a:tab pos="177165" algn="l"/>
              </a:tabLst>
            </a:pPr>
            <a:r>
              <a:rPr sz="1100" spc="-10" dirty="0">
                <a:solidFill>
                  <a:srgbClr val="CEDAEC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AutoNum type="arabicPlain"/>
            </a:pPr>
            <a:endParaRPr sz="1100">
              <a:latin typeface="Arial MT"/>
              <a:cs typeface="Arial MT"/>
            </a:endParaRPr>
          </a:p>
          <a:p>
            <a:pPr marL="177165" indent="-164465">
              <a:lnSpc>
                <a:spcPct val="100000"/>
              </a:lnSpc>
              <a:buClr>
                <a:srgbClr val="E6ECF5"/>
              </a:buClr>
              <a:buSzPct val="72727"/>
              <a:buFont typeface="Tahoma"/>
              <a:buAutoNum type="arabicPlain"/>
              <a:tabLst>
                <a:tab pos="177165" algn="l"/>
              </a:tabLst>
            </a:pPr>
            <a:r>
              <a:rPr sz="1100" spc="-10" dirty="0">
                <a:solidFill>
                  <a:srgbClr val="0C46A0"/>
                </a:solidFill>
                <a:latin typeface="Arial MT"/>
                <a:cs typeface="Arial MT"/>
                <a:hlinkClick r:id="rId6" action="ppaction://hlinksldjump"/>
              </a:rPr>
              <a:t>Motivation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buAutoNum type="arabicPlain"/>
            </a:pPr>
            <a:endParaRPr sz="1100">
              <a:latin typeface="Arial MT"/>
              <a:cs typeface="Arial MT"/>
            </a:endParaRPr>
          </a:p>
          <a:p>
            <a:pPr marL="177165" indent="-164465">
              <a:lnSpc>
                <a:spcPct val="100000"/>
              </a:lnSpc>
              <a:buClr>
                <a:srgbClr val="FAFBFD"/>
              </a:buClr>
              <a:buSzPct val="72727"/>
              <a:buFont typeface="Tahoma"/>
              <a:buAutoNum type="arabicPlain"/>
              <a:tabLst>
                <a:tab pos="177165" algn="l"/>
              </a:tabLst>
            </a:pPr>
            <a:r>
              <a:rPr sz="1100" spc="-10" dirty="0">
                <a:solidFill>
                  <a:srgbClr val="CEDAEC"/>
                </a:solidFill>
                <a:latin typeface="Arial MT"/>
                <a:cs typeface="Arial MT"/>
                <a:hlinkClick r:id="rId7" action="ppaction://hlinksldjump"/>
              </a:rPr>
              <a:t>Objective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280" y="1961299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196063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BFD"/>
                </a:solidFill>
                <a:latin typeface="Tahoma"/>
                <a:cs typeface="Tahoma"/>
              </a:rPr>
              <a:t>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173" y="1933205"/>
            <a:ext cx="681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CEDAEC"/>
                </a:solidFill>
                <a:latin typeface="Arial MT"/>
                <a:cs typeface="Arial MT"/>
                <a:hlinkClick r:id="rId9" action="ppaction://hlinksldjump"/>
              </a:rPr>
              <a:t>Work</a:t>
            </a:r>
            <a:r>
              <a:rPr sz="1100" spc="-30" dirty="0">
                <a:solidFill>
                  <a:srgbClr val="CEDAEC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1100" spc="-50" dirty="0">
                <a:solidFill>
                  <a:srgbClr val="CEDAEC"/>
                </a:solidFill>
                <a:latin typeface="Arial MT"/>
                <a:cs typeface="Arial MT"/>
                <a:hlinkClick r:id="rId9" action="ppaction://hlinksldjump"/>
              </a:rPr>
              <a:t>Done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2368575"/>
            <a:ext cx="160096" cy="16009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9743" y="236791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BFD"/>
                </a:solidFill>
                <a:latin typeface="Tahoma"/>
                <a:cs typeface="Tahoma"/>
              </a:rPr>
              <a:t>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5173" y="2340481"/>
            <a:ext cx="16814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Conclusion</a:t>
            </a:r>
            <a:r>
              <a:rPr sz="1100" spc="-10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100" spc="-45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and</a:t>
            </a:r>
            <a:r>
              <a:rPr sz="1100" spc="-10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100" spc="-25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Future</a:t>
            </a:r>
            <a:r>
              <a:rPr sz="1100" spc="-5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100" spc="-20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Work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Literature</a:t>
            </a:r>
            <a:r>
              <a:rPr spc="-15" dirty="0"/>
              <a:t> </a:t>
            </a:r>
            <a:r>
              <a:rPr spc="-45" dirty="0"/>
              <a:t>Review</a:t>
            </a:r>
            <a:r>
              <a:rPr spc="-15" dirty="0"/>
              <a:t> </a:t>
            </a:r>
            <a:r>
              <a:rPr spc="120" dirty="0"/>
              <a:t>&amp;</a:t>
            </a:r>
            <a:r>
              <a:rPr spc="-10" dirty="0"/>
              <a:t> Motivation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72249" y="358216"/>
          <a:ext cx="4417060" cy="645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5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2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b="1" spc="-20" dirty="0">
                          <a:latin typeface="Arial"/>
                          <a:cs typeface="Arial"/>
                        </a:rPr>
                        <a:t>Work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Approach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Limitation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270">
                <a:tc>
                  <a:txBody>
                    <a:bodyPr/>
                    <a:lstStyle/>
                    <a:p>
                      <a:pPr marL="75565" marR="41910">
                        <a:lnSpc>
                          <a:spcPct val="102600"/>
                        </a:lnSpc>
                        <a:spcBef>
                          <a:spcPts val="204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Zhao</a:t>
                      </a:r>
                      <a:r>
                        <a:rPr sz="11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et</a:t>
                      </a:r>
                      <a:r>
                        <a:rPr sz="11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al.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2017)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603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(ISPACS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 marR="144780">
                        <a:lnSpc>
                          <a:spcPct val="102600"/>
                        </a:lnSpc>
                        <a:spcBef>
                          <a:spcPts val="204"/>
                        </a:spcBef>
                      </a:pPr>
                      <a:r>
                        <a:rPr sz="1100" spc="-30" dirty="0">
                          <a:latin typeface="Arial MT"/>
                          <a:cs typeface="Arial MT"/>
                        </a:rPr>
                        <a:t>Memristor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model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603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SPICE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 marR="68580">
                        <a:lnSpc>
                          <a:spcPct val="102600"/>
                        </a:lnSpc>
                        <a:spcBef>
                          <a:spcPts val="204"/>
                        </a:spcBef>
                      </a:pPr>
                      <a:r>
                        <a:rPr sz="1100" spc="-40" dirty="0">
                          <a:latin typeface="Arial MT"/>
                          <a:cs typeface="Arial MT"/>
                        </a:rPr>
                        <a:t>Hardware</a:t>
                      </a:r>
                      <a:r>
                        <a:rPr sz="1100" spc="3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100" spc="3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fabricat-able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603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35469" y="1007248"/>
            <a:ext cx="433070" cy="7251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016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 MT"/>
                <a:cs typeface="Arial MT"/>
              </a:rPr>
              <a:t>Shi</a:t>
            </a:r>
            <a:r>
              <a:rPr sz="1100" spc="409" dirty="0">
                <a:latin typeface="Arial MT"/>
                <a:cs typeface="Arial MT"/>
              </a:rPr>
              <a:t> </a:t>
            </a:r>
            <a:r>
              <a:rPr sz="1100" spc="35" dirty="0">
                <a:latin typeface="Arial MT"/>
                <a:cs typeface="Arial MT"/>
              </a:rPr>
              <a:t>&amp; </a:t>
            </a:r>
            <a:r>
              <a:rPr sz="1100" spc="-10" dirty="0">
                <a:latin typeface="Arial MT"/>
                <a:cs typeface="Arial MT"/>
              </a:rPr>
              <a:t>2020)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2699"/>
              </a:lnSpc>
              <a:spcBef>
                <a:spcPts val="135"/>
              </a:spcBef>
            </a:pPr>
            <a:r>
              <a:rPr sz="1100" spc="-100" dirty="0">
                <a:latin typeface="Arial MT"/>
                <a:cs typeface="Arial MT"/>
              </a:rPr>
              <a:t>Saxena</a:t>
            </a:r>
            <a:r>
              <a:rPr sz="1100" spc="-10" dirty="0">
                <a:latin typeface="Arial MT"/>
                <a:cs typeface="Arial MT"/>
              </a:rPr>
              <a:t> 2019)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2660" y="1007248"/>
            <a:ext cx="768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 MT"/>
                <a:cs typeface="Arial MT"/>
              </a:rPr>
              <a:t>Zeng</a:t>
            </a:r>
            <a:r>
              <a:rPr sz="1100" spc="30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(IEEE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7303" y="1007248"/>
            <a:ext cx="1238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Arial MT"/>
                <a:cs typeface="Arial MT"/>
              </a:rPr>
              <a:t>In-</a:t>
            </a:r>
            <a:r>
              <a:rPr sz="1100" dirty="0">
                <a:latin typeface="Arial MT"/>
                <a:cs typeface="Arial MT"/>
              </a:rPr>
              <a:t>situ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learning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BAM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58722" y="1007248"/>
            <a:ext cx="1080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5" dirty="0">
                <a:latin typeface="Arial MT"/>
                <a:cs typeface="Arial MT"/>
              </a:rPr>
              <a:t>SPICE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model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only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713" y="1368601"/>
            <a:ext cx="6667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Arial MT"/>
                <a:cs typeface="Arial MT"/>
              </a:rPr>
              <a:t>(MWSCAS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47303" y="1368601"/>
            <a:ext cx="128587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spc="-55" dirty="0">
                <a:latin typeface="Arial MT"/>
                <a:cs typeface="Arial MT"/>
              </a:rPr>
              <a:t>Compact </a:t>
            </a:r>
            <a:r>
              <a:rPr sz="1100" spc="-70" dirty="0">
                <a:latin typeface="Arial MT"/>
                <a:cs typeface="Arial MT"/>
              </a:rPr>
              <a:t>CMOS</a:t>
            </a:r>
            <a:r>
              <a:rPr sz="1100" spc="-55" dirty="0">
                <a:latin typeface="Arial MT"/>
                <a:cs typeface="Arial MT"/>
              </a:rPr>
              <a:t> emu-</a:t>
            </a:r>
            <a:r>
              <a:rPr sz="1100" spc="-10" dirty="0">
                <a:latin typeface="Arial MT"/>
                <a:cs typeface="Arial MT"/>
              </a:rPr>
              <a:t>lator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59137" y="1368601"/>
            <a:ext cx="146558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spc="-25" dirty="0">
                <a:latin typeface="Arial MT"/>
                <a:cs typeface="Arial MT"/>
              </a:rPr>
              <a:t>Applied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memcomput-</a:t>
            </a:r>
            <a:r>
              <a:rPr sz="1100" spc="-25" dirty="0">
                <a:latin typeface="Arial MT"/>
                <a:cs typeface="Arial MT"/>
              </a:rPr>
              <a:t>ing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2249" y="1751240"/>
            <a:ext cx="4415790" cy="0"/>
          </a:xfrm>
          <a:custGeom>
            <a:avLst/>
            <a:gdLst/>
            <a:ahLst/>
            <a:cxnLst/>
            <a:rect l="l" t="t" r="r" b="b"/>
            <a:pathLst>
              <a:path w="4415790">
                <a:moveTo>
                  <a:pt x="0" y="0"/>
                </a:moveTo>
                <a:lnTo>
                  <a:pt x="441549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35469" y="1735021"/>
            <a:ext cx="6864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Arial"/>
                <a:cs typeface="Arial"/>
              </a:rPr>
              <a:t>This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Work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47303" y="1735021"/>
            <a:ext cx="128587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Arial"/>
                <a:cs typeface="Arial"/>
              </a:rPr>
              <a:t>Full</a:t>
            </a:r>
            <a:r>
              <a:rPr sz="1100" b="1" spc="484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CMOS</a:t>
            </a:r>
            <a:r>
              <a:rPr sz="1100" b="1" spc="49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BAM,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b="1" spc="-10" dirty="0">
                <a:latin typeface="Arial"/>
                <a:cs typeface="Arial"/>
              </a:rPr>
              <a:t>180nm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59137" y="1735021"/>
            <a:ext cx="146558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b="1" spc="-10" dirty="0">
                <a:latin typeface="Arial"/>
                <a:cs typeface="Arial"/>
              </a:rPr>
              <a:t>First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full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CMOS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imple-</a:t>
            </a:r>
            <a:r>
              <a:rPr sz="1100" b="1" spc="-10" dirty="0">
                <a:latin typeface="Arial"/>
                <a:cs typeface="Arial"/>
              </a:rPr>
              <a:t>mentation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2249" y="2145309"/>
            <a:ext cx="4415790" cy="0"/>
          </a:xfrm>
          <a:custGeom>
            <a:avLst/>
            <a:gdLst/>
            <a:ahLst/>
            <a:cxnLst/>
            <a:rect l="l" t="t" r="r" b="b"/>
            <a:pathLst>
              <a:path w="4415790">
                <a:moveTo>
                  <a:pt x="0" y="0"/>
                </a:moveTo>
                <a:lnTo>
                  <a:pt x="4415497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633967"/>
            <a:ext cx="65265" cy="652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3016072"/>
            <a:ext cx="65265" cy="6526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5844" y="2251809"/>
            <a:ext cx="4932680" cy="872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60" dirty="0">
                <a:solidFill>
                  <a:srgbClr val="0C46A0"/>
                </a:solidFill>
                <a:latin typeface="Arial"/>
                <a:cs typeface="Arial"/>
              </a:rPr>
              <a:t>Research</a:t>
            </a:r>
            <a:r>
              <a:rPr sz="1200" b="1" spc="3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C46A0"/>
                </a:solidFill>
                <a:latin typeface="Arial"/>
                <a:cs typeface="Arial"/>
              </a:rPr>
              <a:t>Gap</a:t>
            </a:r>
            <a:r>
              <a:rPr sz="1200" b="1" spc="3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125" dirty="0">
                <a:solidFill>
                  <a:srgbClr val="0C46A0"/>
                </a:solidFill>
                <a:latin typeface="Arial"/>
                <a:cs typeface="Arial"/>
              </a:rPr>
              <a:t>&amp;</a:t>
            </a:r>
            <a:r>
              <a:rPr sz="1200" b="1" spc="3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C46A0"/>
                </a:solidFill>
                <a:latin typeface="Arial"/>
                <a:cs typeface="Arial"/>
              </a:rPr>
              <a:t>Motivation</a:t>
            </a:r>
            <a:endParaRPr sz="1200">
              <a:latin typeface="Arial"/>
              <a:cs typeface="Arial"/>
            </a:endParaRPr>
          </a:p>
          <a:p>
            <a:pPr marL="289560" marR="5080">
              <a:lnSpc>
                <a:spcPct val="102600"/>
              </a:lnSpc>
              <a:spcBef>
                <a:spcPts val="869"/>
              </a:spcBef>
            </a:pPr>
            <a:r>
              <a:rPr sz="1100" dirty="0">
                <a:latin typeface="Arial MT"/>
                <a:cs typeface="Arial MT"/>
              </a:rPr>
              <a:t>No </a:t>
            </a:r>
            <a:r>
              <a:rPr sz="1100" spc="-10" dirty="0">
                <a:latin typeface="Arial MT"/>
                <a:cs typeface="Arial MT"/>
              </a:rPr>
              <a:t>prior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work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implemented</a:t>
            </a:r>
            <a:r>
              <a:rPr sz="1100" dirty="0">
                <a:latin typeface="Arial MT"/>
                <a:cs typeface="Arial MT"/>
              </a:rPr>
              <a:t> a </a:t>
            </a:r>
            <a:r>
              <a:rPr sz="1100" b="1" spc="-35" dirty="0">
                <a:latin typeface="Arial"/>
                <a:cs typeface="Arial"/>
              </a:rPr>
              <a:t>complete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CMOS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circuit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of BAM </a:t>
            </a:r>
            <a:r>
              <a:rPr sz="1100" spc="-50" dirty="0">
                <a:latin typeface="Arial MT"/>
                <a:cs typeface="Arial MT"/>
              </a:rPr>
              <a:t>using</a:t>
            </a:r>
            <a:r>
              <a:rPr sz="1100" dirty="0">
                <a:latin typeface="Arial MT"/>
                <a:cs typeface="Arial MT"/>
              </a:rPr>
              <a:t> a </a:t>
            </a:r>
            <a:r>
              <a:rPr sz="1100" spc="-20" dirty="0">
                <a:latin typeface="Arial MT"/>
                <a:cs typeface="Arial MT"/>
              </a:rPr>
              <a:t>CMOS </a:t>
            </a:r>
            <a:r>
              <a:rPr sz="1100" spc="-30" dirty="0">
                <a:latin typeface="Arial MT"/>
                <a:cs typeface="Arial MT"/>
              </a:rPr>
              <a:t>memristor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emulator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standard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technology.</a:t>
            </a:r>
            <a:endParaRPr sz="11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45" dirty="0">
                <a:latin typeface="Arial MT"/>
                <a:cs typeface="Arial MT"/>
              </a:rPr>
              <a:t>Physical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stochastic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device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characteristics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limit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reliable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weight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storage.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0" name="object 20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567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0C46A0"/>
                </a:solidFill>
                <a:latin typeface="Tahoma"/>
                <a:cs typeface="Tahoma"/>
              </a:rPr>
              <a:t>Outline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739470"/>
            <a:ext cx="160096" cy="1600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80" y="1146746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554022"/>
            <a:ext cx="160096" cy="1600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9743" y="711363"/>
            <a:ext cx="900430" cy="10064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90"/>
              </a:spcBef>
              <a:buClr>
                <a:srgbClr val="FAFBFD"/>
              </a:buClr>
              <a:buSzPct val="72727"/>
              <a:buFont typeface="Tahoma"/>
              <a:buAutoNum type="arabicPlain"/>
              <a:tabLst>
                <a:tab pos="177165" algn="l"/>
              </a:tabLst>
            </a:pPr>
            <a:r>
              <a:rPr sz="1100" spc="-10" dirty="0">
                <a:solidFill>
                  <a:srgbClr val="CEDAEC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AutoNum type="arabicPlain"/>
            </a:pPr>
            <a:endParaRPr sz="1100">
              <a:latin typeface="Arial MT"/>
              <a:cs typeface="Arial MT"/>
            </a:endParaRPr>
          </a:p>
          <a:p>
            <a:pPr marL="177165" indent="-164465">
              <a:lnSpc>
                <a:spcPct val="100000"/>
              </a:lnSpc>
              <a:buClr>
                <a:srgbClr val="FAFBFD"/>
              </a:buClr>
              <a:buSzPct val="72727"/>
              <a:buFont typeface="Tahoma"/>
              <a:buAutoNum type="arabicPlain"/>
              <a:tabLst>
                <a:tab pos="177165" algn="l"/>
              </a:tabLst>
            </a:pPr>
            <a:r>
              <a:rPr sz="1100" spc="-10" dirty="0">
                <a:solidFill>
                  <a:srgbClr val="CEDAEC"/>
                </a:solidFill>
                <a:latin typeface="Arial MT"/>
                <a:cs typeface="Arial MT"/>
                <a:hlinkClick r:id="rId6" action="ppaction://hlinksldjump"/>
              </a:rPr>
              <a:t>Motivation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buAutoNum type="arabicPlain"/>
            </a:pPr>
            <a:endParaRPr sz="1100">
              <a:latin typeface="Arial MT"/>
              <a:cs typeface="Arial MT"/>
            </a:endParaRPr>
          </a:p>
          <a:p>
            <a:pPr marL="177165" indent="-164465">
              <a:lnSpc>
                <a:spcPct val="100000"/>
              </a:lnSpc>
              <a:buClr>
                <a:srgbClr val="E6ECF5"/>
              </a:buClr>
              <a:buSzPct val="72727"/>
              <a:buFont typeface="Tahoma"/>
              <a:buAutoNum type="arabicPlain"/>
              <a:tabLst>
                <a:tab pos="177165" algn="l"/>
              </a:tabLst>
            </a:pPr>
            <a:r>
              <a:rPr sz="1100" spc="-10" dirty="0">
                <a:solidFill>
                  <a:srgbClr val="0C46A0"/>
                </a:solidFill>
                <a:latin typeface="Arial MT"/>
                <a:cs typeface="Arial MT"/>
                <a:hlinkClick r:id="rId7" action="ppaction://hlinksldjump"/>
              </a:rPr>
              <a:t>Objective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280" y="1961299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196063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BFD"/>
                </a:solidFill>
                <a:latin typeface="Tahoma"/>
                <a:cs typeface="Tahoma"/>
              </a:rPr>
              <a:t>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173" y="1933205"/>
            <a:ext cx="681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CEDAEC"/>
                </a:solidFill>
                <a:latin typeface="Arial MT"/>
                <a:cs typeface="Arial MT"/>
                <a:hlinkClick r:id="rId9" action="ppaction://hlinksldjump"/>
              </a:rPr>
              <a:t>Work</a:t>
            </a:r>
            <a:r>
              <a:rPr sz="1100" spc="-30" dirty="0">
                <a:solidFill>
                  <a:srgbClr val="CEDAEC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1100" spc="-50" dirty="0">
                <a:solidFill>
                  <a:srgbClr val="CEDAEC"/>
                </a:solidFill>
                <a:latin typeface="Arial MT"/>
                <a:cs typeface="Arial MT"/>
                <a:hlinkClick r:id="rId9" action="ppaction://hlinksldjump"/>
              </a:rPr>
              <a:t>Done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2368575"/>
            <a:ext cx="160096" cy="16009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9743" y="236791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BFD"/>
                </a:solidFill>
                <a:latin typeface="Tahoma"/>
                <a:cs typeface="Tahoma"/>
              </a:rPr>
              <a:t>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5173" y="2340481"/>
            <a:ext cx="16814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Conclusion</a:t>
            </a:r>
            <a:r>
              <a:rPr sz="1100" spc="-10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100" spc="-45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and</a:t>
            </a:r>
            <a:r>
              <a:rPr sz="1100" spc="-10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100" spc="-25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Future</a:t>
            </a:r>
            <a:r>
              <a:rPr sz="1100" spc="-5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100" spc="-20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Work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Problem</a:t>
            </a:r>
            <a:r>
              <a:rPr spc="-25" dirty="0"/>
              <a:t> Statement</a:t>
            </a:r>
            <a:r>
              <a:rPr spc="-20" dirty="0"/>
              <a:t> </a:t>
            </a:r>
            <a:r>
              <a:rPr spc="120" dirty="0"/>
              <a:t>&amp;</a:t>
            </a:r>
            <a:r>
              <a:rPr spc="-20" dirty="0"/>
              <a:t> </a:t>
            </a:r>
            <a:r>
              <a:rPr spc="-35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02561"/>
            <a:ext cx="5499100" cy="117475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00" b="1" spc="-20" dirty="0">
                <a:solidFill>
                  <a:srgbClr val="E55100"/>
                </a:solidFill>
                <a:latin typeface="Arial"/>
                <a:cs typeface="Arial"/>
              </a:rPr>
              <a:t>Problem</a:t>
            </a:r>
            <a:r>
              <a:rPr sz="1200" b="1" spc="5" dirty="0">
                <a:solidFill>
                  <a:srgbClr val="E5510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E55100"/>
                </a:solidFill>
                <a:latin typeface="Arial"/>
                <a:cs typeface="Arial"/>
              </a:rPr>
              <a:t>Statement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345"/>
              </a:spcBef>
            </a:pPr>
            <a:r>
              <a:rPr sz="1100" dirty="0">
                <a:latin typeface="Arial MT"/>
                <a:cs typeface="Arial MT"/>
              </a:rPr>
              <a:t>To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design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simulate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6</a:t>
            </a:r>
            <a:r>
              <a:rPr sz="1100" b="1" dirty="0">
                <a:latin typeface="Verdana"/>
                <a:cs typeface="Verdana"/>
              </a:rPr>
              <a:t>×</a:t>
            </a:r>
            <a:r>
              <a:rPr sz="1100" b="1" dirty="0">
                <a:latin typeface="Arial"/>
                <a:cs typeface="Arial"/>
              </a:rPr>
              <a:t>6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Bidirectional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Associative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Memory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spc="-40" dirty="0">
                <a:latin typeface="Arial MT"/>
                <a:cs typeface="Arial MT"/>
              </a:rPr>
              <a:t>neural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network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using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 </a:t>
            </a:r>
            <a:r>
              <a:rPr sz="1100" b="1" spc="-35" dirty="0">
                <a:latin typeface="Arial"/>
                <a:cs typeface="Arial"/>
              </a:rPr>
              <a:t>CMOS-</a:t>
            </a:r>
            <a:r>
              <a:rPr sz="1100" b="1" dirty="0">
                <a:latin typeface="Arial"/>
                <a:cs typeface="Arial"/>
              </a:rPr>
              <a:t>based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tunable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memristor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emulator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spc="-105" dirty="0">
                <a:latin typeface="Arial MT"/>
                <a:cs typeface="Arial MT"/>
              </a:rPr>
              <a:t>as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synaptic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element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b="1" spc="-10" dirty="0">
                <a:latin typeface="Arial"/>
                <a:cs typeface="Arial"/>
              </a:rPr>
              <a:t>SCL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180nm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CMOS </a:t>
            </a:r>
            <a:r>
              <a:rPr sz="1100" b="1" spc="-10" dirty="0">
                <a:latin typeface="Arial"/>
                <a:cs typeface="Arial"/>
              </a:rPr>
              <a:t>technology</a:t>
            </a:r>
            <a:r>
              <a:rPr sz="1100" spc="-10" dirty="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spc="-35" dirty="0">
                <a:solidFill>
                  <a:srgbClr val="0C46A0"/>
                </a:solidFill>
                <a:latin typeface="Arial"/>
                <a:cs typeface="Arial"/>
              </a:rPr>
              <a:t>Specific</a:t>
            </a:r>
            <a:r>
              <a:rPr sz="1200" b="1" spc="-10" dirty="0">
                <a:solidFill>
                  <a:srgbClr val="0C46A0"/>
                </a:solidFill>
                <a:latin typeface="Arial"/>
                <a:cs typeface="Arial"/>
              </a:rPr>
              <a:t> Objectives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722472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1917" y="170955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668359"/>
            <a:ext cx="5113655" cy="11664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20" dirty="0">
                <a:latin typeface="Arial"/>
                <a:cs typeface="Arial"/>
              </a:rPr>
              <a:t>Objective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1:</a:t>
            </a:r>
            <a:r>
              <a:rPr sz="1100" b="1" spc="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 MT"/>
                <a:cs typeface="Arial MT"/>
              </a:rPr>
              <a:t>Implement</a:t>
            </a:r>
            <a:r>
              <a:rPr sz="1100" dirty="0">
                <a:latin typeface="Arial MT"/>
                <a:cs typeface="Arial MT"/>
              </a:rPr>
              <a:t> a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CMOS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memristor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emulator</a:t>
            </a:r>
            <a:r>
              <a:rPr sz="1100" dirty="0">
                <a:latin typeface="Arial MT"/>
                <a:cs typeface="Arial MT"/>
              </a:rPr>
              <a:t> with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tunable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resistance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 act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as </a:t>
            </a:r>
            <a:r>
              <a:rPr sz="1100" spc="-20" dirty="0">
                <a:latin typeface="Arial MT"/>
                <a:cs typeface="Arial MT"/>
              </a:rPr>
              <a:t>an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artificial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synapse.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0" dirty="0">
                <a:latin typeface="Arial"/>
                <a:cs typeface="Arial"/>
              </a:rPr>
              <a:t>Objective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2:</a:t>
            </a:r>
            <a:r>
              <a:rPr sz="1100" b="1" spc="10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Build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fully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analog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6</a:t>
            </a:r>
            <a:r>
              <a:rPr sz="1100" spc="-25" dirty="0">
                <a:latin typeface="Lucida Sans Unicode"/>
                <a:cs typeface="Lucida Sans Unicode"/>
              </a:rPr>
              <a:t>×</a:t>
            </a:r>
            <a:r>
              <a:rPr sz="1100" spc="-25" dirty="0">
                <a:latin typeface="Arial MT"/>
                <a:cs typeface="Arial MT"/>
              </a:rPr>
              <a:t>6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BAM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crossbar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95" dirty="0">
                <a:latin typeface="Arial MT"/>
                <a:cs typeface="Arial MT"/>
              </a:rPr>
              <a:t>synapse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circuit.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b="1" spc="-20" dirty="0">
                <a:latin typeface="Arial"/>
                <a:cs typeface="Arial"/>
              </a:rPr>
              <a:t>Objective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3:</a:t>
            </a:r>
            <a:r>
              <a:rPr sz="1100" b="1" spc="110" dirty="0">
                <a:latin typeface="Arial"/>
                <a:cs typeface="Arial"/>
              </a:rPr>
              <a:t> </a:t>
            </a:r>
            <a:r>
              <a:rPr sz="1100" spc="-85" dirty="0">
                <a:latin typeface="Arial MT"/>
                <a:cs typeface="Arial MT"/>
              </a:rPr>
              <a:t>Resolve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analog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TIA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loading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95" dirty="0">
                <a:latin typeface="Arial MT"/>
                <a:cs typeface="Arial MT"/>
              </a:rPr>
              <a:t>issues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stable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logic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outputs.</a:t>
            </a:r>
            <a:endParaRPr sz="1100">
              <a:latin typeface="Arial MT"/>
              <a:cs typeface="Arial MT"/>
            </a:endParaRPr>
          </a:p>
          <a:p>
            <a:pPr marL="12700" marR="18415">
              <a:lnSpc>
                <a:spcPct val="102600"/>
              </a:lnSpc>
              <a:spcBef>
                <a:spcPts val="295"/>
              </a:spcBef>
            </a:pPr>
            <a:r>
              <a:rPr sz="1100" b="1" spc="-20" dirty="0">
                <a:latin typeface="Arial"/>
                <a:cs typeface="Arial"/>
              </a:rPr>
              <a:t>Objective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4:</a:t>
            </a:r>
            <a:r>
              <a:rPr sz="1100" b="1" spc="110" dirty="0">
                <a:latin typeface="Arial"/>
                <a:cs typeface="Arial"/>
              </a:rPr>
              <a:t> </a:t>
            </a:r>
            <a:r>
              <a:rPr sz="1100" spc="-40" dirty="0">
                <a:latin typeface="Arial MT"/>
                <a:cs typeface="Arial MT"/>
              </a:rPr>
              <a:t>Demonstrate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successful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pattern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learning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and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bidirectional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recall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spatial </a:t>
            </a:r>
            <a:r>
              <a:rPr sz="1100" spc="-25" dirty="0">
                <a:latin typeface="Arial MT"/>
                <a:cs typeface="Arial MT"/>
              </a:rPr>
              <a:t>patterns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via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Virtuoso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simulations.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2104577"/>
            <a:ext cx="114214" cy="1142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51917" y="209165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2314609"/>
            <a:ext cx="114214" cy="1142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1917" y="230168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2524642"/>
            <a:ext cx="114214" cy="1142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51917" y="251172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567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0C46A0"/>
                </a:solidFill>
                <a:latin typeface="Tahoma"/>
                <a:cs typeface="Tahoma"/>
              </a:rPr>
              <a:t>Outline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739470"/>
            <a:ext cx="160096" cy="1600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80" y="1146746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554022"/>
            <a:ext cx="160096" cy="1600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9743" y="711363"/>
            <a:ext cx="900430" cy="10064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90"/>
              </a:spcBef>
              <a:buClr>
                <a:srgbClr val="FAFBFD"/>
              </a:buClr>
              <a:buSzPct val="72727"/>
              <a:buFont typeface="Tahoma"/>
              <a:buAutoNum type="arabicPlain"/>
              <a:tabLst>
                <a:tab pos="177165" algn="l"/>
              </a:tabLst>
            </a:pPr>
            <a:r>
              <a:rPr sz="1100" spc="-10" dirty="0">
                <a:solidFill>
                  <a:srgbClr val="CEDAEC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Clr>
                <a:srgbClr val="FAFBFD"/>
              </a:buClr>
              <a:buFont typeface="Tahoma"/>
              <a:buAutoNum type="arabicPlain"/>
            </a:pPr>
            <a:endParaRPr sz="1100">
              <a:latin typeface="Arial MT"/>
              <a:cs typeface="Arial MT"/>
            </a:endParaRPr>
          </a:p>
          <a:p>
            <a:pPr marL="177165" indent="-164465">
              <a:lnSpc>
                <a:spcPct val="100000"/>
              </a:lnSpc>
              <a:buClr>
                <a:srgbClr val="FAFBFD"/>
              </a:buClr>
              <a:buSzPct val="72727"/>
              <a:buFont typeface="Tahoma"/>
              <a:buAutoNum type="arabicPlain"/>
              <a:tabLst>
                <a:tab pos="177165" algn="l"/>
              </a:tabLst>
            </a:pPr>
            <a:r>
              <a:rPr sz="1100" spc="-10" dirty="0">
                <a:solidFill>
                  <a:srgbClr val="CEDAEC"/>
                </a:solidFill>
                <a:latin typeface="Arial MT"/>
                <a:cs typeface="Arial MT"/>
                <a:hlinkClick r:id="rId6" action="ppaction://hlinksldjump"/>
              </a:rPr>
              <a:t>Motivation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buClr>
                <a:srgbClr val="FAFBFD"/>
              </a:buClr>
              <a:buFont typeface="Tahoma"/>
              <a:buAutoNum type="arabicPlain"/>
            </a:pPr>
            <a:endParaRPr sz="1100">
              <a:latin typeface="Arial MT"/>
              <a:cs typeface="Arial MT"/>
            </a:endParaRPr>
          </a:p>
          <a:p>
            <a:pPr marL="177165" indent="-164465">
              <a:lnSpc>
                <a:spcPct val="100000"/>
              </a:lnSpc>
              <a:buClr>
                <a:srgbClr val="FAFBFD"/>
              </a:buClr>
              <a:buSzPct val="72727"/>
              <a:buFont typeface="Tahoma"/>
              <a:buAutoNum type="arabicPlain"/>
              <a:tabLst>
                <a:tab pos="177165" algn="l"/>
              </a:tabLst>
            </a:pPr>
            <a:r>
              <a:rPr sz="1100" spc="-10" dirty="0">
                <a:solidFill>
                  <a:srgbClr val="CEDAEC"/>
                </a:solidFill>
                <a:latin typeface="Arial MT"/>
                <a:cs typeface="Arial MT"/>
                <a:hlinkClick r:id="rId7" action="ppaction://hlinksldjump"/>
              </a:rPr>
              <a:t>Objective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280" y="1961299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196063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6ECF5"/>
                </a:solidFill>
                <a:latin typeface="Tahoma"/>
                <a:cs typeface="Tahoma"/>
              </a:rPr>
              <a:t>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173" y="1933205"/>
            <a:ext cx="681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0C46A0"/>
                </a:solidFill>
                <a:latin typeface="Arial MT"/>
                <a:cs typeface="Arial MT"/>
                <a:hlinkClick r:id="rId9" action="ppaction://hlinksldjump"/>
              </a:rPr>
              <a:t>Work</a:t>
            </a:r>
            <a:r>
              <a:rPr sz="1100" spc="-30" dirty="0">
                <a:solidFill>
                  <a:srgbClr val="0C46A0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1100" spc="-50" dirty="0">
                <a:solidFill>
                  <a:srgbClr val="0C46A0"/>
                </a:solidFill>
                <a:latin typeface="Arial MT"/>
                <a:cs typeface="Arial MT"/>
                <a:hlinkClick r:id="rId9" action="ppaction://hlinksldjump"/>
              </a:rPr>
              <a:t>Done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2368575"/>
            <a:ext cx="160096" cy="16009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9743" y="236791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BFD"/>
                </a:solidFill>
                <a:latin typeface="Tahoma"/>
                <a:cs typeface="Tahoma"/>
              </a:rPr>
              <a:t>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5173" y="2340481"/>
            <a:ext cx="16814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Conclusion</a:t>
            </a:r>
            <a:r>
              <a:rPr sz="1100" spc="-10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100" spc="-45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and</a:t>
            </a:r>
            <a:r>
              <a:rPr sz="1100" spc="-10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100" spc="-25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Future</a:t>
            </a:r>
            <a:r>
              <a:rPr sz="1100" spc="-5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100" spc="-20" dirty="0">
                <a:solidFill>
                  <a:srgbClr val="CEDAEC"/>
                </a:solidFill>
                <a:latin typeface="Arial MT"/>
                <a:cs typeface="Arial MT"/>
                <a:hlinkClick r:id="rId11" action="ppaction://hlinksldjump"/>
              </a:rPr>
              <a:t>Work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Proposed </a:t>
            </a:r>
            <a:r>
              <a:rPr spc="-45" dirty="0"/>
              <a:t>Technique:</a:t>
            </a:r>
            <a:r>
              <a:rPr spc="105" dirty="0"/>
              <a:t> BAM</a:t>
            </a:r>
            <a:r>
              <a:rPr spc="-25" dirty="0"/>
              <a:t> </a:t>
            </a:r>
            <a:r>
              <a:rPr spc="-10" dirty="0"/>
              <a:t>Algorithm</a:t>
            </a:r>
            <a:r>
              <a:rPr spc="-30" dirty="0"/>
              <a:t> </a:t>
            </a:r>
            <a:r>
              <a:rPr spc="120" dirty="0"/>
              <a:t>&amp;</a:t>
            </a:r>
            <a:r>
              <a:rPr spc="-30" dirty="0"/>
              <a:t> </a:t>
            </a:r>
            <a:r>
              <a:rPr spc="-20" dirty="0"/>
              <a:t>Weight</a:t>
            </a:r>
            <a:r>
              <a:rPr spc="-30" dirty="0"/>
              <a:t> </a:t>
            </a:r>
            <a:r>
              <a:rPr spc="-10" dirty="0"/>
              <a:t>Calculation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737" y="859053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737" y="1069085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4493" y="476895"/>
            <a:ext cx="2767965" cy="700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0C46A0"/>
                </a:solidFill>
                <a:latin typeface="Arial"/>
                <a:cs typeface="Arial"/>
              </a:rPr>
              <a:t>Two-</a:t>
            </a:r>
            <a:r>
              <a:rPr sz="1200" b="1" spc="-40" dirty="0">
                <a:solidFill>
                  <a:srgbClr val="0C46A0"/>
                </a:solidFill>
                <a:latin typeface="Arial"/>
                <a:cs typeface="Arial"/>
              </a:rPr>
              <a:t>Layer</a:t>
            </a:r>
            <a:r>
              <a:rPr sz="1200" b="1" spc="-1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Neural</a:t>
            </a:r>
            <a:r>
              <a:rPr sz="1200" b="1" spc="-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C46A0"/>
                </a:solidFill>
                <a:latin typeface="Arial"/>
                <a:cs typeface="Arial"/>
              </a:rPr>
              <a:t>Network</a:t>
            </a:r>
            <a:endParaRPr sz="1200">
              <a:latin typeface="Arial"/>
              <a:cs typeface="Arial"/>
            </a:endParaRPr>
          </a:p>
          <a:p>
            <a:pPr marL="289560" marR="5080">
              <a:lnSpc>
                <a:spcPct val="125299"/>
              </a:lnSpc>
              <a:spcBef>
                <a:spcPts val="570"/>
              </a:spcBef>
            </a:pPr>
            <a:r>
              <a:rPr sz="1100" spc="-10" dirty="0">
                <a:latin typeface="Arial MT"/>
                <a:cs typeface="Arial MT"/>
              </a:rPr>
              <a:t>X-</a:t>
            </a:r>
            <a:r>
              <a:rPr sz="1100" spc="-60" dirty="0">
                <a:latin typeface="Arial MT"/>
                <a:cs typeface="Arial MT"/>
              </a:rPr>
              <a:t>layer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spc="-50" dirty="0">
                <a:latin typeface="Arial MT"/>
                <a:cs typeface="Arial MT"/>
              </a:rPr>
              <a:t>neurons)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245" dirty="0">
                <a:latin typeface="Lucida Sans Unicode"/>
                <a:cs typeface="Lucida Sans Unicode"/>
              </a:rPr>
              <a:t>↔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Arial MT"/>
                <a:cs typeface="Arial MT"/>
              </a:rPr>
              <a:t>Y-</a:t>
            </a:r>
            <a:r>
              <a:rPr sz="1100" spc="-50" dirty="0">
                <a:latin typeface="Arial MT"/>
                <a:cs typeface="Arial MT"/>
              </a:rPr>
              <a:t>layer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spc="-45" dirty="0">
                <a:latin typeface="Arial MT"/>
                <a:cs typeface="Arial MT"/>
              </a:rPr>
              <a:t>neurons) </a:t>
            </a:r>
            <a:r>
              <a:rPr sz="1100" spc="-20" dirty="0">
                <a:latin typeface="Arial MT"/>
                <a:cs typeface="Arial MT"/>
              </a:rPr>
              <a:t>Fully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connected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via</a:t>
            </a:r>
            <a:r>
              <a:rPr sz="1100" spc="-25" dirty="0">
                <a:latin typeface="Arial MT"/>
                <a:cs typeface="Arial MT"/>
              </a:rPr>
              <a:t> weight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matrix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i="1" spc="-50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9737" y="1279118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1581" y="1195665"/>
            <a:ext cx="21456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Arial MT"/>
                <a:cs typeface="Arial MT"/>
              </a:rPr>
              <a:t>Bidirectional: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input from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either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layer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093" y="1429822"/>
            <a:ext cx="2336165" cy="5562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75"/>
              </a:spcBef>
              <a:tabLst>
                <a:tab pos="1219835" algn="l"/>
              </a:tabLst>
            </a:pPr>
            <a:r>
              <a:rPr sz="1100" i="1" dirty="0">
                <a:latin typeface="Arial"/>
                <a:cs typeface="Arial"/>
              </a:rPr>
              <a:t>y</a:t>
            </a:r>
            <a:r>
              <a:rPr sz="1200" baseline="-10416" dirty="0">
                <a:latin typeface="Tahoma"/>
                <a:cs typeface="Tahoma"/>
              </a:rPr>
              <a:t>next</a:t>
            </a:r>
            <a:r>
              <a:rPr sz="1200" spc="135" baseline="-10416" dirty="0">
                <a:latin typeface="Tahoma"/>
                <a:cs typeface="Tahom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Arial"/>
                <a:cs typeface="Arial"/>
              </a:rPr>
              <a:t>xW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25" dirty="0">
                <a:latin typeface="Arial MT"/>
                <a:cs typeface="Arial MT"/>
              </a:rPr>
              <a:t>)</a:t>
            </a:r>
            <a:r>
              <a:rPr sz="1100" i="1" spc="-25" dirty="0">
                <a:latin typeface="Verdana"/>
                <a:cs typeface="Verdana"/>
              </a:rPr>
              <a:t>,</a:t>
            </a:r>
            <a:r>
              <a:rPr sz="1100" i="1" dirty="0">
                <a:latin typeface="Verdana"/>
                <a:cs typeface="Verdana"/>
              </a:rPr>
              <a:t>	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ahoma"/>
                <a:cs typeface="Tahoma"/>
              </a:rPr>
              <a:t>next</a:t>
            </a:r>
            <a:r>
              <a:rPr sz="1200" spc="135" baseline="-10416" dirty="0">
                <a:latin typeface="Tahoma"/>
                <a:cs typeface="Tahom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Arial"/>
                <a:cs typeface="Arial"/>
              </a:rPr>
              <a:t>yW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745"/>
              </a:spcBef>
            </a:pPr>
            <a:r>
              <a:rPr sz="1200" b="1" spc="-20" dirty="0">
                <a:solidFill>
                  <a:srgbClr val="0C46A0"/>
                </a:solidFill>
                <a:latin typeface="Arial"/>
                <a:cs typeface="Arial"/>
              </a:rPr>
              <a:t>Hebbian</a:t>
            </a:r>
            <a:r>
              <a:rPr sz="1200" b="1" spc="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45" dirty="0">
                <a:solidFill>
                  <a:srgbClr val="0C46A0"/>
                </a:solidFill>
                <a:latin typeface="Arial"/>
                <a:cs typeface="Arial"/>
              </a:rPr>
              <a:t>Learning</a:t>
            </a:r>
            <a:r>
              <a:rPr sz="1200" b="1" spc="1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0C46A0"/>
                </a:solidFill>
                <a:latin typeface="Arial"/>
                <a:cs typeface="Arial"/>
              </a:rPr>
              <a:t>Rule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9816" y="2173184"/>
            <a:ext cx="1193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2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80731" y="2177426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69" dirty="0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4830" y="2289161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2771" y="2309049"/>
            <a:ext cx="8832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73405" algn="l"/>
              </a:tabLst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spc="150" dirty="0">
                <a:latin typeface="Arial MT"/>
                <a:cs typeface="Arial MT"/>
              </a:rPr>
              <a:t>=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20" dirty="0">
                <a:latin typeface="Arial"/>
                <a:cs typeface="Arial"/>
              </a:rPr>
              <a:t>  </a:t>
            </a:r>
            <a:r>
              <a:rPr sz="1100" i="1" spc="-50" dirty="0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0900" y="2381617"/>
            <a:ext cx="333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41935" algn="l"/>
              </a:tabLst>
            </a:pPr>
            <a:r>
              <a:rPr sz="800" i="1" spc="-50" dirty="0">
                <a:latin typeface="Arial"/>
                <a:cs typeface="Arial"/>
              </a:rPr>
              <a:t>k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1200" i="1" spc="-75" baseline="6944" dirty="0">
                <a:latin typeface="Arial"/>
                <a:cs typeface="Arial"/>
              </a:rPr>
              <a:t>k</a:t>
            </a:r>
            <a:endParaRPr sz="1200" baseline="6944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9093" y="2476608"/>
            <a:ext cx="2487295" cy="40640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81305" algn="ctr">
              <a:lnSpc>
                <a:spcPct val="100000"/>
              </a:lnSpc>
              <a:spcBef>
                <a:spcPts val="405"/>
              </a:spcBef>
            </a:pPr>
            <a:r>
              <a:rPr sz="800" i="1" spc="-25" dirty="0">
                <a:latin typeface="Arial"/>
                <a:cs typeface="Arial"/>
              </a:rPr>
              <a:t>k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415"/>
              </a:spcBef>
            </a:pPr>
            <a:r>
              <a:rPr sz="1100" spc="-35" dirty="0">
                <a:latin typeface="Arial MT"/>
                <a:cs typeface="Arial MT"/>
              </a:rPr>
              <a:t>Logical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weights: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i="1" baseline="-13888" dirty="0">
                <a:latin typeface="Arial"/>
                <a:cs typeface="Arial"/>
              </a:rPr>
              <a:t>jk</a:t>
            </a:r>
            <a:r>
              <a:rPr sz="1200" i="1" spc="277" baseline="-13888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Lucida Sans Unicode"/>
                <a:cs typeface="Lucida Sans Unicode"/>
              </a:rPr>
              <a:t>{−</a:t>
            </a:r>
            <a:r>
              <a:rPr sz="1100" spc="-10" dirty="0">
                <a:latin typeface="Arial MT"/>
                <a:cs typeface="Arial MT"/>
              </a:rPr>
              <a:t>3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75" dirty="0">
                <a:latin typeface="Lucida Sans Unicode"/>
                <a:cs typeface="Lucida Sans Unicode"/>
              </a:rPr>
              <a:t>−</a:t>
            </a:r>
            <a:r>
              <a:rPr sz="1100" spc="-75" dirty="0">
                <a:latin typeface="Arial MT"/>
                <a:cs typeface="Arial MT"/>
              </a:rPr>
              <a:t>1</a:t>
            </a:r>
            <a:r>
              <a:rPr sz="1100" i="1" spc="-7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dirty="0">
                <a:latin typeface="Arial MT"/>
                <a:cs typeface="Arial MT"/>
              </a:rPr>
              <a:t>+1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80" dirty="0">
                <a:latin typeface="Arial MT"/>
                <a:cs typeface="Arial MT"/>
              </a:rPr>
              <a:t>+3</a:t>
            </a:r>
            <a:r>
              <a:rPr sz="1100" spc="80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98791" y="1027086"/>
            <a:ext cx="851535" cy="1085215"/>
            <a:chOff x="3898791" y="1027086"/>
            <a:chExt cx="851535" cy="108521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98791" y="1963092"/>
              <a:ext cx="149060" cy="1490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00793" y="1963092"/>
              <a:ext cx="149060" cy="1490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98791" y="1775891"/>
              <a:ext cx="149060" cy="1490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00793" y="1775891"/>
              <a:ext cx="149060" cy="1490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98791" y="1588690"/>
              <a:ext cx="149060" cy="1490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00793" y="1588690"/>
              <a:ext cx="149060" cy="1490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98791" y="1401488"/>
              <a:ext cx="149060" cy="1490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00793" y="1401488"/>
              <a:ext cx="149060" cy="1490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98791" y="1214287"/>
              <a:ext cx="149060" cy="1490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00793" y="1214287"/>
              <a:ext cx="149060" cy="1490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98791" y="1027086"/>
              <a:ext cx="149060" cy="1490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00793" y="1027086"/>
              <a:ext cx="149060" cy="14906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018038" y="1101575"/>
              <a:ext cx="612775" cy="936625"/>
            </a:xfrm>
            <a:custGeom>
              <a:avLst/>
              <a:gdLst/>
              <a:ahLst/>
              <a:cxnLst/>
              <a:rect l="l" t="t" r="r" b="b"/>
              <a:pathLst>
                <a:path w="612775" h="936625">
                  <a:moveTo>
                    <a:pt x="29816" y="936041"/>
                  </a:moveTo>
                  <a:lnTo>
                    <a:pt x="582776" y="936041"/>
                  </a:lnTo>
                </a:path>
                <a:path w="612775" h="936625">
                  <a:moveTo>
                    <a:pt x="27297" y="916837"/>
                  </a:moveTo>
                  <a:lnTo>
                    <a:pt x="585295" y="768037"/>
                  </a:lnTo>
                </a:path>
                <a:path w="612775" h="936625">
                  <a:moveTo>
                    <a:pt x="21046" y="900967"/>
                  </a:moveTo>
                  <a:lnTo>
                    <a:pt x="591547" y="596698"/>
                  </a:lnTo>
                </a:path>
                <a:path w="612775" h="936625">
                  <a:moveTo>
                    <a:pt x="13480" y="889483"/>
                  </a:moveTo>
                  <a:lnTo>
                    <a:pt x="599112" y="420975"/>
                  </a:lnTo>
                </a:path>
                <a:path w="612775" h="936625">
                  <a:moveTo>
                    <a:pt x="6257" y="881669"/>
                  </a:moveTo>
                  <a:lnTo>
                    <a:pt x="606335" y="241582"/>
                  </a:lnTo>
                </a:path>
                <a:path w="612775" h="936625">
                  <a:moveTo>
                    <a:pt x="0" y="876416"/>
                  </a:moveTo>
                  <a:lnTo>
                    <a:pt x="612590" y="59627"/>
                  </a:lnTo>
                </a:path>
                <a:path w="612775" h="936625">
                  <a:moveTo>
                    <a:pt x="27298" y="768035"/>
                  </a:moveTo>
                  <a:lnTo>
                    <a:pt x="585295" y="916837"/>
                  </a:lnTo>
                </a:path>
                <a:path w="612775" h="936625">
                  <a:moveTo>
                    <a:pt x="29816" y="748834"/>
                  </a:moveTo>
                  <a:lnTo>
                    <a:pt x="582776" y="748834"/>
                  </a:lnTo>
                </a:path>
                <a:path w="612775" h="936625">
                  <a:moveTo>
                    <a:pt x="27297" y="729628"/>
                  </a:moveTo>
                  <a:lnTo>
                    <a:pt x="585294" y="580828"/>
                  </a:lnTo>
                </a:path>
                <a:path w="612775" h="936625">
                  <a:moveTo>
                    <a:pt x="21045" y="713760"/>
                  </a:moveTo>
                  <a:lnTo>
                    <a:pt x="591546" y="409490"/>
                  </a:lnTo>
                </a:path>
                <a:path w="612775" h="936625">
                  <a:moveTo>
                    <a:pt x="13480" y="702276"/>
                  </a:moveTo>
                  <a:lnTo>
                    <a:pt x="599112" y="233767"/>
                  </a:lnTo>
                </a:path>
                <a:path w="612775" h="936625">
                  <a:moveTo>
                    <a:pt x="6257" y="694460"/>
                  </a:moveTo>
                  <a:lnTo>
                    <a:pt x="606334" y="54375"/>
                  </a:lnTo>
                </a:path>
                <a:path w="612775" h="936625">
                  <a:moveTo>
                    <a:pt x="21046" y="596697"/>
                  </a:moveTo>
                  <a:lnTo>
                    <a:pt x="591547" y="900967"/>
                  </a:lnTo>
                </a:path>
                <a:path w="612775" h="936625">
                  <a:moveTo>
                    <a:pt x="27298" y="580827"/>
                  </a:moveTo>
                  <a:lnTo>
                    <a:pt x="585295" y="729628"/>
                  </a:lnTo>
                </a:path>
                <a:path w="612775" h="936625">
                  <a:moveTo>
                    <a:pt x="29814" y="561625"/>
                  </a:moveTo>
                  <a:lnTo>
                    <a:pt x="582777" y="561625"/>
                  </a:lnTo>
                </a:path>
                <a:path w="612775" h="936625">
                  <a:moveTo>
                    <a:pt x="27298" y="542421"/>
                  </a:moveTo>
                  <a:lnTo>
                    <a:pt x="585294" y="393620"/>
                  </a:lnTo>
                </a:path>
                <a:path w="612775" h="936625">
                  <a:moveTo>
                    <a:pt x="21045" y="526552"/>
                  </a:moveTo>
                  <a:lnTo>
                    <a:pt x="591546" y="222282"/>
                  </a:lnTo>
                </a:path>
                <a:path w="612775" h="936625">
                  <a:moveTo>
                    <a:pt x="13480" y="515067"/>
                  </a:moveTo>
                  <a:lnTo>
                    <a:pt x="599111" y="46558"/>
                  </a:lnTo>
                </a:path>
                <a:path w="612775" h="936625">
                  <a:moveTo>
                    <a:pt x="13482" y="420974"/>
                  </a:moveTo>
                  <a:lnTo>
                    <a:pt x="599112" y="889482"/>
                  </a:lnTo>
                </a:path>
                <a:path w="612775" h="936625">
                  <a:moveTo>
                    <a:pt x="21046" y="409490"/>
                  </a:moveTo>
                  <a:lnTo>
                    <a:pt x="591547" y="713760"/>
                  </a:lnTo>
                </a:path>
                <a:path w="612775" h="936625">
                  <a:moveTo>
                    <a:pt x="27298" y="393619"/>
                  </a:moveTo>
                  <a:lnTo>
                    <a:pt x="585294" y="542421"/>
                  </a:lnTo>
                </a:path>
                <a:path w="612775" h="936625">
                  <a:moveTo>
                    <a:pt x="29814" y="374415"/>
                  </a:moveTo>
                  <a:lnTo>
                    <a:pt x="582777" y="374417"/>
                  </a:lnTo>
                </a:path>
                <a:path w="612775" h="936625">
                  <a:moveTo>
                    <a:pt x="27298" y="355213"/>
                  </a:moveTo>
                  <a:lnTo>
                    <a:pt x="585294" y="206411"/>
                  </a:lnTo>
                </a:path>
                <a:path w="612775" h="936625">
                  <a:moveTo>
                    <a:pt x="21045" y="339345"/>
                  </a:moveTo>
                  <a:lnTo>
                    <a:pt x="591546" y="35074"/>
                  </a:lnTo>
                </a:path>
                <a:path w="612775" h="936625">
                  <a:moveTo>
                    <a:pt x="6258" y="241581"/>
                  </a:moveTo>
                  <a:lnTo>
                    <a:pt x="606336" y="881668"/>
                  </a:lnTo>
                </a:path>
                <a:path w="612775" h="936625">
                  <a:moveTo>
                    <a:pt x="13482" y="233766"/>
                  </a:moveTo>
                  <a:lnTo>
                    <a:pt x="599113" y="702275"/>
                  </a:lnTo>
                </a:path>
                <a:path w="612775" h="936625">
                  <a:moveTo>
                    <a:pt x="21046" y="222281"/>
                  </a:moveTo>
                  <a:lnTo>
                    <a:pt x="591548" y="526551"/>
                  </a:lnTo>
                </a:path>
                <a:path w="612775" h="936625">
                  <a:moveTo>
                    <a:pt x="27298" y="206411"/>
                  </a:moveTo>
                  <a:lnTo>
                    <a:pt x="585294" y="355213"/>
                  </a:lnTo>
                </a:path>
                <a:path w="612775" h="936625">
                  <a:moveTo>
                    <a:pt x="29814" y="187207"/>
                  </a:moveTo>
                  <a:lnTo>
                    <a:pt x="582777" y="187207"/>
                  </a:lnTo>
                </a:path>
                <a:path w="612775" h="936625">
                  <a:moveTo>
                    <a:pt x="27297" y="168004"/>
                  </a:moveTo>
                  <a:lnTo>
                    <a:pt x="585294" y="19203"/>
                  </a:lnTo>
                </a:path>
                <a:path w="612775" h="936625">
                  <a:moveTo>
                    <a:pt x="2" y="59627"/>
                  </a:moveTo>
                  <a:lnTo>
                    <a:pt x="612592" y="876416"/>
                  </a:lnTo>
                </a:path>
                <a:path w="612775" h="936625">
                  <a:moveTo>
                    <a:pt x="6259" y="54374"/>
                  </a:moveTo>
                  <a:lnTo>
                    <a:pt x="606336" y="694460"/>
                  </a:lnTo>
                </a:path>
                <a:path w="612775" h="936625">
                  <a:moveTo>
                    <a:pt x="13482" y="46558"/>
                  </a:moveTo>
                  <a:lnTo>
                    <a:pt x="599113" y="515067"/>
                  </a:lnTo>
                </a:path>
                <a:path w="612775" h="936625">
                  <a:moveTo>
                    <a:pt x="21047" y="35071"/>
                  </a:moveTo>
                  <a:lnTo>
                    <a:pt x="591548" y="339343"/>
                  </a:lnTo>
                </a:path>
                <a:path w="612775" h="936625">
                  <a:moveTo>
                    <a:pt x="27299" y="19202"/>
                  </a:moveTo>
                  <a:lnTo>
                    <a:pt x="585295" y="168004"/>
                  </a:lnTo>
                </a:path>
                <a:path w="612775" h="936625">
                  <a:moveTo>
                    <a:pt x="29814" y="0"/>
                  </a:moveTo>
                  <a:lnTo>
                    <a:pt x="582777" y="0"/>
                  </a:lnTo>
                </a:path>
              </a:pathLst>
            </a:custGeom>
            <a:ln w="506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54121" y="1242021"/>
              <a:ext cx="130810" cy="0"/>
            </a:xfrm>
            <a:custGeom>
              <a:avLst/>
              <a:gdLst/>
              <a:ahLst/>
              <a:cxnLst/>
              <a:rect l="l" t="t" r="r" b="b"/>
              <a:pathLst>
                <a:path w="130810">
                  <a:moveTo>
                    <a:pt x="0" y="0"/>
                  </a:moveTo>
                  <a:lnTo>
                    <a:pt x="130279" y="0"/>
                  </a:lnTo>
                </a:path>
              </a:pathLst>
            </a:custGeom>
            <a:ln w="10122">
              <a:solidFill>
                <a:srgbClr val="0C46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57071" y="1202512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0C46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388283" y="1298237"/>
            <a:ext cx="43243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 MT"/>
                <a:cs typeface="Arial MT"/>
              </a:rPr>
              <a:t>X-</a:t>
            </a:r>
            <a:r>
              <a:rPr sz="1000" spc="-50" dirty="0">
                <a:latin typeface="Arial MT"/>
                <a:cs typeface="Arial MT"/>
              </a:rPr>
              <a:t>Layer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28324" y="1298237"/>
            <a:ext cx="43243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 MT"/>
                <a:cs typeface="Arial MT"/>
              </a:rPr>
              <a:t>Y-</a:t>
            </a:r>
            <a:r>
              <a:rPr sz="1000" spc="-50" dirty="0">
                <a:latin typeface="Arial MT"/>
                <a:cs typeface="Arial MT"/>
              </a:rPr>
              <a:t>Layer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67365" y="1102174"/>
            <a:ext cx="1016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solidFill>
                  <a:srgbClr val="0C46A0"/>
                </a:solidFill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254122" y="1337850"/>
            <a:ext cx="140970" cy="89535"/>
            <a:chOff x="4254122" y="1337850"/>
            <a:chExt cx="140970" cy="89535"/>
          </a:xfrm>
        </p:grpSpPr>
        <p:sp>
          <p:nvSpPr>
            <p:cNvPr id="35" name="object 35"/>
            <p:cNvSpPr/>
            <p:nvPr/>
          </p:nvSpPr>
          <p:spPr>
            <a:xfrm>
              <a:off x="4264244" y="1382420"/>
              <a:ext cx="130810" cy="0"/>
            </a:xfrm>
            <a:custGeom>
              <a:avLst/>
              <a:gdLst/>
              <a:ahLst/>
              <a:cxnLst/>
              <a:rect l="l" t="t" r="r" b="b"/>
              <a:pathLst>
                <a:path w="130810">
                  <a:moveTo>
                    <a:pt x="130279" y="0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E55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59183" y="1342911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32390" y="79018"/>
                  </a:moveTo>
                  <a:lnTo>
                    <a:pt x="26701" y="63492"/>
                  </a:lnTo>
                  <a:lnTo>
                    <a:pt x="18958" y="52102"/>
                  </a:lnTo>
                  <a:lnTo>
                    <a:pt x="9833" y="44293"/>
                  </a:lnTo>
                  <a:lnTo>
                    <a:pt x="0" y="39509"/>
                  </a:lnTo>
                  <a:lnTo>
                    <a:pt x="9833" y="34724"/>
                  </a:lnTo>
                  <a:lnTo>
                    <a:pt x="18958" y="26915"/>
                  </a:lnTo>
                  <a:lnTo>
                    <a:pt x="26701" y="15525"/>
                  </a:lnTo>
                  <a:lnTo>
                    <a:pt x="32390" y="0"/>
                  </a:lnTo>
                </a:path>
              </a:pathLst>
            </a:custGeom>
            <a:ln w="10122">
              <a:solidFill>
                <a:srgbClr val="E55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211650" y="1388991"/>
            <a:ext cx="2108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i="1" baseline="-23148" dirty="0">
                <a:solidFill>
                  <a:srgbClr val="E55100"/>
                </a:solidFill>
                <a:latin typeface="Arial"/>
                <a:cs typeface="Arial"/>
              </a:rPr>
              <a:t>W</a:t>
            </a:r>
            <a:r>
              <a:rPr sz="900" i="1" spc="-60" baseline="-23148" dirty="0">
                <a:solidFill>
                  <a:srgbClr val="E55100"/>
                </a:solidFill>
                <a:latin typeface="Arial"/>
                <a:cs typeface="Arial"/>
              </a:rPr>
              <a:t> </a:t>
            </a:r>
            <a:r>
              <a:rPr sz="500" i="1" spc="10" dirty="0">
                <a:solidFill>
                  <a:srgbClr val="E55100"/>
                </a:solidFill>
                <a:latin typeface="Arial"/>
                <a:cs typeface="Arial"/>
              </a:rPr>
              <a:t>T</a:t>
            </a:r>
            <a:endParaRPr sz="5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394138" y="2124765"/>
            <a:ext cx="18605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2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Tetris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pattern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pairs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used: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ts val="1200"/>
              </a:lnSpc>
            </a:pPr>
            <a:r>
              <a:rPr sz="1000" spc="-10" dirty="0">
                <a:latin typeface="Arial MT"/>
                <a:cs typeface="Arial MT"/>
              </a:rPr>
              <a:t>Black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box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180" dirty="0">
                <a:latin typeface="Arial MT"/>
                <a:cs typeface="Arial MT"/>
              </a:rPr>
              <a:t>=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+1,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White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box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180" dirty="0">
                <a:latin typeface="Arial MT"/>
                <a:cs typeface="Arial MT"/>
              </a:rPr>
              <a:t>=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Lucida Sans Unicode"/>
                <a:cs typeface="Lucida Sans Unicode"/>
              </a:rPr>
              <a:t>−</a:t>
            </a:r>
            <a:r>
              <a:rPr sz="1000" spc="-2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40" name="object 40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33572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Implementation:</a:t>
            </a:r>
            <a:r>
              <a:rPr spc="135" dirty="0"/>
              <a:t> </a:t>
            </a:r>
            <a:r>
              <a:rPr spc="55" dirty="0"/>
              <a:t>CMOS</a:t>
            </a:r>
            <a:r>
              <a:rPr spc="-10" dirty="0"/>
              <a:t> </a:t>
            </a:r>
            <a:r>
              <a:rPr spc="-20" dirty="0"/>
              <a:t>Memristor</a:t>
            </a:r>
            <a:r>
              <a:rPr spc="-5" dirty="0"/>
              <a:t> </a:t>
            </a:r>
            <a:r>
              <a:rPr spc="-10" dirty="0"/>
              <a:t>Emulator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493" y="323999"/>
            <a:ext cx="2199640" cy="476884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00" b="1" spc="-35" dirty="0">
                <a:solidFill>
                  <a:srgbClr val="0C46A0"/>
                </a:solidFill>
                <a:latin typeface="Arial"/>
                <a:cs typeface="Arial"/>
              </a:rPr>
              <a:t>Tunable</a:t>
            </a:r>
            <a:r>
              <a:rPr sz="1200" b="1" spc="2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55" dirty="0">
                <a:solidFill>
                  <a:srgbClr val="0C46A0"/>
                </a:solidFill>
                <a:latin typeface="Arial"/>
                <a:cs typeface="Arial"/>
              </a:rPr>
              <a:t>Resistance</a:t>
            </a:r>
            <a:r>
              <a:rPr sz="1200" b="1" spc="2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30" dirty="0">
                <a:solidFill>
                  <a:srgbClr val="0C46A0"/>
                </a:solidFill>
                <a:latin typeface="Arial"/>
                <a:cs typeface="Arial"/>
              </a:rPr>
              <a:t>Mechanism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spc="-40" dirty="0">
                <a:latin typeface="Arial MT"/>
                <a:cs typeface="Arial MT"/>
              </a:rPr>
              <a:t>Transistor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M1 in </a:t>
            </a:r>
            <a:r>
              <a:rPr sz="1100" spc="-80" dirty="0">
                <a:latin typeface="Arial MT"/>
                <a:cs typeface="Arial MT"/>
              </a:rPr>
              <a:t>deep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triode </a:t>
            </a:r>
            <a:r>
              <a:rPr sz="1100" spc="-10" dirty="0">
                <a:latin typeface="Arial MT"/>
                <a:cs typeface="Arial MT"/>
              </a:rPr>
              <a:t>region: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8057" y="883918"/>
            <a:ext cx="1562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30757" y="1094257"/>
            <a:ext cx="153670" cy="0"/>
          </a:xfrm>
          <a:custGeom>
            <a:avLst/>
            <a:gdLst/>
            <a:ahLst/>
            <a:cxnLst/>
            <a:rect l="l" t="t" r="r" b="b"/>
            <a:pathLst>
              <a:path w="153669">
                <a:moveTo>
                  <a:pt x="0" y="0"/>
                </a:moveTo>
                <a:lnTo>
                  <a:pt x="15322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4027" y="977644"/>
            <a:ext cx="18973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345" baseline="-10416" dirty="0">
                <a:latin typeface="Arial"/>
                <a:cs typeface="Arial"/>
              </a:rPr>
              <a:t> </a:t>
            </a:r>
            <a:r>
              <a:rPr sz="1650" i="1" baseline="-37878" dirty="0">
                <a:latin typeface="Arial"/>
                <a:cs typeface="Arial"/>
              </a:rPr>
              <a:t>L</a:t>
            </a:r>
            <a:r>
              <a:rPr sz="1650" i="1" spc="135" baseline="-37878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200" i="1" baseline="-13888" dirty="0">
                <a:latin typeface="Arial"/>
                <a:cs typeface="Arial"/>
              </a:rPr>
              <a:t>GS</a:t>
            </a:r>
            <a:r>
              <a:rPr sz="1200" i="1" spc="165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200" i="1" baseline="-13888" dirty="0">
                <a:latin typeface="Arial"/>
                <a:cs typeface="Arial"/>
              </a:rPr>
              <a:t>CM</a:t>
            </a:r>
            <a:r>
              <a:rPr sz="1200" i="1" spc="157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Arial"/>
                <a:cs typeface="Arial"/>
              </a:rPr>
              <a:t>V</a:t>
            </a:r>
            <a:r>
              <a:rPr sz="1200" i="1" spc="-30" baseline="-13888" dirty="0">
                <a:latin typeface="Arial"/>
                <a:cs typeface="Arial"/>
              </a:rPr>
              <a:t>Tn</a:t>
            </a:r>
            <a:r>
              <a:rPr sz="1100" spc="-2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737" y="1582381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11581" y="1455163"/>
            <a:ext cx="215582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70" dirty="0">
                <a:latin typeface="Arial MT"/>
                <a:cs typeface="Arial MT"/>
              </a:rPr>
              <a:t>W/L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0.42</a:t>
            </a:r>
            <a:r>
              <a:rPr sz="1100" spc="-125" dirty="0">
                <a:latin typeface="Arial MT"/>
                <a:cs typeface="Arial MT"/>
              </a:rPr>
              <a:t> </a:t>
            </a:r>
            <a:r>
              <a:rPr sz="1100" i="1" dirty="0">
                <a:latin typeface="Verdana"/>
                <a:cs typeface="Verdana"/>
              </a:rPr>
              <a:t>µ</a:t>
            </a:r>
            <a:r>
              <a:rPr sz="1100" dirty="0">
                <a:latin typeface="Arial MT"/>
                <a:cs typeface="Arial MT"/>
              </a:rPr>
              <a:t>m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240" dirty="0">
                <a:latin typeface="Arial MT"/>
                <a:cs typeface="Arial MT"/>
              </a:rPr>
              <a:t>/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10</a:t>
            </a:r>
            <a:r>
              <a:rPr sz="1100" spc="-125" dirty="0">
                <a:latin typeface="Arial MT"/>
                <a:cs typeface="Arial MT"/>
              </a:rPr>
              <a:t> </a:t>
            </a:r>
            <a:r>
              <a:rPr sz="1100" i="1" spc="-25" dirty="0">
                <a:latin typeface="Verdana"/>
                <a:cs typeface="Verdana"/>
              </a:rPr>
              <a:t>µ</a:t>
            </a:r>
            <a:r>
              <a:rPr sz="1100" spc="-25" dirty="0">
                <a:latin typeface="Arial MT"/>
                <a:cs typeface="Arial MT"/>
              </a:rPr>
              <a:t>m</a:t>
            </a:r>
            <a:endParaRPr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100" dirty="0">
                <a:latin typeface="Arial MT"/>
                <a:cs typeface="Arial MT"/>
              </a:rPr>
              <a:t>VGS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controls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resistance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continuously</a:t>
            </a:r>
            <a:endParaRPr sz="1100" dirty="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737" y="1792414"/>
            <a:ext cx="65265" cy="652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34493" y="2084905"/>
            <a:ext cx="14795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5" dirty="0">
                <a:solidFill>
                  <a:srgbClr val="0C46A0"/>
                </a:solidFill>
                <a:latin typeface="Arial"/>
                <a:cs typeface="Arial"/>
              </a:rPr>
              <a:t>Programming</a:t>
            </a:r>
            <a:r>
              <a:rPr sz="1200" b="1" spc="2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0C46A0"/>
                </a:solidFill>
                <a:latin typeface="Arial"/>
                <a:cs typeface="Arial"/>
              </a:rPr>
              <a:t>Circuit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321" y="2437736"/>
            <a:ext cx="114214" cy="1142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60565" y="2424803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6181" y="2339832"/>
            <a:ext cx="1847177" cy="402032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000" spc="-55" dirty="0">
                <a:latin typeface="Arial MT"/>
                <a:cs typeface="Arial MT"/>
              </a:rPr>
              <a:t>Gm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block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125" dirty="0">
                <a:latin typeface="Arial MT"/>
                <a:cs typeface="Arial MT"/>
              </a:rPr>
              <a:t>senses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V</a:t>
            </a:r>
            <a:r>
              <a:rPr sz="1000" i="1" baseline="-13888" dirty="0">
                <a:latin typeface="Arial"/>
                <a:cs typeface="Arial"/>
              </a:rPr>
              <a:t>AB</a:t>
            </a:r>
            <a:r>
              <a:rPr sz="1000" i="1" spc="-165" baseline="-13888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,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80" dirty="0">
                <a:latin typeface="Arial MT"/>
                <a:cs typeface="Arial MT"/>
              </a:rPr>
              <a:t>charges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i="1" spc="-25" dirty="0">
                <a:latin typeface="Arial"/>
                <a:cs typeface="Arial"/>
              </a:rPr>
              <a:t>C</a:t>
            </a:r>
            <a:r>
              <a:rPr sz="1000" i="1" spc="-37" baseline="-10416" dirty="0">
                <a:latin typeface="Arial"/>
                <a:cs typeface="Arial"/>
              </a:rPr>
              <a:t>m</a:t>
            </a:r>
            <a:endParaRPr sz="1000" baseline="-10416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000" spc="-40" dirty="0">
                <a:latin typeface="Arial MT"/>
                <a:cs typeface="Arial MT"/>
              </a:rPr>
              <a:t>Comparator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monitors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V</a:t>
            </a:r>
            <a:r>
              <a:rPr sz="1000" i="1" baseline="-10416" dirty="0">
                <a:latin typeface="Arial"/>
                <a:cs typeface="Arial"/>
              </a:rPr>
              <a:t>g</a:t>
            </a:r>
            <a:r>
              <a:rPr sz="1000" i="1" spc="307" baseline="-10416" dirty="0">
                <a:latin typeface="Arial"/>
                <a:cs typeface="Arial"/>
              </a:rPr>
              <a:t> </a:t>
            </a:r>
            <a:r>
              <a:rPr sz="1000" spc="-60" dirty="0">
                <a:latin typeface="Arial MT"/>
                <a:cs typeface="Arial MT"/>
              </a:rPr>
              <a:t>vs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i="1" spc="-10" dirty="0">
                <a:latin typeface="Arial"/>
                <a:cs typeface="Arial"/>
              </a:rPr>
              <a:t>V</a:t>
            </a:r>
            <a:r>
              <a:rPr sz="1000" i="1" spc="-15" baseline="-10416" dirty="0">
                <a:latin typeface="Arial"/>
                <a:cs typeface="Arial"/>
              </a:rPr>
              <a:t>target</a:t>
            </a:r>
            <a:endParaRPr sz="1000" baseline="-10416" dirty="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6321" y="2647769"/>
            <a:ext cx="114214" cy="11421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60565" y="2634835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6321" y="2857801"/>
            <a:ext cx="114214" cy="114214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0" y="3067834"/>
            <a:ext cx="5760085" cy="172720"/>
            <a:chOff x="0" y="3067834"/>
            <a:chExt cx="5760085" cy="17272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6321" y="3067834"/>
              <a:ext cx="114214" cy="11421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4004043" y="1223563"/>
            <a:ext cx="887094" cy="1265555"/>
            <a:chOff x="4004043" y="1223563"/>
            <a:chExt cx="887094" cy="1265555"/>
          </a:xfrm>
        </p:grpSpPr>
        <p:sp>
          <p:nvSpPr>
            <p:cNvPr id="23" name="object 23"/>
            <p:cNvSpPr/>
            <p:nvPr/>
          </p:nvSpPr>
          <p:spPr>
            <a:xfrm>
              <a:off x="4006583" y="1226103"/>
              <a:ext cx="882015" cy="1260475"/>
            </a:xfrm>
            <a:custGeom>
              <a:avLst/>
              <a:gdLst/>
              <a:ahLst/>
              <a:cxnLst/>
              <a:rect l="l" t="t" r="r" b="b"/>
              <a:pathLst>
                <a:path w="882014" h="1260475">
                  <a:moveTo>
                    <a:pt x="831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209399"/>
                  </a:lnTo>
                  <a:lnTo>
                    <a:pt x="3977" y="1229099"/>
                  </a:lnTo>
                  <a:lnTo>
                    <a:pt x="14823" y="1245186"/>
                  </a:lnTo>
                  <a:lnTo>
                    <a:pt x="30910" y="1256032"/>
                  </a:lnTo>
                  <a:lnTo>
                    <a:pt x="50610" y="1260010"/>
                  </a:lnTo>
                  <a:lnTo>
                    <a:pt x="831396" y="1260010"/>
                  </a:lnTo>
                  <a:lnTo>
                    <a:pt x="851096" y="1256032"/>
                  </a:lnTo>
                  <a:lnTo>
                    <a:pt x="867183" y="1245186"/>
                  </a:lnTo>
                  <a:lnTo>
                    <a:pt x="878029" y="1229099"/>
                  </a:lnTo>
                  <a:lnTo>
                    <a:pt x="882006" y="1209399"/>
                  </a:lnTo>
                  <a:lnTo>
                    <a:pt x="882006" y="50610"/>
                  </a:lnTo>
                  <a:lnTo>
                    <a:pt x="878029" y="30910"/>
                  </a:lnTo>
                  <a:lnTo>
                    <a:pt x="867183" y="14823"/>
                  </a:lnTo>
                  <a:lnTo>
                    <a:pt x="851096" y="3977"/>
                  </a:lnTo>
                  <a:lnTo>
                    <a:pt x="831396" y="0"/>
                  </a:lnTo>
                  <a:close/>
                </a:path>
              </a:pathLst>
            </a:custGeom>
            <a:solidFill>
              <a:srgbClr val="E3F2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06583" y="1226103"/>
              <a:ext cx="882015" cy="1260475"/>
            </a:xfrm>
            <a:custGeom>
              <a:avLst/>
              <a:gdLst/>
              <a:ahLst/>
              <a:cxnLst/>
              <a:rect l="l" t="t" r="r" b="b"/>
              <a:pathLst>
                <a:path w="882014" h="1260475">
                  <a:moveTo>
                    <a:pt x="0" y="1209399"/>
                  </a:moveTo>
                  <a:lnTo>
                    <a:pt x="0" y="50610"/>
                  </a:lnTo>
                  <a:lnTo>
                    <a:pt x="3977" y="30910"/>
                  </a:lnTo>
                  <a:lnTo>
                    <a:pt x="14823" y="14823"/>
                  </a:lnTo>
                  <a:lnTo>
                    <a:pt x="30910" y="3977"/>
                  </a:lnTo>
                  <a:lnTo>
                    <a:pt x="50610" y="0"/>
                  </a:lnTo>
                  <a:lnTo>
                    <a:pt x="831396" y="0"/>
                  </a:lnTo>
                  <a:lnTo>
                    <a:pt x="851096" y="3977"/>
                  </a:lnTo>
                  <a:lnTo>
                    <a:pt x="867183" y="14823"/>
                  </a:lnTo>
                  <a:lnTo>
                    <a:pt x="878029" y="30910"/>
                  </a:lnTo>
                  <a:lnTo>
                    <a:pt x="882006" y="50610"/>
                  </a:lnTo>
                  <a:lnTo>
                    <a:pt x="882006" y="1209399"/>
                  </a:lnTo>
                  <a:lnTo>
                    <a:pt x="878029" y="1229099"/>
                  </a:lnTo>
                  <a:lnTo>
                    <a:pt x="867183" y="1245186"/>
                  </a:lnTo>
                  <a:lnTo>
                    <a:pt x="851096" y="1256032"/>
                  </a:lnTo>
                  <a:lnTo>
                    <a:pt x="831396" y="1260010"/>
                  </a:lnTo>
                  <a:lnTo>
                    <a:pt x="50610" y="1260010"/>
                  </a:lnTo>
                  <a:lnTo>
                    <a:pt x="30910" y="1256032"/>
                  </a:lnTo>
                  <a:lnTo>
                    <a:pt x="14823" y="1245186"/>
                  </a:lnTo>
                  <a:lnTo>
                    <a:pt x="3977" y="1229099"/>
                  </a:lnTo>
                  <a:lnTo>
                    <a:pt x="0" y="120939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852011" y="1206428"/>
            <a:ext cx="11906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0C46A0"/>
                </a:solidFill>
                <a:latin typeface="Arial"/>
                <a:cs typeface="Arial"/>
              </a:rPr>
              <a:t>Memristor</a:t>
            </a:r>
            <a:r>
              <a:rPr sz="1000" b="1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0C46A0"/>
                </a:solidFill>
                <a:latin typeface="Arial"/>
                <a:cs typeface="Arial"/>
              </a:rPr>
              <a:t>Emulator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054442" y="1374766"/>
            <a:ext cx="786765" cy="207010"/>
            <a:chOff x="4054442" y="1374766"/>
            <a:chExt cx="786765" cy="207010"/>
          </a:xfrm>
        </p:grpSpPr>
        <p:sp>
          <p:nvSpPr>
            <p:cNvPr id="27" name="object 27"/>
            <p:cNvSpPr/>
            <p:nvPr/>
          </p:nvSpPr>
          <p:spPr>
            <a:xfrm>
              <a:off x="4056982" y="1377306"/>
              <a:ext cx="781685" cy="201930"/>
            </a:xfrm>
            <a:custGeom>
              <a:avLst/>
              <a:gdLst/>
              <a:ahLst/>
              <a:cxnLst/>
              <a:rect l="l" t="t" r="r" b="b"/>
              <a:pathLst>
                <a:path w="781685" h="201930">
                  <a:moveTo>
                    <a:pt x="755902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76293"/>
                  </a:lnTo>
                  <a:lnTo>
                    <a:pt x="1988" y="186143"/>
                  </a:lnTo>
                  <a:lnTo>
                    <a:pt x="7411" y="194186"/>
                  </a:lnTo>
                  <a:lnTo>
                    <a:pt x="15455" y="199609"/>
                  </a:lnTo>
                  <a:lnTo>
                    <a:pt x="25305" y="201598"/>
                  </a:lnTo>
                  <a:lnTo>
                    <a:pt x="755902" y="201598"/>
                  </a:lnTo>
                  <a:lnTo>
                    <a:pt x="765752" y="199609"/>
                  </a:lnTo>
                  <a:lnTo>
                    <a:pt x="773796" y="194186"/>
                  </a:lnTo>
                  <a:lnTo>
                    <a:pt x="779219" y="186143"/>
                  </a:lnTo>
                  <a:lnTo>
                    <a:pt x="781207" y="176293"/>
                  </a:lnTo>
                  <a:lnTo>
                    <a:pt x="781207" y="25305"/>
                  </a:lnTo>
                  <a:lnTo>
                    <a:pt x="779219" y="15455"/>
                  </a:lnTo>
                  <a:lnTo>
                    <a:pt x="773796" y="7411"/>
                  </a:lnTo>
                  <a:lnTo>
                    <a:pt x="765752" y="1988"/>
                  </a:lnTo>
                  <a:lnTo>
                    <a:pt x="7559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56982" y="1377306"/>
              <a:ext cx="781685" cy="201930"/>
            </a:xfrm>
            <a:custGeom>
              <a:avLst/>
              <a:gdLst/>
              <a:ahLst/>
              <a:cxnLst/>
              <a:rect l="l" t="t" r="r" b="b"/>
              <a:pathLst>
                <a:path w="781685" h="201930">
                  <a:moveTo>
                    <a:pt x="0" y="176293"/>
                  </a:moveTo>
                  <a:lnTo>
                    <a:pt x="0" y="25305"/>
                  </a:lnTo>
                  <a:lnTo>
                    <a:pt x="1988" y="15455"/>
                  </a:lnTo>
                  <a:lnTo>
                    <a:pt x="7411" y="7411"/>
                  </a:lnTo>
                  <a:lnTo>
                    <a:pt x="15455" y="1988"/>
                  </a:lnTo>
                  <a:lnTo>
                    <a:pt x="25305" y="0"/>
                  </a:lnTo>
                  <a:lnTo>
                    <a:pt x="755902" y="0"/>
                  </a:lnTo>
                  <a:lnTo>
                    <a:pt x="765752" y="1988"/>
                  </a:lnTo>
                  <a:lnTo>
                    <a:pt x="773796" y="7411"/>
                  </a:lnTo>
                  <a:lnTo>
                    <a:pt x="779219" y="15455"/>
                  </a:lnTo>
                  <a:lnTo>
                    <a:pt x="781207" y="25305"/>
                  </a:lnTo>
                  <a:lnTo>
                    <a:pt x="781207" y="176293"/>
                  </a:lnTo>
                  <a:lnTo>
                    <a:pt x="779219" y="186143"/>
                  </a:lnTo>
                  <a:lnTo>
                    <a:pt x="773796" y="194186"/>
                  </a:lnTo>
                  <a:lnTo>
                    <a:pt x="765752" y="199609"/>
                  </a:lnTo>
                  <a:lnTo>
                    <a:pt x="755902" y="201598"/>
                  </a:lnTo>
                  <a:lnTo>
                    <a:pt x="25305" y="201598"/>
                  </a:lnTo>
                  <a:lnTo>
                    <a:pt x="15455" y="199609"/>
                  </a:lnTo>
                  <a:lnTo>
                    <a:pt x="7411" y="194186"/>
                  </a:lnTo>
                  <a:lnTo>
                    <a:pt x="1988" y="186143"/>
                  </a:lnTo>
                  <a:lnTo>
                    <a:pt x="0" y="17629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940860" y="1418150"/>
            <a:ext cx="10134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baseline="9259" dirty="0">
                <a:latin typeface="Tahoma"/>
                <a:cs typeface="Tahoma"/>
              </a:rPr>
              <a:t>Comparator</a:t>
            </a:r>
            <a:r>
              <a:rPr sz="900" spc="37" baseline="9259" dirty="0">
                <a:latin typeface="Tahoma"/>
                <a:cs typeface="Tahoma"/>
              </a:rPr>
              <a:t> </a:t>
            </a:r>
            <a:r>
              <a:rPr sz="900" baseline="9259" dirty="0">
                <a:latin typeface="Tahoma"/>
                <a:cs typeface="Tahoma"/>
              </a:rPr>
              <a:t>(</a:t>
            </a:r>
            <a:r>
              <a:rPr sz="900" i="1" baseline="9259" dirty="0">
                <a:latin typeface="Arial"/>
                <a:cs typeface="Arial"/>
              </a:rPr>
              <a:t>V</a:t>
            </a:r>
            <a:r>
              <a:rPr sz="500" i="1" dirty="0">
                <a:latin typeface="Arial"/>
                <a:cs typeface="Arial"/>
              </a:rPr>
              <a:t>g</a:t>
            </a:r>
            <a:r>
              <a:rPr sz="500" i="1" spc="180" dirty="0">
                <a:latin typeface="Arial"/>
                <a:cs typeface="Arial"/>
              </a:rPr>
              <a:t> </a:t>
            </a:r>
            <a:r>
              <a:rPr sz="900" baseline="9259" dirty="0">
                <a:latin typeface="Tahoma"/>
                <a:cs typeface="Tahoma"/>
              </a:rPr>
              <a:t>vs</a:t>
            </a:r>
            <a:r>
              <a:rPr sz="900" spc="44" baseline="9259" dirty="0">
                <a:latin typeface="Tahoma"/>
                <a:cs typeface="Tahoma"/>
              </a:rPr>
              <a:t> </a:t>
            </a:r>
            <a:r>
              <a:rPr sz="900" i="1" baseline="9259" dirty="0">
                <a:latin typeface="Arial"/>
                <a:cs typeface="Arial"/>
              </a:rPr>
              <a:t>V</a:t>
            </a:r>
            <a:r>
              <a:rPr sz="500" i="1" dirty="0">
                <a:latin typeface="Arial"/>
                <a:cs typeface="Arial"/>
              </a:rPr>
              <a:t>target</a:t>
            </a:r>
            <a:r>
              <a:rPr sz="500" i="1" spc="-50" dirty="0">
                <a:latin typeface="Arial"/>
                <a:cs typeface="Arial"/>
              </a:rPr>
              <a:t> </a:t>
            </a:r>
            <a:r>
              <a:rPr sz="900" spc="-75" baseline="9259" dirty="0">
                <a:latin typeface="Tahoma"/>
                <a:cs typeface="Tahoma"/>
              </a:rPr>
              <a:t>)</a:t>
            </a:r>
            <a:endParaRPr sz="900" baseline="9259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054442" y="1626768"/>
            <a:ext cx="786765" cy="207010"/>
            <a:chOff x="4054442" y="1626768"/>
            <a:chExt cx="786765" cy="207010"/>
          </a:xfrm>
        </p:grpSpPr>
        <p:sp>
          <p:nvSpPr>
            <p:cNvPr id="31" name="object 31"/>
            <p:cNvSpPr/>
            <p:nvPr/>
          </p:nvSpPr>
          <p:spPr>
            <a:xfrm>
              <a:off x="4056982" y="1629308"/>
              <a:ext cx="781685" cy="201930"/>
            </a:xfrm>
            <a:custGeom>
              <a:avLst/>
              <a:gdLst/>
              <a:ahLst/>
              <a:cxnLst/>
              <a:rect l="l" t="t" r="r" b="b"/>
              <a:pathLst>
                <a:path w="781685" h="201930">
                  <a:moveTo>
                    <a:pt x="755902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76293"/>
                  </a:lnTo>
                  <a:lnTo>
                    <a:pt x="1988" y="186143"/>
                  </a:lnTo>
                  <a:lnTo>
                    <a:pt x="7411" y="194187"/>
                  </a:lnTo>
                  <a:lnTo>
                    <a:pt x="15455" y="199610"/>
                  </a:lnTo>
                  <a:lnTo>
                    <a:pt x="25305" y="201598"/>
                  </a:lnTo>
                  <a:lnTo>
                    <a:pt x="755902" y="201598"/>
                  </a:lnTo>
                  <a:lnTo>
                    <a:pt x="765752" y="199610"/>
                  </a:lnTo>
                  <a:lnTo>
                    <a:pt x="773796" y="194187"/>
                  </a:lnTo>
                  <a:lnTo>
                    <a:pt x="779219" y="186143"/>
                  </a:lnTo>
                  <a:lnTo>
                    <a:pt x="781207" y="176293"/>
                  </a:lnTo>
                  <a:lnTo>
                    <a:pt x="781207" y="25305"/>
                  </a:lnTo>
                  <a:lnTo>
                    <a:pt x="779219" y="15455"/>
                  </a:lnTo>
                  <a:lnTo>
                    <a:pt x="773796" y="7411"/>
                  </a:lnTo>
                  <a:lnTo>
                    <a:pt x="765752" y="1988"/>
                  </a:lnTo>
                  <a:lnTo>
                    <a:pt x="7559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056982" y="1629308"/>
              <a:ext cx="781685" cy="201930"/>
            </a:xfrm>
            <a:custGeom>
              <a:avLst/>
              <a:gdLst/>
              <a:ahLst/>
              <a:cxnLst/>
              <a:rect l="l" t="t" r="r" b="b"/>
              <a:pathLst>
                <a:path w="781685" h="201930">
                  <a:moveTo>
                    <a:pt x="0" y="176293"/>
                  </a:moveTo>
                  <a:lnTo>
                    <a:pt x="0" y="25305"/>
                  </a:lnTo>
                  <a:lnTo>
                    <a:pt x="1988" y="15455"/>
                  </a:lnTo>
                  <a:lnTo>
                    <a:pt x="7411" y="7411"/>
                  </a:lnTo>
                  <a:lnTo>
                    <a:pt x="15455" y="1988"/>
                  </a:lnTo>
                  <a:lnTo>
                    <a:pt x="25305" y="0"/>
                  </a:lnTo>
                  <a:lnTo>
                    <a:pt x="755902" y="0"/>
                  </a:lnTo>
                  <a:lnTo>
                    <a:pt x="765752" y="1988"/>
                  </a:lnTo>
                  <a:lnTo>
                    <a:pt x="773796" y="7411"/>
                  </a:lnTo>
                  <a:lnTo>
                    <a:pt x="779219" y="15455"/>
                  </a:lnTo>
                  <a:lnTo>
                    <a:pt x="781207" y="25305"/>
                  </a:lnTo>
                  <a:lnTo>
                    <a:pt x="781207" y="176293"/>
                  </a:lnTo>
                  <a:lnTo>
                    <a:pt x="779219" y="186143"/>
                  </a:lnTo>
                  <a:lnTo>
                    <a:pt x="773796" y="194187"/>
                  </a:lnTo>
                  <a:lnTo>
                    <a:pt x="765752" y="199610"/>
                  </a:lnTo>
                  <a:lnTo>
                    <a:pt x="755902" y="201598"/>
                  </a:lnTo>
                  <a:lnTo>
                    <a:pt x="25305" y="201598"/>
                  </a:lnTo>
                  <a:lnTo>
                    <a:pt x="15455" y="199610"/>
                  </a:lnTo>
                  <a:lnTo>
                    <a:pt x="7411" y="194187"/>
                  </a:lnTo>
                  <a:lnTo>
                    <a:pt x="1988" y="186143"/>
                  </a:lnTo>
                  <a:lnTo>
                    <a:pt x="0" y="17629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026268" y="1673128"/>
            <a:ext cx="8356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baseline="9259" dirty="0">
                <a:latin typeface="Tahoma"/>
                <a:cs typeface="Tahoma"/>
              </a:rPr>
              <a:t>Switch</a:t>
            </a:r>
            <a:r>
              <a:rPr sz="900" spc="89" baseline="9259" dirty="0">
                <a:latin typeface="Tahoma"/>
                <a:cs typeface="Tahoma"/>
              </a:rPr>
              <a:t> </a:t>
            </a:r>
            <a:r>
              <a:rPr sz="900" baseline="9259" dirty="0">
                <a:latin typeface="Tahoma"/>
                <a:cs typeface="Tahoma"/>
              </a:rPr>
              <a:t>(Q3,Q4)</a:t>
            </a:r>
            <a:r>
              <a:rPr sz="900" spc="89" baseline="9259" dirty="0">
                <a:latin typeface="Tahoma"/>
                <a:cs typeface="Tahoma"/>
              </a:rPr>
              <a:t> </a:t>
            </a:r>
            <a:r>
              <a:rPr sz="900" spc="75" baseline="9259" dirty="0">
                <a:latin typeface="Tahoma"/>
                <a:cs typeface="Tahoma"/>
              </a:rPr>
              <a:t>+</a:t>
            </a:r>
            <a:r>
              <a:rPr sz="900" spc="89" baseline="9259" dirty="0">
                <a:latin typeface="Tahoma"/>
                <a:cs typeface="Tahoma"/>
              </a:rPr>
              <a:t> </a:t>
            </a:r>
            <a:r>
              <a:rPr sz="900" i="1" spc="-37" baseline="9259" dirty="0">
                <a:latin typeface="Arial"/>
                <a:cs typeface="Arial"/>
              </a:rPr>
              <a:t>C</a:t>
            </a:r>
            <a:r>
              <a:rPr sz="500" i="1" spc="-2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054442" y="1878770"/>
            <a:ext cx="786765" cy="207010"/>
            <a:chOff x="4054442" y="1878770"/>
            <a:chExt cx="786765" cy="207010"/>
          </a:xfrm>
        </p:grpSpPr>
        <p:sp>
          <p:nvSpPr>
            <p:cNvPr id="35" name="object 35"/>
            <p:cNvSpPr/>
            <p:nvPr/>
          </p:nvSpPr>
          <p:spPr>
            <a:xfrm>
              <a:off x="4056982" y="1881310"/>
              <a:ext cx="781685" cy="201930"/>
            </a:xfrm>
            <a:custGeom>
              <a:avLst/>
              <a:gdLst/>
              <a:ahLst/>
              <a:cxnLst/>
              <a:rect l="l" t="t" r="r" b="b"/>
              <a:pathLst>
                <a:path w="781685" h="201930">
                  <a:moveTo>
                    <a:pt x="755902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76293"/>
                  </a:lnTo>
                  <a:lnTo>
                    <a:pt x="1988" y="186143"/>
                  </a:lnTo>
                  <a:lnTo>
                    <a:pt x="7411" y="194186"/>
                  </a:lnTo>
                  <a:lnTo>
                    <a:pt x="15455" y="199609"/>
                  </a:lnTo>
                  <a:lnTo>
                    <a:pt x="25305" y="201598"/>
                  </a:lnTo>
                  <a:lnTo>
                    <a:pt x="755902" y="201598"/>
                  </a:lnTo>
                  <a:lnTo>
                    <a:pt x="765752" y="199609"/>
                  </a:lnTo>
                  <a:lnTo>
                    <a:pt x="773796" y="194186"/>
                  </a:lnTo>
                  <a:lnTo>
                    <a:pt x="779219" y="186143"/>
                  </a:lnTo>
                  <a:lnTo>
                    <a:pt x="781207" y="176293"/>
                  </a:lnTo>
                  <a:lnTo>
                    <a:pt x="781207" y="25305"/>
                  </a:lnTo>
                  <a:lnTo>
                    <a:pt x="779219" y="15455"/>
                  </a:lnTo>
                  <a:lnTo>
                    <a:pt x="773796" y="7411"/>
                  </a:lnTo>
                  <a:lnTo>
                    <a:pt x="765752" y="1988"/>
                  </a:lnTo>
                  <a:lnTo>
                    <a:pt x="7559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056982" y="1881310"/>
              <a:ext cx="781685" cy="201930"/>
            </a:xfrm>
            <a:custGeom>
              <a:avLst/>
              <a:gdLst/>
              <a:ahLst/>
              <a:cxnLst/>
              <a:rect l="l" t="t" r="r" b="b"/>
              <a:pathLst>
                <a:path w="781685" h="201930">
                  <a:moveTo>
                    <a:pt x="0" y="176293"/>
                  </a:moveTo>
                  <a:lnTo>
                    <a:pt x="0" y="25305"/>
                  </a:lnTo>
                  <a:lnTo>
                    <a:pt x="1988" y="15455"/>
                  </a:lnTo>
                  <a:lnTo>
                    <a:pt x="7411" y="7411"/>
                  </a:lnTo>
                  <a:lnTo>
                    <a:pt x="15455" y="1988"/>
                  </a:lnTo>
                  <a:lnTo>
                    <a:pt x="25305" y="0"/>
                  </a:lnTo>
                  <a:lnTo>
                    <a:pt x="755902" y="0"/>
                  </a:lnTo>
                  <a:lnTo>
                    <a:pt x="765752" y="1988"/>
                  </a:lnTo>
                  <a:lnTo>
                    <a:pt x="773796" y="7411"/>
                  </a:lnTo>
                  <a:lnTo>
                    <a:pt x="779219" y="15455"/>
                  </a:lnTo>
                  <a:lnTo>
                    <a:pt x="781207" y="25305"/>
                  </a:lnTo>
                  <a:lnTo>
                    <a:pt x="781207" y="176293"/>
                  </a:lnTo>
                  <a:lnTo>
                    <a:pt x="779219" y="186143"/>
                  </a:lnTo>
                  <a:lnTo>
                    <a:pt x="773796" y="194186"/>
                  </a:lnTo>
                  <a:lnTo>
                    <a:pt x="765752" y="199609"/>
                  </a:lnTo>
                  <a:lnTo>
                    <a:pt x="755902" y="201598"/>
                  </a:lnTo>
                  <a:lnTo>
                    <a:pt x="25305" y="201598"/>
                  </a:lnTo>
                  <a:lnTo>
                    <a:pt x="15455" y="199609"/>
                  </a:lnTo>
                  <a:lnTo>
                    <a:pt x="7411" y="194186"/>
                  </a:lnTo>
                  <a:lnTo>
                    <a:pt x="1988" y="186143"/>
                  </a:lnTo>
                  <a:lnTo>
                    <a:pt x="0" y="17629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045991" y="1912472"/>
            <a:ext cx="803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" spc="10" dirty="0">
                <a:latin typeface="Tahoma"/>
                <a:cs typeface="Tahoma"/>
              </a:rPr>
              <a:t>Level</a:t>
            </a:r>
            <a:r>
              <a:rPr sz="600" spc="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shifter</a:t>
            </a:r>
            <a:r>
              <a:rPr sz="600" spc="15" dirty="0">
                <a:latin typeface="Tahoma"/>
                <a:cs typeface="Tahoma"/>
              </a:rPr>
              <a:t> </a:t>
            </a:r>
            <a:r>
              <a:rPr sz="600" spc="10" dirty="0">
                <a:latin typeface="Tahoma"/>
                <a:cs typeface="Tahoma"/>
              </a:rPr>
              <a:t>(+</a:t>
            </a:r>
            <a:r>
              <a:rPr sz="600" i="1" spc="10" dirty="0">
                <a:latin typeface="Arial"/>
                <a:cs typeface="Arial"/>
              </a:rPr>
              <a:t>V</a:t>
            </a:r>
            <a:r>
              <a:rPr sz="750" i="1" spc="15" baseline="-16666" dirty="0">
                <a:latin typeface="Arial"/>
                <a:cs typeface="Arial"/>
              </a:rPr>
              <a:t>CM</a:t>
            </a:r>
            <a:r>
              <a:rPr sz="750" i="1" spc="-75" baseline="-16666" dirty="0">
                <a:latin typeface="Arial"/>
                <a:cs typeface="Arial"/>
              </a:rPr>
              <a:t> </a:t>
            </a:r>
            <a:r>
              <a:rPr sz="600" spc="-50" dirty="0">
                <a:latin typeface="Tahoma"/>
                <a:cs typeface="Tahoma"/>
              </a:rPr>
              <a:t>)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054442" y="2130772"/>
            <a:ext cx="786765" cy="257175"/>
            <a:chOff x="4054442" y="2130772"/>
            <a:chExt cx="786765" cy="257175"/>
          </a:xfrm>
        </p:grpSpPr>
        <p:sp>
          <p:nvSpPr>
            <p:cNvPr id="39" name="object 39"/>
            <p:cNvSpPr/>
            <p:nvPr/>
          </p:nvSpPr>
          <p:spPr>
            <a:xfrm>
              <a:off x="4056982" y="2133312"/>
              <a:ext cx="781685" cy="252095"/>
            </a:xfrm>
            <a:custGeom>
              <a:avLst/>
              <a:gdLst/>
              <a:ahLst/>
              <a:cxnLst/>
              <a:rect l="l" t="t" r="r" b="b"/>
              <a:pathLst>
                <a:path w="781685" h="252094">
                  <a:moveTo>
                    <a:pt x="755902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26696"/>
                  </a:lnTo>
                  <a:lnTo>
                    <a:pt x="1988" y="236546"/>
                  </a:lnTo>
                  <a:lnTo>
                    <a:pt x="7411" y="244590"/>
                  </a:lnTo>
                  <a:lnTo>
                    <a:pt x="15455" y="250013"/>
                  </a:lnTo>
                  <a:lnTo>
                    <a:pt x="25305" y="252002"/>
                  </a:lnTo>
                  <a:lnTo>
                    <a:pt x="755902" y="252002"/>
                  </a:lnTo>
                  <a:lnTo>
                    <a:pt x="765752" y="250013"/>
                  </a:lnTo>
                  <a:lnTo>
                    <a:pt x="773796" y="244590"/>
                  </a:lnTo>
                  <a:lnTo>
                    <a:pt x="779219" y="236546"/>
                  </a:lnTo>
                  <a:lnTo>
                    <a:pt x="781207" y="226696"/>
                  </a:lnTo>
                  <a:lnTo>
                    <a:pt x="781207" y="25305"/>
                  </a:lnTo>
                  <a:lnTo>
                    <a:pt x="779219" y="15455"/>
                  </a:lnTo>
                  <a:lnTo>
                    <a:pt x="773796" y="7411"/>
                  </a:lnTo>
                  <a:lnTo>
                    <a:pt x="765752" y="1988"/>
                  </a:lnTo>
                  <a:lnTo>
                    <a:pt x="7559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056982" y="2133312"/>
              <a:ext cx="781685" cy="252095"/>
            </a:xfrm>
            <a:custGeom>
              <a:avLst/>
              <a:gdLst/>
              <a:ahLst/>
              <a:cxnLst/>
              <a:rect l="l" t="t" r="r" b="b"/>
              <a:pathLst>
                <a:path w="781685" h="252094">
                  <a:moveTo>
                    <a:pt x="0" y="226696"/>
                  </a:moveTo>
                  <a:lnTo>
                    <a:pt x="0" y="25305"/>
                  </a:lnTo>
                  <a:lnTo>
                    <a:pt x="1988" y="15455"/>
                  </a:lnTo>
                  <a:lnTo>
                    <a:pt x="7411" y="7411"/>
                  </a:lnTo>
                  <a:lnTo>
                    <a:pt x="15455" y="1988"/>
                  </a:lnTo>
                  <a:lnTo>
                    <a:pt x="25305" y="0"/>
                  </a:lnTo>
                  <a:lnTo>
                    <a:pt x="755902" y="0"/>
                  </a:lnTo>
                  <a:lnTo>
                    <a:pt x="765752" y="1988"/>
                  </a:lnTo>
                  <a:lnTo>
                    <a:pt x="773796" y="7411"/>
                  </a:lnTo>
                  <a:lnTo>
                    <a:pt x="779219" y="15455"/>
                  </a:lnTo>
                  <a:lnTo>
                    <a:pt x="781207" y="25305"/>
                  </a:lnTo>
                  <a:lnTo>
                    <a:pt x="781207" y="226696"/>
                  </a:lnTo>
                  <a:lnTo>
                    <a:pt x="779219" y="236546"/>
                  </a:lnTo>
                  <a:lnTo>
                    <a:pt x="773796" y="244590"/>
                  </a:lnTo>
                  <a:lnTo>
                    <a:pt x="765752" y="250013"/>
                  </a:lnTo>
                  <a:lnTo>
                    <a:pt x="755902" y="252002"/>
                  </a:lnTo>
                  <a:lnTo>
                    <a:pt x="25305" y="252002"/>
                  </a:lnTo>
                  <a:lnTo>
                    <a:pt x="15455" y="250013"/>
                  </a:lnTo>
                  <a:lnTo>
                    <a:pt x="7411" y="244590"/>
                  </a:lnTo>
                  <a:lnTo>
                    <a:pt x="1988" y="236546"/>
                  </a:lnTo>
                  <a:lnTo>
                    <a:pt x="0" y="22669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096219" y="2189675"/>
            <a:ext cx="702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</a:rPr>
              <a:t>M1</a:t>
            </a:r>
            <a:r>
              <a:rPr sz="600" spc="5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(triode)</a:t>
            </a:r>
            <a:r>
              <a:rPr sz="600" spc="50" dirty="0">
                <a:latin typeface="Tahoma"/>
                <a:cs typeface="Tahoma"/>
              </a:rPr>
              <a:t> </a:t>
            </a:r>
            <a:r>
              <a:rPr sz="600" spc="55" dirty="0">
                <a:latin typeface="Tahoma"/>
                <a:cs typeface="Tahoma"/>
              </a:rPr>
              <a:t>A</a:t>
            </a:r>
            <a:r>
              <a:rPr sz="600" spc="50" dirty="0">
                <a:latin typeface="Tahoma"/>
                <a:cs typeface="Tahoma"/>
              </a:rPr>
              <a:t> </a:t>
            </a:r>
            <a:r>
              <a:rPr sz="600" i="1" spc="125" dirty="0">
                <a:latin typeface="Arial"/>
                <a:cs typeface="Arial"/>
              </a:rPr>
              <a:t>→</a:t>
            </a:r>
            <a:r>
              <a:rPr sz="600" i="1" spc="80" dirty="0">
                <a:latin typeface="Arial"/>
                <a:cs typeface="Arial"/>
              </a:rPr>
              <a:t> </a:t>
            </a:r>
            <a:r>
              <a:rPr sz="600" spc="20" dirty="0">
                <a:latin typeface="Tahoma"/>
                <a:cs typeface="Tahoma"/>
              </a:rPr>
              <a:t>B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414680" y="1578895"/>
            <a:ext cx="66040" cy="557530"/>
            <a:chOff x="4414680" y="1578895"/>
            <a:chExt cx="66040" cy="557530"/>
          </a:xfrm>
        </p:grpSpPr>
        <p:sp>
          <p:nvSpPr>
            <p:cNvPr id="43" name="object 43"/>
            <p:cNvSpPr/>
            <p:nvPr/>
          </p:nvSpPr>
          <p:spPr>
            <a:xfrm>
              <a:off x="4447586" y="1583966"/>
              <a:ext cx="0" cy="45720"/>
            </a:xfrm>
            <a:custGeom>
              <a:avLst/>
              <a:gdLst/>
              <a:ahLst/>
              <a:cxnLst/>
              <a:rect l="l" t="t" r="r" b="b"/>
              <a:pathLst>
                <a:path h="45719">
                  <a:moveTo>
                    <a:pt x="0" y="4534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417220" y="1581435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447586" y="1835968"/>
              <a:ext cx="0" cy="45720"/>
            </a:xfrm>
            <a:custGeom>
              <a:avLst/>
              <a:gdLst/>
              <a:ahLst/>
              <a:cxnLst/>
              <a:rect l="l" t="t" r="r" b="b"/>
              <a:pathLst>
                <a:path h="45719">
                  <a:moveTo>
                    <a:pt x="0" y="4534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17220" y="1833437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47586" y="2087970"/>
              <a:ext cx="0" cy="45720"/>
            </a:xfrm>
            <a:custGeom>
              <a:avLst/>
              <a:gdLst/>
              <a:ahLst/>
              <a:cxnLst/>
              <a:rect l="l" t="t" r="r" b="b"/>
              <a:pathLst>
                <a:path h="45719">
                  <a:moveTo>
                    <a:pt x="0" y="4534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417220" y="2085439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689781" y="1920029"/>
            <a:ext cx="2959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i="1" spc="-15" baseline="9259" dirty="0">
                <a:latin typeface="Arial"/>
                <a:cs typeface="Arial"/>
              </a:rPr>
              <a:t>V</a:t>
            </a:r>
            <a:r>
              <a:rPr sz="500" i="1" spc="-10" dirty="0">
                <a:latin typeface="Arial"/>
                <a:cs typeface="Arial"/>
              </a:rPr>
              <a:t>target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930982" y="1949213"/>
            <a:ext cx="126364" cy="66040"/>
            <a:chOff x="3930982" y="1949213"/>
            <a:chExt cx="126364" cy="66040"/>
          </a:xfrm>
        </p:grpSpPr>
        <p:sp>
          <p:nvSpPr>
            <p:cNvPr id="51" name="object 51"/>
            <p:cNvSpPr/>
            <p:nvPr/>
          </p:nvSpPr>
          <p:spPr>
            <a:xfrm>
              <a:off x="3930982" y="1982109"/>
              <a:ext cx="121285" cy="0"/>
            </a:xfrm>
            <a:custGeom>
              <a:avLst/>
              <a:gdLst/>
              <a:ahLst/>
              <a:cxnLst/>
              <a:rect l="l" t="t" r="r" b="b"/>
              <a:pathLst>
                <a:path w="121285">
                  <a:moveTo>
                    <a:pt x="0" y="0"/>
                  </a:moveTo>
                  <a:lnTo>
                    <a:pt x="120939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028134" y="1951743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6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1572285" y="3110493"/>
            <a:ext cx="163195" cy="102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5"/>
              </a:lnSpc>
            </a:pPr>
            <a:r>
              <a:rPr sz="800" i="1" spc="-25" dirty="0">
                <a:latin typeface="Arial"/>
                <a:cs typeface="Arial"/>
              </a:rPr>
              <a:t>CM</a:t>
            </a:r>
            <a:endParaRPr sz="8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82587" y="2837065"/>
            <a:ext cx="1357630" cy="401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75">
              <a:lnSpc>
                <a:spcPts val="1150"/>
              </a:lnSpc>
            </a:pPr>
            <a:r>
              <a:rPr sz="1100" spc="-25" dirty="0">
                <a:latin typeface="Arial MT"/>
                <a:cs typeface="Arial MT"/>
              </a:rPr>
              <a:t>Switch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opens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when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i="1" spc="-25" dirty="0">
                <a:latin typeface="Arial"/>
                <a:cs typeface="Arial"/>
              </a:rPr>
              <a:t>V</a:t>
            </a:r>
            <a:r>
              <a:rPr sz="1200" i="1" spc="-37" baseline="-10416" dirty="0">
                <a:latin typeface="Arial"/>
                <a:cs typeface="Arial"/>
              </a:rPr>
              <a:t>g</a:t>
            </a:r>
            <a:endParaRPr sz="1200" baseline="-10416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600" spc="-21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1650" spc="-322" baseline="17676" dirty="0">
                <a:latin typeface="Arial MT"/>
                <a:cs typeface="Arial MT"/>
              </a:rPr>
              <a:t>L</a:t>
            </a:r>
            <a:r>
              <a:rPr sz="600" spc="-215" dirty="0">
                <a:solidFill>
                  <a:srgbClr val="FFFFFF"/>
                </a:solidFill>
                <a:latin typeface="Tahoma"/>
                <a:cs typeface="Tahoma"/>
              </a:rPr>
              <a:t>ac</a:t>
            </a:r>
            <a:r>
              <a:rPr sz="1650" spc="-322" baseline="17676" dirty="0">
                <a:latin typeface="Arial MT"/>
                <a:cs typeface="Arial MT"/>
              </a:rPr>
              <a:t>e</a:t>
            </a:r>
            <a:r>
              <a:rPr sz="600" spc="-215" dirty="0">
                <a:solidFill>
                  <a:srgbClr val="FFFFFF"/>
                </a:solidFill>
                <a:latin typeface="Tahoma"/>
                <a:cs typeface="Tahoma"/>
              </a:rPr>
              <a:t>hi</a:t>
            </a:r>
            <a:r>
              <a:rPr sz="1650" spc="-322" baseline="17676" dirty="0">
                <a:latin typeface="Arial MT"/>
                <a:cs typeface="Arial MT"/>
              </a:rPr>
              <a:t>v</a:t>
            </a:r>
            <a:r>
              <a:rPr sz="600" spc="-21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6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spc="-652" baseline="17676" dirty="0">
                <a:latin typeface="Arial MT"/>
                <a:cs typeface="Arial MT"/>
              </a:rPr>
              <a:t>e</a:t>
            </a:r>
            <a:r>
              <a:rPr sz="600" spc="-19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650" spc="-75" baseline="17676" dirty="0">
                <a:latin typeface="Arial MT"/>
                <a:cs typeface="Arial MT"/>
              </a:rPr>
              <a:t>l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600" spc="-26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650" spc="-375" baseline="17676" dirty="0">
                <a:latin typeface="Arial MT"/>
                <a:cs typeface="Arial MT"/>
              </a:rPr>
              <a:t>s</a:t>
            </a:r>
            <a:r>
              <a:rPr sz="600" spc="-14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50" spc="-735" baseline="17676" dirty="0">
                <a:latin typeface="Arial MT"/>
                <a:cs typeface="Arial MT"/>
              </a:rPr>
              <a:t>h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600" spc="-12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650" spc="-247" baseline="17676" dirty="0">
                <a:latin typeface="Arial MT"/>
                <a:cs typeface="Arial MT"/>
              </a:rPr>
              <a:t>i</a:t>
            </a:r>
            <a:r>
              <a:rPr sz="600" spc="-155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1650" spc="-15" baseline="17676" dirty="0">
                <a:latin typeface="Arial MT"/>
                <a:cs typeface="Arial MT"/>
              </a:rPr>
              <a:t>f</a:t>
            </a:r>
            <a:r>
              <a:rPr sz="1650" spc="-209" baseline="17676" dirty="0">
                <a:latin typeface="Arial MT"/>
                <a:cs typeface="Arial MT"/>
              </a:rPr>
              <a:t>t</a:t>
            </a:r>
            <a:r>
              <a:rPr sz="600" spc="-85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1650" spc="-787" baseline="17676" dirty="0">
                <a:latin typeface="Arial MT"/>
                <a:cs typeface="Arial MT"/>
              </a:rPr>
              <a:t>e</a:t>
            </a:r>
            <a:r>
              <a:rPr sz="600" spc="5" dirty="0">
                <a:solidFill>
                  <a:srgbClr val="FFFFFF"/>
                </a:solidFill>
                <a:latin typeface="Tahoma"/>
                <a:cs typeface="Tahoma"/>
              </a:rPr>
              <a:t>II</a:t>
            </a:r>
            <a:r>
              <a:rPr sz="600" spc="-22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650" spc="-337" baseline="17676" dirty="0">
                <a:latin typeface="Arial MT"/>
                <a:cs typeface="Arial MT"/>
              </a:rPr>
              <a:t>r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600" spc="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spc="-719" baseline="17676" dirty="0">
                <a:latin typeface="Arial MT"/>
                <a:cs typeface="Arial MT"/>
              </a:rPr>
              <a:t>a</a:t>
            </a:r>
            <a:r>
              <a:rPr sz="600" spc="65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600" spc="-240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650" spc="-382" baseline="17676" dirty="0">
                <a:latin typeface="Arial MT"/>
                <a:cs typeface="Arial MT"/>
              </a:rPr>
              <a:t>d</a:t>
            </a:r>
            <a:r>
              <a:rPr sz="600" spc="-95" dirty="0">
                <a:solidFill>
                  <a:srgbClr val="FFFFFF"/>
                </a:solidFill>
                <a:latin typeface="Tahoma"/>
                <a:cs typeface="Tahoma"/>
              </a:rPr>
              <a:t>w</a:t>
            </a:r>
            <a:r>
              <a:rPr sz="1650" spc="-622" baseline="17676" dirty="0">
                <a:latin typeface="Arial MT"/>
                <a:cs typeface="Arial MT"/>
              </a:rPr>
              <a:t>d</a:t>
            </a:r>
            <a:r>
              <a:rPr sz="600" spc="6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600" spc="-14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650" spc="-345" baseline="17676" dirty="0">
                <a:latin typeface="Arial MT"/>
                <a:cs typeface="Arial MT"/>
              </a:rPr>
              <a:t>s</a:t>
            </a:r>
            <a:r>
              <a:rPr sz="600" spc="65" dirty="0">
                <a:solidFill>
                  <a:srgbClr val="FFFFFF"/>
                </a:solidFill>
                <a:latin typeface="Tahoma"/>
                <a:cs typeface="Tahoma"/>
              </a:rPr>
              <a:t>at</a:t>
            </a:r>
            <a:r>
              <a:rPr sz="600" spc="-3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650" i="1" spc="-862" baseline="17676" dirty="0">
                <a:latin typeface="Arial"/>
                <a:cs typeface="Arial"/>
              </a:rPr>
              <a:t>V</a:t>
            </a:r>
            <a:r>
              <a:rPr sz="600" spc="65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770443" y="2837065"/>
            <a:ext cx="52895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r>
              <a:rPr sz="1650" spc="300" baseline="7575" dirty="0">
                <a:latin typeface="Arial MT"/>
                <a:cs typeface="Arial MT"/>
              </a:rPr>
              <a:t>=</a:t>
            </a:r>
            <a:r>
              <a:rPr sz="1650" spc="-7" baseline="7575" dirty="0">
                <a:latin typeface="Arial MT"/>
                <a:cs typeface="Arial MT"/>
              </a:rPr>
              <a:t> </a:t>
            </a:r>
            <a:r>
              <a:rPr sz="1650" i="1" spc="-15" baseline="7575" dirty="0">
                <a:latin typeface="Arial"/>
                <a:cs typeface="Arial"/>
              </a:rPr>
              <a:t>V</a:t>
            </a:r>
            <a:r>
              <a:rPr sz="800" i="1" spc="-10" dirty="0">
                <a:latin typeface="Arial"/>
                <a:cs typeface="Arial"/>
              </a:rPr>
              <a:t>target</a:t>
            </a:r>
            <a:endParaRPr sz="8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60565" y="2863012"/>
            <a:ext cx="6604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782737" y="3047098"/>
            <a:ext cx="34036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z="1100" spc="-30" dirty="0">
                <a:latin typeface="Arial MT"/>
                <a:cs typeface="Arial MT"/>
              </a:rPr>
              <a:t>offset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60565" y="3073044"/>
            <a:ext cx="6604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38100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Implementation:</a:t>
            </a:r>
            <a:r>
              <a:rPr spc="120" dirty="0"/>
              <a:t> </a:t>
            </a:r>
            <a:r>
              <a:rPr spc="-40" dirty="0"/>
              <a:t>Crossbar</a:t>
            </a:r>
            <a:r>
              <a:rPr spc="-20" dirty="0"/>
              <a:t> Architecture </a:t>
            </a:r>
            <a:r>
              <a:rPr spc="120" dirty="0"/>
              <a:t>&amp;</a:t>
            </a:r>
            <a:r>
              <a:rPr spc="-15" dirty="0"/>
              <a:t> </a:t>
            </a:r>
            <a:r>
              <a:rPr spc="-10" dirty="0"/>
              <a:t>Mapping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493" y="291640"/>
            <a:ext cx="1682114" cy="53848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200" b="1" spc="70" dirty="0">
                <a:solidFill>
                  <a:srgbClr val="0C46A0"/>
                </a:solidFill>
                <a:latin typeface="Arial"/>
                <a:cs typeface="Arial"/>
              </a:rPr>
              <a:t>1M</a:t>
            </a:r>
            <a:r>
              <a:rPr sz="1200" b="1" spc="5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65" dirty="0">
                <a:solidFill>
                  <a:srgbClr val="0C46A0"/>
                </a:solidFill>
                <a:latin typeface="Arial"/>
                <a:cs typeface="Arial"/>
              </a:rPr>
              <a:t>Crossbar</a:t>
            </a:r>
            <a:r>
              <a:rPr sz="1200" b="1" spc="5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C46A0"/>
                </a:solidFill>
                <a:latin typeface="Arial"/>
                <a:cs typeface="Arial"/>
              </a:rPr>
              <a:t>Synapse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100" dirty="0">
                <a:latin typeface="Arial MT"/>
                <a:cs typeface="Arial MT"/>
              </a:rPr>
              <a:t>Output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Y-</a:t>
            </a:r>
            <a:r>
              <a:rPr sz="1100" spc="-40" dirty="0">
                <a:latin typeface="Arial MT"/>
                <a:cs typeface="Arial MT"/>
              </a:rPr>
              <a:t>layer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column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i="1" spc="-25" dirty="0">
                <a:latin typeface="Arial"/>
                <a:cs typeface="Arial"/>
              </a:rPr>
              <a:t>k</a:t>
            </a:r>
            <a:r>
              <a:rPr sz="1100" spc="-25" dirty="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0467" y="913395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p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0223" y="925003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69" dirty="0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2593" y="1262607"/>
            <a:ext cx="2012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0" dirty="0">
                <a:latin typeface="Arial"/>
                <a:cs typeface="Arial"/>
              </a:rPr>
              <a:t>j</a:t>
            </a:r>
            <a:r>
              <a:rPr sz="800" spc="30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2116" y="1056626"/>
            <a:ext cx="15017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4160" algn="l"/>
                <a:tab pos="633730" algn="l"/>
              </a:tabLst>
            </a:pPr>
            <a:r>
              <a:rPr sz="1100" i="1" spc="-50" dirty="0">
                <a:latin typeface="Arial"/>
                <a:cs typeface="Arial"/>
              </a:rPr>
              <a:t>V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150" dirty="0">
                <a:latin typeface="Arial MT"/>
                <a:cs typeface="Arial MT"/>
              </a:rPr>
              <a:t>=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27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335" dirty="0">
                <a:latin typeface="Arial"/>
                <a:cs typeface="Arial"/>
              </a:rPr>
              <a:t> </a:t>
            </a:r>
            <a:r>
              <a:rPr sz="1100" spc="-25" dirty="0">
                <a:latin typeface="Arial MT"/>
                <a:cs typeface="Arial MT"/>
              </a:rPr>
              <a:t>)</a:t>
            </a:r>
            <a:r>
              <a:rPr sz="1100" i="1" spc="-25" dirty="0">
                <a:latin typeface="Arial"/>
                <a:cs typeface="Arial"/>
              </a:rPr>
              <a:t>V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4483" y="1116519"/>
            <a:ext cx="14636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0555" algn="l"/>
                <a:tab pos="836930" algn="l"/>
                <a:tab pos="1153795" algn="l"/>
                <a:tab pos="1396365" algn="l"/>
              </a:tabLst>
            </a:pPr>
            <a:r>
              <a:rPr sz="800" i="1" spc="-25" dirty="0">
                <a:latin typeface="Arial"/>
                <a:cs typeface="Arial"/>
              </a:rPr>
              <a:t>ok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spc="-50" dirty="0">
                <a:latin typeface="Tahoma"/>
                <a:cs typeface="Tahoma"/>
              </a:rPr>
              <a:t>0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i="1" spc="-50" dirty="0">
                <a:latin typeface="Arial"/>
                <a:cs typeface="Arial"/>
              </a:rPr>
              <a:t>s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25" dirty="0">
                <a:latin typeface="Arial"/>
                <a:cs typeface="Arial"/>
              </a:rPr>
              <a:t>jk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25" dirty="0">
                <a:latin typeface="Arial"/>
                <a:cs typeface="Arial"/>
              </a:rPr>
              <a:t>ij</a:t>
            </a:r>
            <a:endParaRPr sz="8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66369" y="2081022"/>
          <a:ext cx="1902458" cy="10052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Weight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Resistance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50" i="1" spc="-15" baseline="757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target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40" dirty="0">
                          <a:latin typeface="Arial MT"/>
                          <a:cs typeface="Arial MT"/>
                        </a:rPr>
                        <a:t>+1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-60" dirty="0">
                          <a:latin typeface="Arial MT"/>
                          <a:cs typeface="Arial MT"/>
                        </a:rPr>
                        <a:t>95.2</a:t>
                      </a:r>
                      <a:r>
                        <a:rPr sz="11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kΩ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-75" dirty="0">
                          <a:latin typeface="Arial MT"/>
                          <a:cs typeface="Arial MT"/>
                        </a:rPr>
                        <a:t>700</a:t>
                      </a:r>
                      <a:r>
                        <a:rPr sz="11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mV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75" dirty="0">
                          <a:latin typeface="Arial MT"/>
                          <a:cs typeface="Arial MT"/>
                        </a:rPr>
                        <a:t>84</a:t>
                      </a:r>
                      <a:r>
                        <a:rPr sz="1100" spc="-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kΩ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75" dirty="0">
                          <a:latin typeface="Arial MT"/>
                          <a:cs typeface="Arial MT"/>
                        </a:rPr>
                        <a:t>830</a:t>
                      </a:r>
                      <a:r>
                        <a:rPr sz="11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mV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40" dirty="0">
                          <a:latin typeface="Arial MT"/>
                          <a:cs typeface="Arial MT"/>
                        </a:rPr>
                        <a:t>+3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75" dirty="0">
                          <a:latin typeface="Arial MT"/>
                          <a:cs typeface="Arial MT"/>
                        </a:rPr>
                        <a:t>110</a:t>
                      </a:r>
                      <a:r>
                        <a:rPr sz="11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kΩ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75" dirty="0">
                          <a:latin typeface="Arial MT"/>
                          <a:cs typeface="Arial MT"/>
                        </a:rPr>
                        <a:t>584</a:t>
                      </a:r>
                      <a:r>
                        <a:rPr sz="11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mV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3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75" dirty="0">
                          <a:latin typeface="Arial MT"/>
                          <a:cs typeface="Arial MT"/>
                        </a:rPr>
                        <a:t>75</a:t>
                      </a:r>
                      <a:r>
                        <a:rPr sz="1100" spc="-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kΩ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75" dirty="0">
                          <a:latin typeface="Arial MT"/>
                          <a:cs typeface="Arial MT"/>
                        </a:rPr>
                        <a:t>970</a:t>
                      </a:r>
                      <a:r>
                        <a:rPr sz="11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mV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023133" y="844090"/>
            <a:ext cx="216471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6</a:t>
            </a:r>
            <a:r>
              <a:rPr sz="1200" b="1" dirty="0">
                <a:solidFill>
                  <a:srgbClr val="0C46A0"/>
                </a:solidFill>
                <a:latin typeface="Verdana"/>
                <a:cs typeface="Verdana"/>
              </a:rPr>
              <a:t>×</a:t>
            </a: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6</a:t>
            </a:r>
            <a:r>
              <a:rPr sz="1200" b="1" spc="8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Weight</a:t>
            </a:r>
            <a:r>
              <a:rPr sz="1200" b="1" spc="8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Matrix</a:t>
            </a:r>
            <a:r>
              <a:rPr sz="1200" b="1" spc="8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30" dirty="0">
                <a:solidFill>
                  <a:srgbClr val="0C46A0"/>
                </a:solidFill>
                <a:latin typeface="Arial"/>
                <a:cs typeface="Arial"/>
              </a:rPr>
              <a:t>Generated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93998" y="1385092"/>
            <a:ext cx="2889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baseline="4629" dirty="0">
                <a:latin typeface="Arial"/>
                <a:cs typeface="Arial"/>
              </a:rPr>
              <a:t>W</a:t>
            </a:r>
            <a:r>
              <a:rPr sz="900" i="1" spc="232" baseline="4629" dirty="0">
                <a:latin typeface="Arial"/>
                <a:cs typeface="Arial"/>
              </a:rPr>
              <a:t> </a:t>
            </a:r>
            <a:r>
              <a:rPr sz="900" spc="75" baseline="4629" dirty="0">
                <a:latin typeface="Tahoma"/>
                <a:cs typeface="Tahoma"/>
              </a:rPr>
              <a:t>=</a:t>
            </a:r>
            <a:r>
              <a:rPr sz="900" spc="60" baseline="4629" dirty="0">
                <a:latin typeface="Tahoma"/>
                <a:cs typeface="Tahoma"/>
              </a:rPr>
              <a:t> </a:t>
            </a:r>
            <a:r>
              <a:rPr sz="600" spc="-80" dirty="0">
                <a:latin typeface="Arial MT"/>
                <a:cs typeface="Arial MT"/>
              </a:rPr>
              <a:t>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99128" y="1430634"/>
            <a:ext cx="711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600" dirty="0">
                <a:latin typeface="Arial MT"/>
                <a:cs typeface="Arial MT"/>
              </a:rPr>
              <a:t>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99128" y="1479872"/>
            <a:ext cx="838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90" dirty="0">
                <a:latin typeface="Arial MT"/>
                <a:cs typeface="Arial MT"/>
              </a:rPr>
              <a:t>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73728" y="1158613"/>
            <a:ext cx="2482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spc="-37" baseline="32407" dirty="0">
                <a:latin typeface="Arial MT"/>
                <a:cs typeface="Arial MT"/>
              </a:rPr>
              <a:t></a:t>
            </a:r>
            <a:r>
              <a:rPr sz="600" i="1" spc="-25" dirty="0">
                <a:latin typeface="Arial"/>
                <a:cs typeface="Arial"/>
              </a:rPr>
              <a:t>−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99128" y="1247183"/>
            <a:ext cx="192405" cy="163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ts val="545"/>
              </a:lnSpc>
              <a:spcBef>
                <a:spcPts val="95"/>
              </a:spcBef>
            </a:pPr>
            <a:r>
              <a:rPr sz="600" spc="-25" dirty="0">
                <a:latin typeface="Tahoma"/>
                <a:cs typeface="Tahoma"/>
              </a:rPr>
              <a:t>+1</a:t>
            </a:r>
            <a:endParaRPr sz="600">
              <a:latin typeface="Tahoma"/>
              <a:cs typeface="Tahoma"/>
            </a:endParaRPr>
          </a:p>
          <a:p>
            <a:pPr marL="12700">
              <a:lnSpc>
                <a:spcPts val="545"/>
              </a:lnSpc>
            </a:pPr>
            <a:r>
              <a:rPr sz="600" spc="-50" dirty="0">
                <a:latin typeface="Arial MT"/>
                <a:cs typeface="Arial MT"/>
              </a:rPr>
              <a:t>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57574" y="1158613"/>
            <a:ext cx="619125" cy="559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095">
              <a:lnSpc>
                <a:spcPts val="710"/>
              </a:lnSpc>
              <a:spcBef>
                <a:spcPts val="95"/>
              </a:spcBef>
            </a:pPr>
            <a:r>
              <a:rPr sz="600" i="1" spc="105" dirty="0">
                <a:latin typeface="Arial"/>
                <a:cs typeface="Arial"/>
              </a:rPr>
              <a:t>−</a:t>
            </a:r>
            <a:r>
              <a:rPr sz="600" spc="105" dirty="0">
                <a:latin typeface="Tahoma"/>
                <a:cs typeface="Tahoma"/>
              </a:rPr>
              <a:t>1</a:t>
            </a:r>
            <a:r>
              <a:rPr sz="600" spc="310" dirty="0">
                <a:latin typeface="Tahoma"/>
                <a:cs typeface="Tahoma"/>
              </a:rPr>
              <a:t>  </a:t>
            </a:r>
            <a:r>
              <a:rPr sz="600" i="1" spc="70" dirty="0">
                <a:latin typeface="Arial"/>
                <a:cs typeface="Arial"/>
              </a:rPr>
              <a:t>−</a:t>
            </a:r>
            <a:r>
              <a:rPr sz="600" spc="70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  <a:p>
            <a:pPr marR="5080" algn="r">
              <a:lnSpc>
                <a:spcPts val="695"/>
              </a:lnSpc>
              <a:tabLst>
                <a:tab pos="234315" algn="l"/>
              </a:tabLst>
            </a:pPr>
            <a:r>
              <a:rPr sz="600" spc="-25" dirty="0">
                <a:latin typeface="Tahoma"/>
                <a:cs typeface="Tahoma"/>
              </a:rPr>
              <a:t>+1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80" dirty="0">
                <a:latin typeface="Arial"/>
                <a:cs typeface="Arial"/>
              </a:rPr>
              <a:t>−</a:t>
            </a:r>
            <a:r>
              <a:rPr sz="600" spc="80" dirty="0"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  <a:p>
            <a:pPr marR="5080" algn="r">
              <a:lnSpc>
                <a:spcPts val="695"/>
              </a:lnSpc>
              <a:tabLst>
                <a:tab pos="239395" algn="l"/>
                <a:tab pos="474345" algn="l"/>
              </a:tabLst>
            </a:pPr>
            <a:r>
              <a:rPr sz="600" spc="-25" dirty="0">
                <a:latin typeface="Tahoma"/>
                <a:cs typeface="Tahoma"/>
              </a:rPr>
              <a:t>+1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spc="-25" dirty="0">
                <a:latin typeface="Tahoma"/>
                <a:cs typeface="Tahoma"/>
              </a:rPr>
              <a:t>+1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80" dirty="0">
                <a:latin typeface="Arial"/>
                <a:cs typeface="Arial"/>
              </a:rPr>
              <a:t>−</a:t>
            </a:r>
            <a:r>
              <a:rPr sz="600" spc="80" dirty="0"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  <a:p>
            <a:pPr marR="10160" algn="r">
              <a:lnSpc>
                <a:spcPts val="695"/>
              </a:lnSpc>
              <a:tabLst>
                <a:tab pos="484505" algn="l"/>
              </a:tabLst>
            </a:pPr>
            <a:r>
              <a:rPr sz="600" i="1" spc="105" dirty="0">
                <a:latin typeface="Arial"/>
                <a:cs typeface="Arial"/>
              </a:rPr>
              <a:t>−</a:t>
            </a:r>
            <a:r>
              <a:rPr sz="600" spc="105" dirty="0">
                <a:latin typeface="Tahoma"/>
                <a:cs typeface="Tahoma"/>
              </a:rPr>
              <a:t>1</a:t>
            </a:r>
            <a:r>
              <a:rPr sz="600" spc="310" dirty="0">
                <a:latin typeface="Tahoma"/>
                <a:cs typeface="Tahoma"/>
              </a:rPr>
              <a:t>  </a:t>
            </a:r>
            <a:r>
              <a:rPr sz="600" i="1" spc="70" dirty="0">
                <a:latin typeface="Arial"/>
                <a:cs typeface="Arial"/>
              </a:rPr>
              <a:t>−</a:t>
            </a:r>
            <a:r>
              <a:rPr sz="600" spc="70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spc="-25" dirty="0">
                <a:latin typeface="Tahoma"/>
                <a:cs typeface="Tahoma"/>
              </a:rPr>
              <a:t>+3</a:t>
            </a:r>
            <a:endParaRPr sz="600">
              <a:latin typeface="Tahoma"/>
              <a:cs typeface="Tahoma"/>
            </a:endParaRPr>
          </a:p>
          <a:p>
            <a:pPr marR="5080" algn="r">
              <a:lnSpc>
                <a:spcPts val="695"/>
              </a:lnSpc>
              <a:tabLst>
                <a:tab pos="244475" algn="l"/>
                <a:tab pos="479425" algn="l"/>
              </a:tabLst>
            </a:pPr>
            <a:r>
              <a:rPr sz="600" i="1" spc="80" dirty="0">
                <a:latin typeface="Arial"/>
                <a:cs typeface="Arial"/>
              </a:rPr>
              <a:t>−</a:t>
            </a:r>
            <a:r>
              <a:rPr sz="600" spc="80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spc="-25" dirty="0">
                <a:latin typeface="Tahoma"/>
                <a:cs typeface="Tahoma"/>
              </a:rPr>
              <a:t>+3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80" dirty="0">
                <a:latin typeface="Arial"/>
                <a:cs typeface="Arial"/>
              </a:rPr>
              <a:t>−</a:t>
            </a:r>
            <a:r>
              <a:rPr sz="600" spc="80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  <a:p>
            <a:pPr marR="5080" algn="r">
              <a:lnSpc>
                <a:spcPts val="710"/>
              </a:lnSpc>
              <a:tabLst>
                <a:tab pos="234315" algn="l"/>
              </a:tabLst>
            </a:pPr>
            <a:r>
              <a:rPr sz="600" spc="-25" dirty="0">
                <a:latin typeface="Tahoma"/>
                <a:cs typeface="Tahoma"/>
              </a:rPr>
              <a:t>+3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105" dirty="0">
                <a:latin typeface="Arial"/>
                <a:cs typeface="Arial"/>
              </a:rPr>
              <a:t>−</a:t>
            </a:r>
            <a:r>
              <a:rPr sz="600" spc="105" dirty="0">
                <a:latin typeface="Tahoma"/>
                <a:cs typeface="Tahoma"/>
              </a:rPr>
              <a:t>1</a:t>
            </a:r>
            <a:r>
              <a:rPr sz="600" spc="310" dirty="0">
                <a:latin typeface="Tahoma"/>
                <a:cs typeface="Tahoma"/>
              </a:rPr>
              <a:t>  </a:t>
            </a:r>
            <a:r>
              <a:rPr sz="600" i="1" spc="80" dirty="0">
                <a:latin typeface="Arial"/>
                <a:cs typeface="Arial"/>
              </a:rPr>
              <a:t>−</a:t>
            </a:r>
            <a:r>
              <a:rPr sz="600" spc="80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13920" y="1158613"/>
            <a:ext cx="829944" cy="559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1280">
              <a:lnSpc>
                <a:spcPts val="710"/>
              </a:lnSpc>
              <a:spcBef>
                <a:spcPts val="95"/>
              </a:spcBef>
              <a:tabLst>
                <a:tab pos="320675" algn="l"/>
                <a:tab pos="560705" algn="l"/>
              </a:tabLst>
            </a:pPr>
            <a:r>
              <a:rPr sz="600" spc="-25" dirty="0">
                <a:latin typeface="Tahoma"/>
                <a:cs typeface="Tahoma"/>
              </a:rPr>
              <a:t>+1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spc="-25" dirty="0">
                <a:latin typeface="Tahoma"/>
                <a:cs typeface="Tahoma"/>
              </a:rPr>
              <a:t>+1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spc="-25" dirty="0">
                <a:latin typeface="Tahoma"/>
                <a:cs typeface="Tahoma"/>
              </a:rPr>
              <a:t>+3</a:t>
            </a:r>
            <a:r>
              <a:rPr sz="900" spc="-37" baseline="32407" dirty="0">
                <a:latin typeface="Arial MT"/>
                <a:cs typeface="Arial MT"/>
              </a:rPr>
              <a:t></a:t>
            </a:r>
            <a:endParaRPr sz="900" baseline="32407">
              <a:latin typeface="Arial MT"/>
              <a:cs typeface="Arial MT"/>
            </a:endParaRPr>
          </a:p>
          <a:p>
            <a:pPr marL="81280">
              <a:lnSpc>
                <a:spcPts val="695"/>
              </a:lnSpc>
              <a:tabLst>
                <a:tab pos="320675" algn="l"/>
              </a:tabLst>
            </a:pPr>
            <a:r>
              <a:rPr sz="600" spc="-25" dirty="0">
                <a:latin typeface="Tahoma"/>
                <a:cs typeface="Tahoma"/>
              </a:rPr>
              <a:t>+3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spc="-25" dirty="0">
                <a:latin typeface="Tahoma"/>
                <a:cs typeface="Tahoma"/>
              </a:rPr>
              <a:t>+3</a:t>
            </a:r>
            <a:endParaRPr sz="600">
              <a:latin typeface="Tahoma"/>
              <a:cs typeface="Tahoma"/>
            </a:endParaRPr>
          </a:p>
          <a:p>
            <a:pPr marL="81280">
              <a:lnSpc>
                <a:spcPts val="695"/>
              </a:lnSpc>
              <a:tabLst>
                <a:tab pos="320675" algn="l"/>
                <a:tab pos="560705" algn="l"/>
              </a:tabLst>
            </a:pPr>
            <a:r>
              <a:rPr sz="600" spc="-25" dirty="0">
                <a:latin typeface="Tahoma"/>
                <a:cs typeface="Tahoma"/>
              </a:rPr>
              <a:t>+3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spc="-25" dirty="0">
                <a:latin typeface="Tahoma"/>
                <a:cs typeface="Tahoma"/>
              </a:rPr>
              <a:t>+3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spc="-25" dirty="0">
                <a:latin typeface="Tahoma"/>
                <a:cs typeface="Tahoma"/>
              </a:rPr>
              <a:t>+1</a:t>
            </a:r>
            <a:endParaRPr sz="600">
              <a:latin typeface="Tahoma"/>
              <a:cs typeface="Tahoma"/>
            </a:endParaRPr>
          </a:p>
          <a:p>
            <a:pPr marL="76200">
              <a:lnSpc>
                <a:spcPts val="695"/>
              </a:lnSpc>
            </a:pPr>
            <a:r>
              <a:rPr sz="600" i="1" spc="105" dirty="0">
                <a:latin typeface="Arial"/>
                <a:cs typeface="Arial"/>
              </a:rPr>
              <a:t>−</a:t>
            </a:r>
            <a:r>
              <a:rPr sz="600" spc="105" dirty="0">
                <a:latin typeface="Tahoma"/>
                <a:cs typeface="Tahoma"/>
              </a:rPr>
              <a:t>3</a:t>
            </a:r>
            <a:r>
              <a:rPr sz="600" spc="310" dirty="0">
                <a:latin typeface="Tahoma"/>
                <a:cs typeface="Tahoma"/>
              </a:rPr>
              <a:t>  </a:t>
            </a:r>
            <a:r>
              <a:rPr sz="600" i="1" spc="105" dirty="0">
                <a:latin typeface="Arial"/>
                <a:cs typeface="Arial"/>
              </a:rPr>
              <a:t>−</a:t>
            </a:r>
            <a:r>
              <a:rPr sz="600" spc="105" dirty="0">
                <a:latin typeface="Tahoma"/>
                <a:cs typeface="Tahoma"/>
              </a:rPr>
              <a:t>3</a:t>
            </a:r>
            <a:r>
              <a:rPr sz="600" spc="310" dirty="0">
                <a:latin typeface="Tahoma"/>
                <a:cs typeface="Tahoma"/>
              </a:rPr>
              <a:t>  </a:t>
            </a:r>
            <a:r>
              <a:rPr sz="600" i="1" spc="80" dirty="0">
                <a:latin typeface="Arial"/>
                <a:cs typeface="Arial"/>
              </a:rPr>
              <a:t>−</a:t>
            </a:r>
            <a:r>
              <a:rPr sz="600" spc="80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  <a:p>
            <a:pPr marL="81280">
              <a:lnSpc>
                <a:spcPts val="695"/>
              </a:lnSpc>
              <a:tabLst>
                <a:tab pos="321310" algn="l"/>
                <a:tab pos="555625" algn="l"/>
              </a:tabLst>
            </a:pPr>
            <a:r>
              <a:rPr sz="600" spc="-25" dirty="0">
                <a:latin typeface="Tahoma"/>
                <a:cs typeface="Tahoma"/>
              </a:rPr>
              <a:t>+1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spc="-25" dirty="0">
                <a:latin typeface="Tahoma"/>
                <a:cs typeface="Tahoma"/>
              </a:rPr>
              <a:t>+1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80" dirty="0">
                <a:latin typeface="Arial"/>
                <a:cs typeface="Arial"/>
              </a:rPr>
              <a:t>−</a:t>
            </a:r>
            <a:r>
              <a:rPr sz="600" spc="80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  <a:p>
            <a:pPr marL="81280">
              <a:lnSpc>
                <a:spcPts val="710"/>
              </a:lnSpc>
              <a:tabLst>
                <a:tab pos="321310" algn="l"/>
                <a:tab pos="555625" algn="l"/>
              </a:tabLst>
            </a:pPr>
            <a:r>
              <a:rPr sz="600" spc="-25" dirty="0">
                <a:latin typeface="Tahoma"/>
                <a:cs typeface="Tahoma"/>
              </a:rPr>
              <a:t>+1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spc="-25" dirty="0">
                <a:latin typeface="Tahoma"/>
                <a:cs typeface="Tahoma"/>
              </a:rPr>
              <a:t>+1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80" dirty="0">
                <a:latin typeface="Arial"/>
                <a:cs typeface="Arial"/>
              </a:rPr>
              <a:t>−</a:t>
            </a:r>
            <a:r>
              <a:rPr sz="600" spc="80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62502" y="1247183"/>
            <a:ext cx="192405" cy="163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45"/>
              </a:lnSpc>
              <a:spcBef>
                <a:spcPts val="95"/>
              </a:spcBef>
            </a:pPr>
            <a:r>
              <a:rPr sz="600" spc="-25" dirty="0">
                <a:latin typeface="Tahoma"/>
                <a:cs typeface="Tahoma"/>
              </a:rPr>
              <a:t>+1</a:t>
            </a:r>
            <a:endParaRPr sz="600">
              <a:latin typeface="Tahoma"/>
              <a:cs typeface="Tahoma"/>
            </a:endParaRPr>
          </a:p>
          <a:p>
            <a:pPr marL="120650">
              <a:lnSpc>
                <a:spcPts val="545"/>
              </a:lnSpc>
            </a:pPr>
            <a:r>
              <a:rPr sz="600" spc="-85" dirty="0">
                <a:latin typeface="Arial MT"/>
                <a:cs typeface="Arial MT"/>
              </a:rPr>
              <a:t>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70805" y="1385092"/>
            <a:ext cx="838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90" dirty="0">
                <a:latin typeface="Arial MT"/>
                <a:cs typeface="Arial MT"/>
              </a:rPr>
              <a:t>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70805" y="1430634"/>
            <a:ext cx="711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600" dirty="0">
                <a:latin typeface="Arial MT"/>
                <a:cs typeface="Arial MT"/>
              </a:rPr>
              <a:t>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70805" y="1479872"/>
            <a:ext cx="838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90" dirty="0">
                <a:latin typeface="Arial MT"/>
                <a:cs typeface="Arial MT"/>
              </a:rPr>
              <a:t>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4493" y="1641602"/>
            <a:ext cx="5403215" cy="111379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Weight</a:t>
            </a:r>
            <a:r>
              <a:rPr sz="1200" b="1" spc="4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to</a:t>
            </a:r>
            <a:r>
              <a:rPr sz="1200" b="1" spc="4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55" dirty="0">
                <a:solidFill>
                  <a:srgbClr val="0C46A0"/>
                </a:solidFill>
                <a:latin typeface="Arial"/>
                <a:cs typeface="Arial"/>
              </a:rPr>
              <a:t>Resistance</a:t>
            </a:r>
            <a:r>
              <a:rPr sz="1200" b="1" spc="3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C46A0"/>
                </a:solidFill>
                <a:latin typeface="Arial"/>
                <a:cs typeface="Arial"/>
              </a:rPr>
              <a:t>Mapping</a:t>
            </a:r>
            <a:endParaRPr sz="1200">
              <a:latin typeface="Arial"/>
              <a:cs typeface="Arial"/>
            </a:endParaRPr>
          </a:p>
          <a:p>
            <a:pPr marL="2901315">
              <a:lnSpc>
                <a:spcPct val="100000"/>
              </a:lnSpc>
              <a:spcBef>
                <a:spcPts val="525"/>
              </a:spcBef>
            </a:pP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Two-</a:t>
            </a:r>
            <a:r>
              <a:rPr sz="1200" b="1" spc="-20" dirty="0">
                <a:solidFill>
                  <a:srgbClr val="0C46A0"/>
                </a:solidFill>
                <a:latin typeface="Arial"/>
                <a:cs typeface="Arial"/>
              </a:rPr>
              <a:t>Stage</a:t>
            </a:r>
            <a:r>
              <a:rPr sz="1200" b="1" spc="1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0C46A0"/>
                </a:solidFill>
                <a:latin typeface="Arial"/>
                <a:cs typeface="Arial"/>
              </a:rPr>
              <a:t>OTA</a:t>
            </a:r>
            <a:endParaRPr sz="1200">
              <a:latin typeface="Arial"/>
              <a:cs typeface="Arial"/>
            </a:endParaRPr>
          </a:p>
          <a:p>
            <a:pPr marL="2901315" marR="249554">
              <a:lnSpc>
                <a:spcPct val="102600"/>
              </a:lnSpc>
              <a:spcBef>
                <a:spcPts val="575"/>
              </a:spcBef>
            </a:pPr>
            <a:r>
              <a:rPr sz="1100" spc="-80" dirty="0">
                <a:latin typeface="Arial MT"/>
                <a:cs typeface="Arial MT"/>
              </a:rPr>
              <a:t>Used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for: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(a)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virtual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ground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Vm,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(b)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6 </a:t>
            </a:r>
            <a:r>
              <a:rPr sz="1100" spc="-35" dirty="0">
                <a:latin typeface="Arial MT"/>
                <a:cs typeface="Arial MT"/>
              </a:rPr>
              <a:t>column</a:t>
            </a:r>
            <a:r>
              <a:rPr sz="1100" spc="-20" dirty="0">
                <a:latin typeface="Arial MT"/>
                <a:cs typeface="Arial MT"/>
              </a:rPr>
              <a:t> TIAs</a:t>
            </a:r>
            <a:endParaRPr sz="1100">
              <a:latin typeface="Arial MT"/>
              <a:cs typeface="Arial MT"/>
            </a:endParaRPr>
          </a:p>
          <a:p>
            <a:pPr marL="2901315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 MT"/>
                <a:cs typeface="Arial MT"/>
              </a:rPr>
              <a:t>PM2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width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4</a:t>
            </a:r>
            <a:r>
              <a:rPr sz="1100" spc="-125" dirty="0">
                <a:latin typeface="Arial MT"/>
                <a:cs typeface="Arial MT"/>
              </a:rPr>
              <a:t> </a:t>
            </a:r>
            <a:r>
              <a:rPr sz="1100" i="1" dirty="0">
                <a:latin typeface="Verdana"/>
                <a:cs typeface="Verdana"/>
              </a:rPr>
              <a:t>µ</a:t>
            </a:r>
            <a:r>
              <a:rPr sz="1100" dirty="0">
                <a:latin typeface="Arial MT"/>
                <a:cs typeface="Arial MT"/>
              </a:rPr>
              <a:t>m for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balanced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2nd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stage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4" name="object 24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37592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Circuit</a:t>
            </a:r>
            <a:r>
              <a:rPr spc="-40" dirty="0"/>
              <a:t> </a:t>
            </a:r>
            <a:r>
              <a:rPr spc="-50" dirty="0"/>
              <a:t>Implementation:</a:t>
            </a:r>
            <a:r>
              <a:rPr spc="100" dirty="0"/>
              <a:t> </a:t>
            </a:r>
            <a:r>
              <a:rPr spc="-55" dirty="0"/>
              <a:t>Reference</a:t>
            </a:r>
            <a:r>
              <a:rPr spc="-35" dirty="0"/>
              <a:t> </a:t>
            </a:r>
            <a:r>
              <a:rPr dirty="0"/>
              <a:t>vs.</a:t>
            </a:r>
            <a:r>
              <a:rPr spc="95" dirty="0"/>
              <a:t> </a:t>
            </a:r>
            <a:r>
              <a:rPr dirty="0"/>
              <a:t>Our</a:t>
            </a:r>
            <a:r>
              <a:rPr spc="-35" dirty="0"/>
              <a:t> </a:t>
            </a:r>
            <a:r>
              <a:rPr spc="-25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780" y="599158"/>
            <a:ext cx="16249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5" dirty="0">
                <a:solidFill>
                  <a:srgbClr val="0C46A0"/>
                </a:solidFill>
                <a:latin typeface="Arial"/>
                <a:cs typeface="Arial"/>
              </a:rPr>
              <a:t>Reference</a:t>
            </a:r>
            <a:r>
              <a:rPr sz="1200" b="1" spc="1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0C46A0"/>
                </a:solidFill>
                <a:latin typeface="Arial"/>
                <a:cs typeface="Arial"/>
              </a:rPr>
              <a:t>Architecture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732" y="847347"/>
            <a:ext cx="1935977" cy="12040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19721" y="2108588"/>
            <a:ext cx="13233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latin typeface="Arial MT"/>
                <a:cs typeface="Arial MT"/>
              </a:rPr>
              <a:t>Proposed</a:t>
            </a:r>
            <a:r>
              <a:rPr sz="900" spc="-10" dirty="0">
                <a:latin typeface="Arial MT"/>
                <a:cs typeface="Arial MT"/>
              </a:rPr>
              <a:t> theoretical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BAM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0044" y="584349"/>
            <a:ext cx="24784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Our</a:t>
            </a:r>
            <a:r>
              <a:rPr sz="1200" b="1" spc="6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180nm</a:t>
            </a:r>
            <a:r>
              <a:rPr sz="1200" b="1" spc="6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CMOS</a:t>
            </a:r>
            <a:r>
              <a:rPr sz="1200" b="1" spc="6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0C46A0"/>
                </a:solidFill>
                <a:latin typeface="Arial"/>
                <a:cs typeface="Arial"/>
              </a:rPr>
              <a:t>Implementation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73344" y="840183"/>
            <a:ext cx="1577484" cy="123384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491598" y="2123396"/>
            <a:ext cx="15748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 MT"/>
                <a:cs typeface="Arial MT"/>
              </a:rPr>
              <a:t>Full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Analog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Virtuoso</a:t>
            </a:r>
            <a:r>
              <a:rPr sz="900" spc="-20" dirty="0">
                <a:latin typeface="Arial MT"/>
                <a:cs typeface="Arial MT"/>
              </a:rPr>
              <a:t> Schematic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465006"/>
            <a:ext cx="65265" cy="652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2932" y="2381566"/>
            <a:ext cx="497713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30" dirty="0">
                <a:latin typeface="Arial"/>
                <a:cs typeface="Arial"/>
              </a:rPr>
              <a:t>Transition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to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Silicon:</a:t>
            </a:r>
            <a:r>
              <a:rPr sz="1100" b="1" spc="90" dirty="0">
                <a:latin typeface="Arial"/>
                <a:cs typeface="Arial"/>
              </a:rPr>
              <a:t> </a:t>
            </a:r>
            <a:r>
              <a:rPr sz="1100" spc="-50" dirty="0">
                <a:latin typeface="Arial MT"/>
                <a:cs typeface="Arial MT"/>
              </a:rPr>
              <a:t>We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realized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theoretical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1M </a:t>
            </a:r>
            <a:r>
              <a:rPr sz="1100" spc="-75" dirty="0">
                <a:latin typeface="Arial MT"/>
                <a:cs typeface="Arial MT"/>
              </a:rPr>
              <a:t>Crossbar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by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modeling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physical </a:t>
            </a:r>
            <a:r>
              <a:rPr sz="1100" dirty="0">
                <a:latin typeface="Arial MT"/>
                <a:cs typeface="Arial MT"/>
              </a:rPr>
              <a:t>PWL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sources,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two-</a:t>
            </a:r>
            <a:r>
              <a:rPr sz="1100" spc="-50" dirty="0">
                <a:latin typeface="Arial MT"/>
                <a:cs typeface="Arial MT"/>
              </a:rPr>
              <a:t>stage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OTAs,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tuning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transimpedance</a:t>
            </a:r>
            <a:r>
              <a:rPr sz="1100" spc="-10" dirty="0">
                <a:latin typeface="Arial MT"/>
                <a:cs typeface="Arial MT"/>
              </a:rPr>
              <a:t> parameters.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Results:</a:t>
            </a:r>
            <a:r>
              <a:rPr spc="65" dirty="0"/>
              <a:t> </a:t>
            </a:r>
            <a:r>
              <a:rPr spc="-40" dirty="0"/>
              <a:t>Learning</a:t>
            </a:r>
            <a:r>
              <a:rPr spc="-60" dirty="0"/>
              <a:t> </a:t>
            </a:r>
            <a:r>
              <a:rPr spc="-25" dirty="0"/>
              <a:t>Phase</a:t>
            </a:r>
            <a:r>
              <a:rPr spc="-60" dirty="0"/>
              <a:t> </a:t>
            </a:r>
            <a:r>
              <a:rPr spc="-20" dirty="0"/>
              <a:t>(Memristor</a:t>
            </a:r>
            <a:r>
              <a:rPr spc="-60" dirty="0"/>
              <a:t> </a:t>
            </a:r>
            <a:r>
              <a:rPr spc="-20" dirty="0"/>
              <a:t>Programming)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493" y="675091"/>
            <a:ext cx="196786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0" dirty="0">
                <a:solidFill>
                  <a:srgbClr val="0C46A0"/>
                </a:solidFill>
                <a:latin typeface="Arial"/>
                <a:cs typeface="Arial"/>
              </a:rPr>
              <a:t>Training</a:t>
            </a:r>
            <a:r>
              <a:rPr sz="1200" b="1" spc="8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0C46A0"/>
                </a:solidFill>
                <a:latin typeface="Arial"/>
                <a:cs typeface="Arial"/>
              </a:rPr>
              <a:t>Protocol</a:t>
            </a:r>
            <a:r>
              <a:rPr sz="1200" b="1" spc="8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(0</a:t>
            </a:r>
            <a:r>
              <a:rPr sz="1200" b="1" spc="9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–</a:t>
            </a:r>
            <a:r>
              <a:rPr sz="1200" b="1" spc="9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C46A0"/>
                </a:solidFill>
                <a:latin typeface="Arial"/>
                <a:cs typeface="Arial"/>
              </a:rPr>
              <a:t>5</a:t>
            </a:r>
            <a:r>
              <a:rPr sz="1200" b="1" spc="-114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i="1" spc="-25" dirty="0">
                <a:solidFill>
                  <a:srgbClr val="0C46A0"/>
                </a:solidFill>
                <a:latin typeface="Franklin Gothic Medium"/>
                <a:cs typeface="Franklin Gothic Medium"/>
              </a:rPr>
              <a:t>µ</a:t>
            </a:r>
            <a:r>
              <a:rPr sz="1200" b="1" spc="-25" dirty="0">
                <a:solidFill>
                  <a:srgbClr val="0C46A0"/>
                </a:solidFill>
                <a:latin typeface="Arial"/>
                <a:cs typeface="Arial"/>
              </a:rPr>
              <a:t>s)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737" y="1065682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6181" y="938451"/>
            <a:ext cx="2294255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5299"/>
              </a:lnSpc>
              <a:spcBef>
                <a:spcPts val="100"/>
              </a:spcBef>
            </a:pPr>
            <a:r>
              <a:rPr sz="1100" i="1" dirty="0">
                <a:latin typeface="Arial"/>
                <a:cs typeface="Arial"/>
              </a:rPr>
              <a:t>V</a:t>
            </a:r>
            <a:r>
              <a:rPr sz="1200" i="1" baseline="-10416" dirty="0">
                <a:latin typeface="Arial"/>
                <a:cs typeface="Arial"/>
              </a:rPr>
              <a:t>target</a:t>
            </a:r>
            <a:r>
              <a:rPr sz="1200" i="1" spc="30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PWL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sources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pulse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each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cell </a:t>
            </a:r>
            <a:r>
              <a:rPr sz="1100" spc="-40" dirty="0">
                <a:latin typeface="Arial MT"/>
                <a:cs typeface="Arial MT"/>
              </a:rPr>
              <a:t>Comparator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charges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spc="202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Arial MT"/>
                <a:cs typeface="Arial MT"/>
              </a:rPr>
              <a:t>toward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i="1" spc="-10" dirty="0">
                <a:latin typeface="Arial"/>
                <a:cs typeface="Arial"/>
              </a:rPr>
              <a:t>V</a:t>
            </a:r>
            <a:r>
              <a:rPr sz="1200" i="1" spc="-15" baseline="-10416" dirty="0">
                <a:latin typeface="Arial"/>
                <a:cs typeface="Arial"/>
              </a:rPr>
              <a:t>target </a:t>
            </a:r>
            <a:r>
              <a:rPr sz="1100" spc="-25" dirty="0">
                <a:latin typeface="Arial MT"/>
                <a:cs typeface="Arial MT"/>
              </a:rPr>
              <a:t>Switch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opens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when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200" i="1" baseline="-10416" dirty="0">
                <a:latin typeface="Arial"/>
                <a:cs typeface="Arial"/>
              </a:rPr>
              <a:t>g</a:t>
            </a:r>
            <a:r>
              <a:rPr sz="1200" i="1" spc="247" baseline="-10416" dirty="0">
                <a:latin typeface="Arial"/>
                <a:cs typeface="Arial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i="1" spc="-10" dirty="0">
                <a:latin typeface="Arial"/>
                <a:cs typeface="Arial"/>
              </a:rPr>
              <a:t>V</a:t>
            </a:r>
            <a:r>
              <a:rPr sz="1200" i="1" spc="-15" baseline="-10416" dirty="0">
                <a:latin typeface="Arial"/>
                <a:cs typeface="Arial"/>
              </a:rPr>
              <a:t>target </a:t>
            </a:r>
            <a:r>
              <a:rPr sz="1100" spc="-20" dirty="0">
                <a:latin typeface="Arial MT"/>
                <a:cs typeface="Arial MT"/>
              </a:rPr>
              <a:t>Weight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locked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non-</a:t>
            </a:r>
            <a:r>
              <a:rPr sz="1100" spc="-25" dirty="0">
                <a:latin typeface="Arial MT"/>
                <a:cs typeface="Arial MT"/>
              </a:rPr>
              <a:t>volatilely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i="1" spc="-25" dirty="0">
                <a:latin typeface="Arial"/>
                <a:cs typeface="Arial"/>
              </a:rPr>
              <a:t>C</a:t>
            </a:r>
            <a:r>
              <a:rPr sz="1200" i="1" spc="-37" baseline="-10416" dirty="0">
                <a:latin typeface="Arial"/>
                <a:cs typeface="Arial"/>
              </a:rPr>
              <a:t>m</a:t>
            </a:r>
            <a:endParaRPr sz="1200" baseline="-10416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737" y="127571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9737" y="1485747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737" y="1695780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4493" y="1988258"/>
            <a:ext cx="193293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0" dirty="0">
                <a:solidFill>
                  <a:srgbClr val="0C46A0"/>
                </a:solidFill>
                <a:latin typeface="Arial"/>
                <a:cs typeface="Arial"/>
              </a:rPr>
              <a:t>Capacitor</a:t>
            </a:r>
            <a:r>
              <a:rPr sz="1200" b="1" spc="-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C46A0"/>
                </a:solidFill>
                <a:latin typeface="Arial"/>
                <a:cs typeface="Arial"/>
              </a:rPr>
              <a:t>Voltage</a:t>
            </a: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40" dirty="0">
                <a:solidFill>
                  <a:srgbClr val="0C46A0"/>
                </a:solidFill>
                <a:latin typeface="Arial"/>
                <a:cs typeface="Arial"/>
              </a:rPr>
              <a:t>Behavior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9737" y="2370416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86181" y="2286963"/>
            <a:ext cx="176783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latin typeface="Arial MT"/>
                <a:cs typeface="Arial MT"/>
              </a:rPr>
              <a:t>0–5</a:t>
            </a:r>
            <a:r>
              <a:rPr sz="1100" spc="-125" dirty="0">
                <a:latin typeface="Arial MT"/>
                <a:cs typeface="Arial MT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µ</a:t>
            </a:r>
            <a:r>
              <a:rPr sz="1100" spc="-10" dirty="0">
                <a:latin typeface="Arial MT"/>
                <a:cs typeface="Arial MT"/>
              </a:rPr>
              <a:t>s: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spc="225" baseline="-10416" dirty="0">
                <a:latin typeface="Arial"/>
                <a:cs typeface="Arial"/>
              </a:rPr>
              <a:t> </a:t>
            </a:r>
            <a:r>
              <a:rPr sz="1100" spc="-80" dirty="0">
                <a:latin typeface="Arial MT"/>
                <a:cs typeface="Arial MT"/>
              </a:rPr>
              <a:t>charges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i="1" spc="-10" dirty="0">
                <a:latin typeface="Arial"/>
                <a:cs typeface="Arial"/>
              </a:rPr>
              <a:t>V</a:t>
            </a:r>
            <a:r>
              <a:rPr sz="1200" i="1" spc="-15" baseline="-10416" dirty="0">
                <a:latin typeface="Arial"/>
                <a:cs typeface="Arial"/>
              </a:rPr>
              <a:t>target</a:t>
            </a:r>
            <a:endParaRPr sz="1200" baseline="-10416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9737" y="2580449"/>
            <a:ext cx="65265" cy="6526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86181" y="2496996"/>
            <a:ext cx="2296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latin typeface="Arial MT"/>
                <a:cs typeface="Arial MT"/>
              </a:rPr>
              <a:t>5.001</a:t>
            </a:r>
            <a:r>
              <a:rPr sz="1100" spc="-125" dirty="0">
                <a:latin typeface="Arial MT"/>
                <a:cs typeface="Arial MT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µ</a:t>
            </a:r>
            <a:r>
              <a:rPr sz="1100" spc="-10" dirty="0">
                <a:latin typeface="Arial MT"/>
                <a:cs typeface="Arial MT"/>
              </a:rPr>
              <a:t>s: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200" i="1" baseline="-10416" dirty="0">
                <a:latin typeface="Arial"/>
                <a:cs typeface="Arial"/>
              </a:rPr>
              <a:t>target</a:t>
            </a:r>
            <a:r>
              <a:rPr sz="1200" i="1" spc="307" baseline="-10416" dirty="0">
                <a:latin typeface="Arial"/>
                <a:cs typeface="Arial"/>
              </a:rPr>
              <a:t> </a:t>
            </a:r>
            <a:r>
              <a:rPr sz="1100" spc="-45" dirty="0">
                <a:latin typeface="Arial MT"/>
                <a:cs typeface="Arial MT"/>
              </a:rPr>
              <a:t>drops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0</a:t>
            </a:r>
            <a:r>
              <a:rPr sz="1100" spc="-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(locked)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23133" y="413610"/>
            <a:ext cx="137731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5" dirty="0">
                <a:solidFill>
                  <a:srgbClr val="E55100"/>
                </a:solidFill>
                <a:latin typeface="Arial"/>
                <a:cs typeface="Arial"/>
              </a:rPr>
              <a:t>Programming</a:t>
            </a:r>
            <a:r>
              <a:rPr sz="1200" b="1" spc="20" dirty="0">
                <a:solidFill>
                  <a:srgbClr val="E55100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E55100"/>
                </a:solidFill>
                <a:latin typeface="Arial"/>
                <a:cs typeface="Arial"/>
              </a:rPr>
              <a:t>Time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23133" y="674355"/>
            <a:ext cx="2588895" cy="535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Arial MT"/>
                <a:cs typeface="Arial MT"/>
              </a:rPr>
              <a:t>Target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resistance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reached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rapidly.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</a:pPr>
            <a:r>
              <a:rPr sz="1100" spc="-75" dirty="0">
                <a:latin typeface="Arial MT"/>
                <a:cs typeface="Arial MT"/>
              </a:rPr>
              <a:t>5</a:t>
            </a:r>
            <a:r>
              <a:rPr sz="1100" spc="-125" dirty="0">
                <a:latin typeface="Arial MT"/>
                <a:cs typeface="Arial MT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µ</a:t>
            </a:r>
            <a:r>
              <a:rPr sz="1100" spc="-60" dirty="0">
                <a:latin typeface="Arial MT"/>
                <a:cs typeface="Arial MT"/>
              </a:rPr>
              <a:t>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training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window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provides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ample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</a:t>
            </a:r>
            <a:r>
              <a:rPr sz="1100" spc="-60" dirty="0">
                <a:latin typeface="Arial MT"/>
                <a:cs typeface="Arial MT"/>
              </a:rPr>
              <a:t>securely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lock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weights.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spc="30" dirty="0">
                <a:latin typeface="Segoe UI Symbol"/>
                <a:cs typeface="Segoe UI Symbol"/>
              </a:rPr>
              <a:t>✓</a:t>
            </a:r>
            <a:endParaRPr sz="1100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23133" y="1356497"/>
            <a:ext cx="23152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0C46A0"/>
                </a:solidFill>
                <a:latin typeface="Arial"/>
                <a:cs typeface="Arial"/>
              </a:rPr>
              <a:t>Circuit</a:t>
            </a:r>
            <a:r>
              <a:rPr sz="1200" b="1" spc="-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0C46A0"/>
                </a:solidFill>
                <a:latin typeface="Arial"/>
                <a:cs typeface="Arial"/>
              </a:rPr>
              <a:t>Design</a:t>
            </a:r>
            <a:r>
              <a:rPr sz="1200" b="1" spc="-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55" dirty="0">
                <a:solidFill>
                  <a:srgbClr val="0C46A0"/>
                </a:solidFill>
                <a:latin typeface="Arial"/>
                <a:cs typeface="Arial"/>
              </a:rPr>
              <a:t>Challenges</a:t>
            </a:r>
            <a:r>
              <a:rPr sz="1200" b="1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45" dirty="0">
                <a:solidFill>
                  <a:srgbClr val="0C46A0"/>
                </a:solidFill>
                <a:latin typeface="Arial"/>
                <a:cs typeface="Arial"/>
              </a:rPr>
              <a:t>Solved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24962" y="1709315"/>
            <a:ext cx="114214" cy="11421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149219" y="169638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00221" y="1655202"/>
            <a:ext cx="2101850" cy="13004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dirty="0">
                <a:latin typeface="Arial"/>
                <a:cs typeface="Arial"/>
              </a:rPr>
              <a:t>OTA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imbalance</a:t>
            </a:r>
            <a:r>
              <a:rPr sz="1100" spc="-35" dirty="0">
                <a:latin typeface="Arial MT"/>
                <a:cs typeface="Arial MT"/>
              </a:rPr>
              <a:t>: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2nd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stage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PMOS </a:t>
            </a:r>
            <a:r>
              <a:rPr sz="1100" dirty="0">
                <a:latin typeface="Arial MT"/>
                <a:cs typeface="Arial MT"/>
              </a:rPr>
              <a:t>width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increased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4</a:t>
            </a:r>
            <a:r>
              <a:rPr sz="1100" i="1" spc="-20" dirty="0">
                <a:latin typeface="Verdana"/>
                <a:cs typeface="Verdana"/>
              </a:rPr>
              <a:t>µ</a:t>
            </a:r>
            <a:r>
              <a:rPr sz="1100" spc="-20" dirty="0">
                <a:latin typeface="Arial MT"/>
                <a:cs typeface="Arial MT"/>
              </a:rPr>
              <a:t>m.</a:t>
            </a:r>
            <a:endParaRPr sz="1100">
              <a:latin typeface="Arial MT"/>
              <a:cs typeface="Arial MT"/>
            </a:endParaRPr>
          </a:p>
          <a:p>
            <a:pPr marL="12700" marR="24765">
              <a:lnSpc>
                <a:spcPct val="102600"/>
              </a:lnSpc>
              <a:spcBef>
                <a:spcPts val="300"/>
              </a:spcBef>
            </a:pPr>
            <a:r>
              <a:rPr sz="1100" b="1" dirty="0">
                <a:latin typeface="Arial"/>
                <a:cs typeface="Arial"/>
              </a:rPr>
              <a:t>Virtual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ground</a:t>
            </a:r>
            <a:r>
              <a:rPr sz="1100" spc="-40" dirty="0">
                <a:latin typeface="Arial MT"/>
                <a:cs typeface="Arial MT"/>
              </a:rPr>
              <a:t>: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Separate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Vm </a:t>
            </a:r>
            <a:r>
              <a:rPr sz="1100" spc="-55" dirty="0">
                <a:latin typeface="Arial MT"/>
                <a:cs typeface="Arial MT"/>
              </a:rPr>
              <a:t>summing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node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implements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crossbar </a:t>
            </a:r>
            <a:r>
              <a:rPr sz="1100" spc="-10" dirty="0">
                <a:latin typeface="Arial MT"/>
                <a:cs typeface="Arial MT"/>
              </a:rPr>
              <a:t>properly.</a:t>
            </a:r>
            <a:endParaRPr sz="1100">
              <a:latin typeface="Arial MT"/>
              <a:cs typeface="Arial MT"/>
            </a:endParaRPr>
          </a:p>
          <a:p>
            <a:pPr marL="12700" marR="21590">
              <a:lnSpc>
                <a:spcPct val="102600"/>
              </a:lnSpc>
              <a:spcBef>
                <a:spcPts val="300"/>
              </a:spcBef>
            </a:pPr>
            <a:r>
              <a:rPr sz="1100" b="1" spc="-20" dirty="0">
                <a:latin typeface="Arial"/>
                <a:cs typeface="Arial"/>
              </a:rPr>
              <a:t>Switch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topology</a:t>
            </a:r>
            <a:r>
              <a:rPr sz="1100" spc="-30" dirty="0">
                <a:latin typeface="Arial MT"/>
                <a:cs typeface="Arial MT"/>
              </a:rPr>
              <a:t>: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Complementary </a:t>
            </a:r>
            <a:r>
              <a:rPr sz="1100" spc="-85" dirty="0">
                <a:latin typeface="Arial MT"/>
                <a:cs typeface="Arial MT"/>
              </a:rPr>
              <a:t>pass-</a:t>
            </a:r>
            <a:r>
              <a:rPr sz="1100" spc="-70" dirty="0">
                <a:latin typeface="Arial MT"/>
                <a:cs typeface="Arial MT"/>
              </a:rPr>
              <a:t>gates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ensure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full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weight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swing.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24962" y="2091420"/>
            <a:ext cx="114214" cy="11421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149219" y="207849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24962" y="2645610"/>
            <a:ext cx="114214" cy="11421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149219" y="263267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5" name="object 25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Results:</a:t>
            </a:r>
            <a:r>
              <a:rPr spc="65" dirty="0"/>
              <a:t> </a:t>
            </a:r>
            <a:r>
              <a:rPr spc="-20" dirty="0"/>
              <a:t>Simulation</a:t>
            </a:r>
            <a:r>
              <a:rPr spc="-55" dirty="0"/>
              <a:t> Waveforms </a:t>
            </a:r>
            <a:r>
              <a:rPr dirty="0"/>
              <a:t>(Pattern</a:t>
            </a:r>
            <a:r>
              <a:rPr spc="-55" dirty="0"/>
              <a:t> </a:t>
            </a:r>
            <a:r>
              <a:rPr spc="-10" dirty="0"/>
              <a:t>Recall)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3697" y="543076"/>
            <a:ext cx="491236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1" spc="-30" dirty="0">
                <a:latin typeface="Arial"/>
                <a:cs typeface="Arial"/>
              </a:rPr>
              <a:t>Transient </a:t>
            </a:r>
            <a:r>
              <a:rPr sz="1100" b="1" spc="-70" dirty="0">
                <a:latin typeface="Arial"/>
                <a:cs typeface="Arial"/>
              </a:rPr>
              <a:t>Response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(10</a:t>
            </a:r>
            <a:r>
              <a:rPr sz="1100" b="1" spc="-105" dirty="0">
                <a:latin typeface="Arial"/>
                <a:cs typeface="Arial"/>
              </a:rPr>
              <a:t> </a:t>
            </a:r>
            <a:r>
              <a:rPr sz="1100" i="1" spc="-45" dirty="0">
                <a:latin typeface="Verdana"/>
                <a:cs typeface="Verdana"/>
              </a:rPr>
              <a:t>µ</a:t>
            </a:r>
            <a:r>
              <a:rPr sz="1100" b="1" spc="-45" dirty="0">
                <a:latin typeface="Arial"/>
                <a:cs typeface="Arial"/>
              </a:rPr>
              <a:t>s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–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40</a:t>
            </a:r>
            <a:r>
              <a:rPr sz="1100" b="1" spc="-110" dirty="0">
                <a:latin typeface="Arial"/>
                <a:cs typeface="Arial"/>
              </a:rPr>
              <a:t> </a:t>
            </a:r>
            <a:r>
              <a:rPr sz="1100" i="1" spc="-45" dirty="0">
                <a:latin typeface="Verdana"/>
                <a:cs typeface="Verdana"/>
              </a:rPr>
              <a:t>µ</a:t>
            </a:r>
            <a:r>
              <a:rPr sz="1100" b="1" spc="-45" dirty="0">
                <a:latin typeface="Arial"/>
                <a:cs typeface="Arial"/>
              </a:rPr>
              <a:t>s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Inference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Window)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 MT"/>
                <a:cs typeface="Arial MT"/>
              </a:rPr>
              <a:t>Input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Pattern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A: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[+1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dirty="0">
                <a:latin typeface="Arial MT"/>
                <a:cs typeface="Arial MT"/>
              </a:rPr>
              <a:t>+1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dirty="0">
                <a:latin typeface="Arial MT"/>
                <a:cs typeface="Arial MT"/>
              </a:rPr>
              <a:t>+1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spc="-75" dirty="0">
                <a:latin typeface="Lucida Sans Unicode"/>
                <a:cs typeface="Lucida Sans Unicode"/>
              </a:rPr>
              <a:t>−</a:t>
            </a:r>
            <a:r>
              <a:rPr sz="1100" spc="-75" dirty="0">
                <a:latin typeface="Arial MT"/>
                <a:cs typeface="Arial MT"/>
              </a:rPr>
              <a:t>1</a:t>
            </a:r>
            <a:r>
              <a:rPr sz="1100" i="1" spc="-7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dirty="0">
                <a:latin typeface="Arial MT"/>
                <a:cs typeface="Arial MT"/>
              </a:rPr>
              <a:t>+1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−</a:t>
            </a:r>
            <a:r>
              <a:rPr sz="1100" dirty="0">
                <a:latin typeface="Arial MT"/>
                <a:cs typeface="Arial MT"/>
              </a:rPr>
              <a:t>1]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2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 MT"/>
                <a:cs typeface="Arial MT"/>
              </a:rPr>
              <a:t>Expected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B: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[</a:t>
            </a:r>
            <a:r>
              <a:rPr sz="1100" spc="-55" dirty="0">
                <a:latin typeface="Lucida Sans Unicode"/>
                <a:cs typeface="Lucida Sans Unicode"/>
              </a:rPr>
              <a:t>−</a:t>
            </a:r>
            <a:r>
              <a:rPr sz="1100" spc="-55" dirty="0">
                <a:latin typeface="Arial MT"/>
                <a:cs typeface="Arial MT"/>
              </a:rPr>
              <a:t>1</a:t>
            </a:r>
            <a:r>
              <a:rPr sz="1100" i="1" spc="-55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dirty="0">
                <a:latin typeface="Arial MT"/>
                <a:cs typeface="Arial MT"/>
              </a:rPr>
              <a:t>+1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spc="-75" dirty="0">
                <a:latin typeface="Lucida Sans Unicode"/>
                <a:cs typeface="Lucida Sans Unicode"/>
              </a:rPr>
              <a:t>−</a:t>
            </a:r>
            <a:r>
              <a:rPr sz="1100" spc="-75" dirty="0">
                <a:latin typeface="Arial MT"/>
                <a:cs typeface="Arial MT"/>
              </a:rPr>
              <a:t>1</a:t>
            </a:r>
            <a:r>
              <a:rPr sz="1100" i="1" spc="-7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dirty="0">
                <a:latin typeface="Arial MT"/>
                <a:cs typeface="Arial MT"/>
              </a:rPr>
              <a:t>+1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dirty="0">
                <a:latin typeface="Arial MT"/>
                <a:cs typeface="Arial MT"/>
              </a:rPr>
              <a:t>+1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25" dirty="0">
                <a:latin typeface="Arial MT"/>
                <a:cs typeface="Arial MT"/>
              </a:rPr>
              <a:t>+1]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9918" y="1041505"/>
            <a:ext cx="197485" cy="40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" b="1" spc="-25" dirty="0">
                <a:latin typeface="Cambria"/>
                <a:cs typeface="Cambria"/>
              </a:rPr>
              <a:t>BRM</a:t>
            </a:r>
            <a:r>
              <a:rPr sz="100" b="1" spc="85" dirty="0">
                <a:latin typeface="Cambria"/>
                <a:cs typeface="Cambria"/>
              </a:rPr>
              <a:t> </a:t>
            </a:r>
            <a:r>
              <a:rPr sz="100" b="1" spc="-20" dirty="0">
                <a:latin typeface="Cambria"/>
                <a:cs typeface="Cambria"/>
              </a:rPr>
              <a:t>Erennhar_BamP</a:t>
            </a:r>
            <a:r>
              <a:rPr sz="100" b="1" spc="85" dirty="0">
                <a:latin typeface="Cambria"/>
                <a:cs typeface="Cambria"/>
              </a:rPr>
              <a:t> </a:t>
            </a:r>
            <a:r>
              <a:rPr sz="100" b="1" spc="-10" dirty="0">
                <a:latin typeface="Cambria"/>
                <a:cs typeface="Cambria"/>
              </a:rPr>
              <a:t>nchematic</a:t>
            </a:r>
            <a:endParaRPr sz="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4886" y="1041505"/>
            <a:ext cx="184785" cy="40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" b="1" spc="-10" dirty="0">
                <a:latin typeface="Cambria"/>
                <a:cs typeface="Cambria"/>
              </a:rPr>
              <a:t>łł"EE"⟡P</a:t>
            </a:r>
            <a:r>
              <a:rPr sz="100" b="1" spc="85" dirty="0">
                <a:latin typeface="Cambria"/>
                <a:cs typeface="Cambria"/>
              </a:rPr>
              <a:t> </a:t>
            </a:r>
            <a:r>
              <a:rPr sz="100" b="1" dirty="0">
                <a:latin typeface="Cambria"/>
                <a:cs typeface="Cambria"/>
              </a:rPr>
              <a:t>4at</a:t>
            </a:r>
            <a:r>
              <a:rPr sz="100" b="1" spc="25" dirty="0">
                <a:latin typeface="Cambria"/>
                <a:cs typeface="Cambria"/>
              </a:rPr>
              <a:t> </a:t>
            </a:r>
            <a:r>
              <a:rPr sz="100" b="1" spc="-10" dirty="0">
                <a:latin typeface="Cambria"/>
                <a:cs typeface="Cambria"/>
              </a:rPr>
              <a:t>Rpr</a:t>
            </a:r>
            <a:r>
              <a:rPr sz="100" b="1" spc="30" dirty="0">
                <a:latin typeface="Cambria"/>
                <a:cs typeface="Cambria"/>
              </a:rPr>
              <a:t> </a:t>
            </a:r>
            <a:r>
              <a:rPr sz="100" b="1" dirty="0">
                <a:latin typeface="Cambria"/>
                <a:cs typeface="Cambria"/>
              </a:rPr>
              <a:t>ł8</a:t>
            </a:r>
            <a:r>
              <a:rPr sz="100" b="1" spc="30" dirty="0">
                <a:latin typeface="Cambria"/>
                <a:cs typeface="Cambria"/>
              </a:rPr>
              <a:t> </a:t>
            </a:r>
            <a:r>
              <a:rPr sz="100" b="1" spc="-20" dirty="0">
                <a:latin typeface="Cambria"/>
                <a:cs typeface="Cambria"/>
              </a:rPr>
              <a:t>P⟡Ph</a:t>
            </a:r>
            <a:endParaRPr sz="10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10341" y="1078096"/>
            <a:ext cx="895985" cy="0"/>
          </a:xfrm>
          <a:custGeom>
            <a:avLst/>
            <a:gdLst/>
            <a:ahLst/>
            <a:cxnLst/>
            <a:rect l="l" t="t" r="r" b="b"/>
            <a:pathLst>
              <a:path w="895985">
                <a:moveTo>
                  <a:pt x="0" y="0"/>
                </a:moveTo>
                <a:lnTo>
                  <a:pt x="89570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7641" y="1083127"/>
            <a:ext cx="167640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dirty="0">
                <a:latin typeface="Cambria"/>
                <a:cs typeface="Cambria"/>
              </a:rPr>
              <a:t>Trannient</a:t>
            </a:r>
            <a:r>
              <a:rPr sz="100" b="1" spc="100" dirty="0">
                <a:latin typeface="Cambria"/>
                <a:cs typeface="Cambria"/>
              </a:rPr>
              <a:t> </a:t>
            </a:r>
            <a:r>
              <a:rPr sz="100" b="1" spc="-10" dirty="0">
                <a:latin typeface="Cambria"/>
                <a:cs typeface="Cambria"/>
              </a:rPr>
              <a:t>Renpenne</a:t>
            </a:r>
            <a:endParaRPr sz="10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09389" y="1113352"/>
            <a:ext cx="897890" cy="156845"/>
            <a:chOff x="1009389" y="1113352"/>
            <a:chExt cx="897890" cy="156845"/>
          </a:xfrm>
        </p:grpSpPr>
        <p:sp>
          <p:nvSpPr>
            <p:cNvPr id="9" name="object 9"/>
            <p:cNvSpPr/>
            <p:nvPr/>
          </p:nvSpPr>
          <p:spPr>
            <a:xfrm>
              <a:off x="1010341" y="1114305"/>
              <a:ext cx="895985" cy="0"/>
            </a:xfrm>
            <a:custGeom>
              <a:avLst/>
              <a:gdLst/>
              <a:ahLst/>
              <a:cxnLst/>
              <a:rect l="l" t="t" r="r" b="b"/>
              <a:pathLst>
                <a:path w="895985">
                  <a:moveTo>
                    <a:pt x="0" y="0"/>
                  </a:moveTo>
                  <a:lnTo>
                    <a:pt x="8957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2021" y="1142488"/>
              <a:ext cx="211454" cy="0"/>
            </a:xfrm>
            <a:custGeom>
              <a:avLst/>
              <a:gdLst/>
              <a:ahLst/>
              <a:cxnLst/>
              <a:rect l="l" t="t" r="r" b="b"/>
              <a:pathLst>
                <a:path w="211455">
                  <a:moveTo>
                    <a:pt x="0" y="0"/>
                  </a:moveTo>
                  <a:lnTo>
                    <a:pt x="2109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00760" y="1264554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00760" y="1259701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00760" y="1255035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00760" y="125018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00760" y="1240663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00760" y="1235997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00760" y="1231144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00760" y="1226478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00760" y="1216959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00760" y="1212106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00760" y="1207440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00760" y="1202588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00760" y="1193069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00760" y="1188403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300760" y="1183550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0760" y="1178884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00760" y="1169365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00760" y="116451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00760" y="1159846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300760" y="1154993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30809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50220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69445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88856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427678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447089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466500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85724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524546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43957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63368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582779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621415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640826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660237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679648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718283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737694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757105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776516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815338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834562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853973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873384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300760" y="1269220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300760" y="1245516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300760" y="1221625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300760" y="119792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300760" y="1174031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300760" y="1150327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311398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408267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505135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602004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699059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795927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92795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300200" y="1221625"/>
              <a:ext cx="593090" cy="38100"/>
            </a:xfrm>
            <a:custGeom>
              <a:avLst/>
              <a:gdLst/>
              <a:ahLst/>
              <a:cxnLst/>
              <a:rect l="l" t="t" r="r" b="b"/>
              <a:pathLst>
                <a:path w="593089" h="38100">
                  <a:moveTo>
                    <a:pt x="0" y="19037"/>
                  </a:moveTo>
                  <a:lnTo>
                    <a:pt x="11012" y="19037"/>
                  </a:lnTo>
                  <a:lnTo>
                    <a:pt x="11198" y="15118"/>
                  </a:lnTo>
                  <a:lnTo>
                    <a:pt x="11571" y="10265"/>
                  </a:lnTo>
                  <a:lnTo>
                    <a:pt x="11571" y="8958"/>
                  </a:lnTo>
                  <a:lnTo>
                    <a:pt x="11758" y="6719"/>
                  </a:lnTo>
                  <a:lnTo>
                    <a:pt x="11758" y="5226"/>
                  </a:lnTo>
                  <a:lnTo>
                    <a:pt x="11945" y="3546"/>
                  </a:lnTo>
                  <a:lnTo>
                    <a:pt x="11945" y="1866"/>
                  </a:lnTo>
                  <a:lnTo>
                    <a:pt x="12131" y="0"/>
                  </a:lnTo>
                  <a:lnTo>
                    <a:pt x="398858" y="0"/>
                  </a:lnTo>
                  <a:lnTo>
                    <a:pt x="398858" y="4106"/>
                  </a:lnTo>
                  <a:lnTo>
                    <a:pt x="399045" y="10265"/>
                  </a:lnTo>
                  <a:lnTo>
                    <a:pt x="399232" y="12691"/>
                  </a:lnTo>
                  <a:lnTo>
                    <a:pt x="399232" y="16984"/>
                  </a:lnTo>
                  <a:lnTo>
                    <a:pt x="399418" y="20344"/>
                  </a:lnTo>
                  <a:lnTo>
                    <a:pt x="399418" y="24263"/>
                  </a:lnTo>
                  <a:lnTo>
                    <a:pt x="399605" y="27809"/>
                  </a:lnTo>
                  <a:lnTo>
                    <a:pt x="399605" y="33222"/>
                  </a:lnTo>
                  <a:lnTo>
                    <a:pt x="399792" y="35089"/>
                  </a:lnTo>
                  <a:lnTo>
                    <a:pt x="399792" y="38075"/>
                  </a:lnTo>
                  <a:lnTo>
                    <a:pt x="592782" y="38075"/>
                  </a:lnTo>
                </a:path>
              </a:pathLst>
            </a:custGeom>
            <a:ln w="3175">
              <a:solidFill>
                <a:srgbClr val="BD40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0714" y="1152007"/>
              <a:ext cx="13998" cy="9332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5241" y="1153034"/>
              <a:ext cx="13998" cy="9332"/>
            </a:xfrm>
            <a:prstGeom prst="rect">
              <a:avLst/>
            </a:prstGeom>
          </p:spPr>
        </p:pic>
      </p:grpSp>
      <p:sp>
        <p:nvSpPr>
          <p:cNvPr id="71" name="object 71"/>
          <p:cNvSpPr/>
          <p:nvPr/>
        </p:nvSpPr>
        <p:spPr>
          <a:xfrm>
            <a:off x="1287881" y="1149954"/>
            <a:ext cx="0" cy="120014"/>
          </a:xfrm>
          <a:custGeom>
            <a:avLst/>
            <a:gdLst/>
            <a:ahLst/>
            <a:cxnLst/>
            <a:rect l="l" t="t" r="r" b="b"/>
            <a:pathLst>
              <a:path h="120015">
                <a:moveTo>
                  <a:pt x="0" y="0"/>
                </a:moveTo>
                <a:lnTo>
                  <a:pt x="0" y="119638"/>
                </a:lnTo>
              </a:path>
            </a:pathLst>
          </a:custGeom>
          <a:ln w="746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1214641" y="1178767"/>
            <a:ext cx="41275" cy="62865"/>
          </a:xfrm>
          <a:prstGeom prst="rect">
            <a:avLst/>
          </a:prstGeom>
        </p:spPr>
        <p:txBody>
          <a:bodyPr vert="vert270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" b="1" dirty="0">
                <a:latin typeface="Tahoma"/>
                <a:cs typeface="Tahoma"/>
              </a:rPr>
              <a:t>V</a:t>
            </a:r>
            <a:r>
              <a:rPr sz="100" b="1" spc="15" dirty="0">
                <a:latin typeface="Tahoma"/>
                <a:cs typeface="Tahoma"/>
              </a:rPr>
              <a:t> </a:t>
            </a:r>
            <a:r>
              <a:rPr sz="100" b="1" spc="-25" dirty="0">
                <a:latin typeface="Tahoma"/>
                <a:cs typeface="Tahoma"/>
              </a:rPr>
              <a:t>(V)</a:t>
            </a:r>
            <a:endParaRPr sz="100">
              <a:latin typeface="Tahoma"/>
              <a:cs typeface="Tahoma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287881" y="1283218"/>
            <a:ext cx="0" cy="120014"/>
          </a:xfrm>
          <a:custGeom>
            <a:avLst/>
            <a:gdLst/>
            <a:ahLst/>
            <a:cxnLst/>
            <a:rect l="l" t="t" r="r" b="b"/>
            <a:pathLst>
              <a:path h="120015">
                <a:moveTo>
                  <a:pt x="0" y="0"/>
                </a:moveTo>
                <a:lnTo>
                  <a:pt x="0" y="119452"/>
                </a:lnTo>
              </a:path>
            </a:pathLst>
          </a:custGeom>
          <a:ln w="746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4" name="object 74"/>
          <p:cNvGrpSpPr/>
          <p:nvPr/>
        </p:nvGrpSpPr>
        <p:grpSpPr>
          <a:xfrm>
            <a:off x="1010714" y="1282956"/>
            <a:ext cx="883919" cy="254000"/>
            <a:chOff x="1010714" y="1282956"/>
            <a:chExt cx="883919" cy="254000"/>
          </a:xfrm>
        </p:grpSpPr>
        <p:sp>
          <p:nvSpPr>
            <p:cNvPr id="75" name="object 75"/>
            <p:cNvSpPr/>
            <p:nvPr/>
          </p:nvSpPr>
          <p:spPr>
            <a:xfrm>
              <a:off x="1300760" y="1397631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300760" y="1392778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300760" y="138811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300760" y="1383259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300760" y="1373740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300760" y="1369074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300760" y="136422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300760" y="1359555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300760" y="1350037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300760" y="1345371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300760" y="1340518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300760" y="133585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300760" y="1326333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300760" y="1321667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300760" y="1316814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300760" y="1312148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300760" y="1302629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300760" y="1297776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300760" y="1293110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300760" y="1288257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330809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350220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369445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388856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427678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447089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466500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485724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524546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543957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563368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582779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621415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640826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660237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679648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718283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737694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757105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776516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815338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834562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853973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873384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300760" y="1402297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300760" y="1378593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300760" y="1354889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300760" y="1330999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1300760" y="1307295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300760" y="1283591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311398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1408267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505135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602004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699059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795927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1892795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1300200" y="1354889"/>
              <a:ext cx="593090" cy="38100"/>
            </a:xfrm>
            <a:custGeom>
              <a:avLst/>
              <a:gdLst/>
              <a:ahLst/>
              <a:cxnLst/>
              <a:rect l="l" t="t" r="r" b="b"/>
              <a:pathLst>
                <a:path w="593089" h="38100">
                  <a:moveTo>
                    <a:pt x="0" y="19037"/>
                  </a:moveTo>
                  <a:lnTo>
                    <a:pt x="11012" y="19037"/>
                  </a:lnTo>
                  <a:lnTo>
                    <a:pt x="11198" y="14931"/>
                  </a:lnTo>
                  <a:lnTo>
                    <a:pt x="11571" y="10265"/>
                  </a:lnTo>
                  <a:lnTo>
                    <a:pt x="11571" y="8958"/>
                  </a:lnTo>
                  <a:lnTo>
                    <a:pt x="11758" y="6532"/>
                  </a:lnTo>
                  <a:lnTo>
                    <a:pt x="11758" y="5039"/>
                  </a:lnTo>
                  <a:lnTo>
                    <a:pt x="11945" y="3546"/>
                  </a:lnTo>
                  <a:lnTo>
                    <a:pt x="11945" y="1679"/>
                  </a:lnTo>
                  <a:lnTo>
                    <a:pt x="12131" y="0"/>
                  </a:lnTo>
                  <a:lnTo>
                    <a:pt x="398858" y="0"/>
                  </a:lnTo>
                  <a:lnTo>
                    <a:pt x="398858" y="3919"/>
                  </a:lnTo>
                  <a:lnTo>
                    <a:pt x="399045" y="10078"/>
                  </a:lnTo>
                  <a:lnTo>
                    <a:pt x="399232" y="12691"/>
                  </a:lnTo>
                  <a:lnTo>
                    <a:pt x="399232" y="16797"/>
                  </a:lnTo>
                  <a:lnTo>
                    <a:pt x="399418" y="20157"/>
                  </a:lnTo>
                  <a:lnTo>
                    <a:pt x="399418" y="24077"/>
                  </a:lnTo>
                  <a:lnTo>
                    <a:pt x="399605" y="27623"/>
                  </a:lnTo>
                  <a:lnTo>
                    <a:pt x="399605" y="33036"/>
                  </a:lnTo>
                  <a:lnTo>
                    <a:pt x="399792" y="34902"/>
                  </a:lnTo>
                  <a:lnTo>
                    <a:pt x="399792" y="38075"/>
                  </a:lnTo>
                  <a:lnTo>
                    <a:pt x="592782" y="38075"/>
                  </a:lnTo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3" name="object 1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0714" y="1285271"/>
              <a:ext cx="13998" cy="9332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5241" y="1286298"/>
              <a:ext cx="13998" cy="9332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1300760" y="152884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1300760" y="1521936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1300760" y="1515217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1300760" y="1508311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300760" y="149823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300760" y="1491326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300760" y="1481248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1300760" y="147434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1300760" y="1464263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1300760" y="1457357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1300760" y="1447278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1300760" y="144037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300760" y="1430294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300760" y="1423388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1330809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1350220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1369445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388856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427678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447089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1466500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1485724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524546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1543957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563368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1582779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1621415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1640826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1660237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1679648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1718283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1737694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1757105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1776516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1815338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1834562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1853973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1873384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1300760" y="1535561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1300760" y="1518576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1300760" y="150159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1300760" y="1484607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1300760" y="1467623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1300760" y="1450638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1300760" y="1433653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1300760" y="1416669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1311398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1408267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1505135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1602004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1699059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1795927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1892795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1300200" y="1501592"/>
              <a:ext cx="593090" cy="27305"/>
            </a:xfrm>
            <a:custGeom>
              <a:avLst/>
              <a:gdLst/>
              <a:ahLst/>
              <a:cxnLst/>
              <a:rect l="l" t="t" r="r" b="b"/>
              <a:pathLst>
                <a:path w="593089" h="27305">
                  <a:moveTo>
                    <a:pt x="0" y="27250"/>
                  </a:moveTo>
                  <a:lnTo>
                    <a:pt x="11012" y="27250"/>
                  </a:lnTo>
                  <a:lnTo>
                    <a:pt x="11198" y="21650"/>
                  </a:lnTo>
                  <a:lnTo>
                    <a:pt x="11571" y="14744"/>
                  </a:lnTo>
                  <a:lnTo>
                    <a:pt x="11571" y="12878"/>
                  </a:lnTo>
                  <a:lnTo>
                    <a:pt x="11758" y="9518"/>
                  </a:lnTo>
                  <a:lnTo>
                    <a:pt x="11758" y="7465"/>
                  </a:lnTo>
                  <a:lnTo>
                    <a:pt x="11945" y="5039"/>
                  </a:lnTo>
                  <a:lnTo>
                    <a:pt x="11945" y="2613"/>
                  </a:lnTo>
                  <a:lnTo>
                    <a:pt x="12131" y="0"/>
                  </a:lnTo>
                  <a:lnTo>
                    <a:pt x="592782" y="0"/>
                  </a:lnTo>
                </a:path>
              </a:pathLst>
            </a:custGeom>
            <a:ln w="3175">
              <a:solidFill>
                <a:srgbClr val="C587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9" name="object 18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0714" y="1418348"/>
              <a:ext cx="13998" cy="9332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5241" y="1419375"/>
              <a:ext cx="13998" cy="9332"/>
            </a:xfrm>
            <a:prstGeom prst="rect">
              <a:avLst/>
            </a:prstGeom>
          </p:spPr>
        </p:pic>
        <p:sp>
          <p:nvSpPr>
            <p:cNvPr id="191" name="object 191"/>
            <p:cNvSpPr/>
            <p:nvPr/>
          </p:nvSpPr>
          <p:spPr>
            <a:xfrm>
              <a:off x="1291241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1284148" y="1535561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70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1284148" y="1518576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70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1284148" y="1501592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70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1284148" y="1484607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70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1284148" y="1467623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70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1284148" y="1450638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70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1284148" y="1433653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70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1284148" y="141666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70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1286575" y="153220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1286575" y="152884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1286575" y="152529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1286575" y="152193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1286575" y="1515217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1286575" y="1511857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1286575" y="150831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1286575" y="150495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1286575" y="149823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1286575" y="149487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1286575" y="149132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1286575" y="1487967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1286575" y="148124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1286575" y="147788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1286575" y="147434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1286575" y="147098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1286575" y="146426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1286575" y="146090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1286575" y="1457357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1286575" y="1453997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1286575" y="144727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1286575" y="1443919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1286575" y="144037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1286575" y="143701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1286575" y="143029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1286575" y="142693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1286575" y="142338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1286575" y="142002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8" name="object 228"/>
          <p:cNvSpPr txBox="1"/>
          <p:nvPr/>
        </p:nvSpPr>
        <p:spPr>
          <a:xfrm>
            <a:off x="1214641" y="1311844"/>
            <a:ext cx="41275" cy="62865"/>
          </a:xfrm>
          <a:prstGeom prst="rect">
            <a:avLst/>
          </a:prstGeom>
        </p:spPr>
        <p:txBody>
          <a:bodyPr vert="vert270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" b="1" dirty="0">
                <a:latin typeface="Tahoma"/>
                <a:cs typeface="Tahoma"/>
              </a:rPr>
              <a:t>V</a:t>
            </a:r>
            <a:r>
              <a:rPr sz="100" b="1" spc="15" dirty="0">
                <a:latin typeface="Tahoma"/>
                <a:cs typeface="Tahoma"/>
              </a:rPr>
              <a:t> </a:t>
            </a:r>
            <a:r>
              <a:rPr sz="100" b="1" spc="-25" dirty="0">
                <a:latin typeface="Tahoma"/>
                <a:cs typeface="Tahoma"/>
              </a:rPr>
              <a:t>(V)</a:t>
            </a:r>
            <a:endParaRPr sz="100">
              <a:latin typeface="Tahoma"/>
              <a:cs typeface="Tahoma"/>
            </a:endParaRPr>
          </a:p>
        </p:txBody>
      </p:sp>
      <p:sp>
        <p:nvSpPr>
          <p:cNvPr id="229" name="object 229"/>
          <p:cNvSpPr txBox="1"/>
          <p:nvPr/>
        </p:nvSpPr>
        <p:spPr>
          <a:xfrm>
            <a:off x="1214641" y="1445108"/>
            <a:ext cx="41275" cy="62865"/>
          </a:xfrm>
          <a:prstGeom prst="rect">
            <a:avLst/>
          </a:prstGeom>
        </p:spPr>
        <p:txBody>
          <a:bodyPr vert="vert270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" b="1" dirty="0">
                <a:latin typeface="Tahoma"/>
                <a:cs typeface="Tahoma"/>
              </a:rPr>
              <a:t>V</a:t>
            </a:r>
            <a:r>
              <a:rPr sz="100" b="1" spc="15" dirty="0">
                <a:latin typeface="Tahoma"/>
                <a:cs typeface="Tahoma"/>
              </a:rPr>
              <a:t> </a:t>
            </a:r>
            <a:r>
              <a:rPr sz="100" b="1" spc="-25" dirty="0">
                <a:latin typeface="Tahoma"/>
                <a:cs typeface="Tahoma"/>
              </a:rPr>
              <a:t>(V)</a:t>
            </a:r>
            <a:endParaRPr sz="100">
              <a:latin typeface="Tahoma"/>
              <a:cs typeface="Tahoma"/>
            </a:endParaRPr>
          </a:p>
        </p:txBody>
      </p:sp>
      <p:sp>
        <p:nvSpPr>
          <p:cNvPr id="230" name="object 230"/>
          <p:cNvSpPr txBox="1"/>
          <p:nvPr/>
        </p:nvSpPr>
        <p:spPr>
          <a:xfrm>
            <a:off x="974294" y="1112551"/>
            <a:ext cx="350520" cy="36004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00" b="1" dirty="0">
                <a:latin typeface="Tahoma"/>
                <a:cs typeface="Tahoma"/>
              </a:rPr>
              <a:t>Name</a:t>
            </a:r>
            <a:r>
              <a:rPr sz="100" b="1" spc="470" dirty="0">
                <a:latin typeface="Tahoma"/>
                <a:cs typeface="Tahoma"/>
              </a:rPr>
              <a:t> </a:t>
            </a:r>
            <a:r>
              <a:rPr sz="100" b="1" dirty="0">
                <a:latin typeface="Tahoma"/>
                <a:cs typeface="Tahoma"/>
              </a:rPr>
              <a:t>Vis</a:t>
            </a:r>
            <a:r>
              <a:rPr sz="100" b="1" spc="315" dirty="0">
                <a:latin typeface="Tahoma"/>
                <a:cs typeface="Tahoma"/>
              </a:rPr>
              <a:t>  </a:t>
            </a:r>
            <a:r>
              <a:rPr sz="100" b="1" spc="-25" dirty="0">
                <a:latin typeface="Tahoma"/>
                <a:cs typeface="Tahoma"/>
              </a:rPr>
              <a:t>V1</a:t>
            </a:r>
            <a:endParaRPr sz="100">
              <a:latin typeface="Tahoma"/>
              <a:cs typeface="Tahoma"/>
            </a:endParaRPr>
          </a:p>
          <a:p>
            <a:pPr marL="53340">
              <a:lnSpc>
                <a:spcPct val="100000"/>
              </a:lnSpc>
              <a:spcBef>
                <a:spcPts val="60"/>
              </a:spcBef>
            </a:pPr>
            <a:r>
              <a:rPr sz="100" b="1" dirty="0">
                <a:latin typeface="Tahoma"/>
                <a:cs typeface="Tahoma"/>
              </a:rPr>
              <a:t>/net6</a:t>
            </a:r>
            <a:r>
              <a:rPr sz="100" b="1" spc="445" dirty="0">
                <a:latin typeface="Tahoma"/>
                <a:cs typeface="Tahoma"/>
              </a:rPr>
              <a:t>  </a:t>
            </a:r>
            <a:r>
              <a:rPr sz="100" b="1" dirty="0">
                <a:latin typeface="Tahoma"/>
                <a:cs typeface="Tahoma"/>
              </a:rPr>
              <a:t>900.0mV</a:t>
            </a:r>
            <a:r>
              <a:rPr sz="100" b="1" spc="180" dirty="0">
                <a:latin typeface="Tahoma"/>
                <a:cs typeface="Tahoma"/>
              </a:rPr>
              <a:t> </a:t>
            </a:r>
            <a:r>
              <a:rPr sz="150" b="1" spc="-30" baseline="27777" dirty="0">
                <a:latin typeface="Tahoma"/>
                <a:cs typeface="Tahoma"/>
              </a:rPr>
              <a:t>1.05</a:t>
            </a:r>
            <a:endParaRPr sz="150" baseline="27777">
              <a:latin typeface="Tahoma"/>
              <a:cs typeface="Tahoma"/>
            </a:endParaRPr>
          </a:p>
          <a:p>
            <a:pPr marR="47625" algn="r">
              <a:lnSpc>
                <a:spcPct val="100000"/>
              </a:lnSpc>
              <a:spcBef>
                <a:spcPts val="25"/>
              </a:spcBef>
            </a:pPr>
            <a:r>
              <a:rPr sz="100" b="1" spc="-25" dirty="0">
                <a:latin typeface="Tahoma"/>
                <a:cs typeface="Tahoma"/>
              </a:rPr>
              <a:t>1.0</a:t>
            </a:r>
            <a:endParaRPr sz="100">
              <a:latin typeface="Tahoma"/>
              <a:cs typeface="Tahoma"/>
            </a:endParaRPr>
          </a:p>
          <a:p>
            <a:pPr marR="47625" algn="r">
              <a:lnSpc>
                <a:spcPct val="100000"/>
              </a:lnSpc>
              <a:spcBef>
                <a:spcPts val="70"/>
              </a:spcBef>
            </a:pPr>
            <a:r>
              <a:rPr sz="100" b="1" spc="-25" dirty="0">
                <a:latin typeface="Tahoma"/>
                <a:cs typeface="Tahoma"/>
              </a:rPr>
              <a:t>.95</a:t>
            </a:r>
            <a:endParaRPr sz="100">
              <a:latin typeface="Tahoma"/>
              <a:cs typeface="Tahoma"/>
            </a:endParaRPr>
          </a:p>
          <a:p>
            <a:pPr marR="55880" algn="r">
              <a:lnSpc>
                <a:spcPct val="100000"/>
              </a:lnSpc>
              <a:spcBef>
                <a:spcPts val="65"/>
              </a:spcBef>
            </a:pPr>
            <a:r>
              <a:rPr sz="100" b="1" spc="-25" dirty="0">
                <a:latin typeface="Tahoma"/>
                <a:cs typeface="Tahoma"/>
              </a:rPr>
              <a:t>.9</a:t>
            </a:r>
            <a:endParaRPr sz="100">
              <a:latin typeface="Tahoma"/>
              <a:cs typeface="Tahoma"/>
            </a:endParaRPr>
          </a:p>
          <a:p>
            <a:pPr marR="47625" algn="r">
              <a:lnSpc>
                <a:spcPct val="100000"/>
              </a:lnSpc>
              <a:spcBef>
                <a:spcPts val="70"/>
              </a:spcBef>
            </a:pPr>
            <a:r>
              <a:rPr sz="100" b="1" spc="-25" dirty="0">
                <a:latin typeface="Tahoma"/>
                <a:cs typeface="Tahoma"/>
              </a:rPr>
              <a:t>.85</a:t>
            </a:r>
            <a:endParaRPr sz="100">
              <a:latin typeface="Tahoma"/>
              <a:cs typeface="Tahoma"/>
            </a:endParaRPr>
          </a:p>
          <a:p>
            <a:pPr marR="55880" algn="r">
              <a:lnSpc>
                <a:spcPct val="100000"/>
              </a:lnSpc>
              <a:spcBef>
                <a:spcPts val="65"/>
              </a:spcBef>
            </a:pPr>
            <a:r>
              <a:rPr sz="100" b="1" spc="-25" dirty="0">
                <a:latin typeface="Tahoma"/>
                <a:cs typeface="Tahoma"/>
              </a:rPr>
              <a:t>.8</a:t>
            </a:r>
            <a:endParaRPr sz="100">
              <a:latin typeface="Tahoma"/>
              <a:cs typeface="Tahoma"/>
            </a:endParaRPr>
          </a:p>
          <a:p>
            <a:pPr marL="53340">
              <a:lnSpc>
                <a:spcPct val="100000"/>
              </a:lnSpc>
              <a:spcBef>
                <a:spcPts val="35"/>
              </a:spcBef>
            </a:pPr>
            <a:r>
              <a:rPr sz="100" b="1" dirty="0">
                <a:latin typeface="Tahoma"/>
                <a:cs typeface="Tahoma"/>
              </a:rPr>
              <a:t>/net5</a:t>
            </a:r>
            <a:r>
              <a:rPr sz="100" b="1" spc="445" dirty="0">
                <a:latin typeface="Tahoma"/>
                <a:cs typeface="Tahoma"/>
              </a:rPr>
              <a:t>  </a:t>
            </a:r>
            <a:r>
              <a:rPr sz="100" b="1" dirty="0">
                <a:latin typeface="Tahoma"/>
                <a:cs typeface="Tahoma"/>
              </a:rPr>
              <a:t>900.0mV</a:t>
            </a:r>
            <a:r>
              <a:rPr sz="100" b="1" spc="180" dirty="0">
                <a:latin typeface="Tahoma"/>
                <a:cs typeface="Tahoma"/>
              </a:rPr>
              <a:t> </a:t>
            </a:r>
            <a:r>
              <a:rPr sz="150" b="1" spc="-30" baseline="27777" dirty="0">
                <a:latin typeface="Tahoma"/>
                <a:cs typeface="Tahoma"/>
              </a:rPr>
              <a:t>1.05</a:t>
            </a:r>
            <a:endParaRPr sz="150" baseline="27777">
              <a:latin typeface="Tahoma"/>
              <a:cs typeface="Tahoma"/>
            </a:endParaRPr>
          </a:p>
          <a:p>
            <a:pPr marR="47625" algn="r">
              <a:lnSpc>
                <a:spcPct val="100000"/>
              </a:lnSpc>
              <a:spcBef>
                <a:spcPts val="25"/>
              </a:spcBef>
            </a:pPr>
            <a:r>
              <a:rPr sz="100" b="1" spc="-25" dirty="0">
                <a:latin typeface="Tahoma"/>
                <a:cs typeface="Tahoma"/>
              </a:rPr>
              <a:t>1.0</a:t>
            </a:r>
            <a:endParaRPr sz="100">
              <a:latin typeface="Tahoma"/>
              <a:cs typeface="Tahoma"/>
            </a:endParaRPr>
          </a:p>
          <a:p>
            <a:pPr marR="47625" algn="r">
              <a:lnSpc>
                <a:spcPct val="100000"/>
              </a:lnSpc>
              <a:spcBef>
                <a:spcPts val="70"/>
              </a:spcBef>
            </a:pPr>
            <a:r>
              <a:rPr sz="100" b="1" spc="-25" dirty="0">
                <a:latin typeface="Tahoma"/>
                <a:cs typeface="Tahoma"/>
              </a:rPr>
              <a:t>.95</a:t>
            </a:r>
            <a:endParaRPr sz="100">
              <a:latin typeface="Tahoma"/>
              <a:cs typeface="Tahoma"/>
            </a:endParaRPr>
          </a:p>
          <a:p>
            <a:pPr marR="55880" algn="r">
              <a:lnSpc>
                <a:spcPct val="100000"/>
              </a:lnSpc>
              <a:spcBef>
                <a:spcPts val="65"/>
              </a:spcBef>
            </a:pPr>
            <a:r>
              <a:rPr sz="100" b="1" spc="-25" dirty="0">
                <a:latin typeface="Tahoma"/>
                <a:cs typeface="Tahoma"/>
              </a:rPr>
              <a:t>.9</a:t>
            </a:r>
            <a:endParaRPr sz="100">
              <a:latin typeface="Tahoma"/>
              <a:cs typeface="Tahoma"/>
            </a:endParaRPr>
          </a:p>
          <a:p>
            <a:pPr marR="47625" algn="r">
              <a:lnSpc>
                <a:spcPct val="100000"/>
              </a:lnSpc>
              <a:spcBef>
                <a:spcPts val="70"/>
              </a:spcBef>
            </a:pPr>
            <a:r>
              <a:rPr sz="100" b="1" spc="-25" dirty="0">
                <a:latin typeface="Tahoma"/>
                <a:cs typeface="Tahoma"/>
              </a:rPr>
              <a:t>.85</a:t>
            </a:r>
            <a:endParaRPr sz="100">
              <a:latin typeface="Tahoma"/>
              <a:cs typeface="Tahoma"/>
            </a:endParaRPr>
          </a:p>
          <a:p>
            <a:pPr marR="55880" algn="r">
              <a:lnSpc>
                <a:spcPct val="100000"/>
              </a:lnSpc>
              <a:spcBef>
                <a:spcPts val="65"/>
              </a:spcBef>
            </a:pPr>
            <a:r>
              <a:rPr sz="100" b="1" spc="-25" dirty="0">
                <a:latin typeface="Tahoma"/>
                <a:cs typeface="Tahoma"/>
              </a:rPr>
              <a:t>.8</a:t>
            </a:r>
            <a:endParaRPr sz="100">
              <a:latin typeface="Tahoma"/>
              <a:cs typeface="Tahoma"/>
            </a:endParaRPr>
          </a:p>
          <a:p>
            <a:pPr marL="53340">
              <a:lnSpc>
                <a:spcPct val="100000"/>
              </a:lnSpc>
              <a:spcBef>
                <a:spcPts val="35"/>
              </a:spcBef>
            </a:pPr>
            <a:r>
              <a:rPr sz="100" b="1" dirty="0">
                <a:latin typeface="Tahoma"/>
                <a:cs typeface="Tahoma"/>
              </a:rPr>
              <a:t>/net4</a:t>
            </a:r>
            <a:r>
              <a:rPr sz="100" b="1" spc="445" dirty="0">
                <a:latin typeface="Tahoma"/>
                <a:cs typeface="Tahoma"/>
              </a:rPr>
              <a:t>  </a:t>
            </a:r>
            <a:r>
              <a:rPr sz="100" b="1" dirty="0">
                <a:latin typeface="Tahoma"/>
                <a:cs typeface="Tahoma"/>
              </a:rPr>
              <a:t>900.0mV</a:t>
            </a:r>
            <a:r>
              <a:rPr sz="100" b="1" spc="180" dirty="0">
                <a:latin typeface="Tahoma"/>
                <a:cs typeface="Tahoma"/>
              </a:rPr>
              <a:t> </a:t>
            </a:r>
            <a:r>
              <a:rPr sz="150" b="1" spc="-15" baseline="27777" dirty="0">
                <a:latin typeface="Tahoma"/>
                <a:cs typeface="Tahoma"/>
              </a:rPr>
              <a:t>1.025</a:t>
            </a:r>
            <a:endParaRPr sz="150" baseline="27777">
              <a:latin typeface="Tahoma"/>
              <a:cs typeface="Tahoma"/>
            </a:endParaRPr>
          </a:p>
          <a:p>
            <a:pPr marR="38735" algn="r">
              <a:lnSpc>
                <a:spcPct val="100000"/>
              </a:lnSpc>
              <a:spcBef>
                <a:spcPts val="105"/>
              </a:spcBef>
            </a:pPr>
            <a:r>
              <a:rPr sz="100" b="1" spc="-20" dirty="0">
                <a:latin typeface="Tahoma"/>
                <a:cs typeface="Tahoma"/>
              </a:rPr>
              <a:t>.975</a:t>
            </a:r>
            <a:endParaRPr sz="100">
              <a:latin typeface="Tahoma"/>
              <a:cs typeface="Tahoma"/>
            </a:endParaRPr>
          </a:p>
        </p:txBody>
      </p:sp>
      <p:pic>
        <p:nvPicPr>
          <p:cNvPr id="231" name="object 2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0714" y="1684877"/>
            <a:ext cx="13998" cy="9332"/>
          </a:xfrm>
          <a:prstGeom prst="rect">
            <a:avLst/>
          </a:prstGeom>
        </p:spPr>
      </p:pic>
      <p:pic>
        <p:nvPicPr>
          <p:cNvPr id="232" name="object 2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5241" y="1685903"/>
            <a:ext cx="13998" cy="9332"/>
          </a:xfrm>
          <a:prstGeom prst="rect">
            <a:avLst/>
          </a:prstGeom>
        </p:spPr>
      </p:pic>
      <p:sp>
        <p:nvSpPr>
          <p:cNvPr id="233" name="object 233"/>
          <p:cNvSpPr/>
          <p:nvPr/>
        </p:nvSpPr>
        <p:spPr>
          <a:xfrm>
            <a:off x="1287881" y="1682823"/>
            <a:ext cx="0" cy="120014"/>
          </a:xfrm>
          <a:custGeom>
            <a:avLst/>
            <a:gdLst/>
            <a:ahLst/>
            <a:cxnLst/>
            <a:rect l="l" t="t" r="r" b="b"/>
            <a:pathLst>
              <a:path h="120014">
                <a:moveTo>
                  <a:pt x="0" y="0"/>
                </a:moveTo>
                <a:lnTo>
                  <a:pt x="0" y="119452"/>
                </a:lnTo>
              </a:path>
            </a:pathLst>
          </a:custGeom>
          <a:ln w="746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4" name="object 234"/>
          <p:cNvGrpSpPr/>
          <p:nvPr/>
        </p:nvGrpSpPr>
        <p:grpSpPr>
          <a:xfrm>
            <a:off x="1010714" y="1549298"/>
            <a:ext cx="883919" cy="386715"/>
            <a:chOff x="1010714" y="1549298"/>
            <a:chExt cx="883919" cy="386715"/>
          </a:xfrm>
        </p:grpSpPr>
        <p:sp>
          <p:nvSpPr>
            <p:cNvPr id="235" name="object 235"/>
            <p:cNvSpPr/>
            <p:nvPr/>
          </p:nvSpPr>
          <p:spPr>
            <a:xfrm>
              <a:off x="1300760" y="1797236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1300760" y="1792384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1300760" y="1787717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1300760" y="1782865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1300760" y="1773346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1300760" y="1768680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1300760" y="1763827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1300760" y="1759161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1300760" y="174964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1300760" y="1744976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1300760" y="1740123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1300760" y="1735457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1300760" y="1725938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1300760" y="172127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1300760" y="1716419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1300760" y="1711753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1300760" y="1702234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1300760" y="169738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1300760" y="1692716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1300760" y="1687863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1330809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1350220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1369445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1388856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1427678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1447089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1466500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1485724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1524546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1543957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1563368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1582779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1621415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1640826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1660237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1679648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1718283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1737694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1757105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1776516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1815338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1834562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1853973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1873384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1300760" y="180190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1300760" y="1778199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1300760" y="1754495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1300760" y="1730604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1300760" y="1706901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1300760" y="1683197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1311398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1408267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1505135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1602004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1699059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1795927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1892795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1300200" y="1754495"/>
              <a:ext cx="593090" cy="38100"/>
            </a:xfrm>
            <a:custGeom>
              <a:avLst/>
              <a:gdLst/>
              <a:ahLst/>
              <a:cxnLst/>
              <a:rect l="l" t="t" r="r" b="b"/>
              <a:pathLst>
                <a:path w="593089" h="38100">
                  <a:moveTo>
                    <a:pt x="0" y="19037"/>
                  </a:moveTo>
                  <a:lnTo>
                    <a:pt x="11012" y="19037"/>
                  </a:lnTo>
                  <a:lnTo>
                    <a:pt x="11198" y="14931"/>
                  </a:lnTo>
                  <a:lnTo>
                    <a:pt x="11571" y="10265"/>
                  </a:lnTo>
                  <a:lnTo>
                    <a:pt x="11571" y="8958"/>
                  </a:lnTo>
                  <a:lnTo>
                    <a:pt x="11758" y="6532"/>
                  </a:lnTo>
                  <a:lnTo>
                    <a:pt x="11758" y="5039"/>
                  </a:lnTo>
                  <a:lnTo>
                    <a:pt x="11945" y="3546"/>
                  </a:lnTo>
                  <a:lnTo>
                    <a:pt x="11945" y="1679"/>
                  </a:lnTo>
                  <a:lnTo>
                    <a:pt x="12131" y="0"/>
                  </a:lnTo>
                  <a:lnTo>
                    <a:pt x="204935" y="0"/>
                  </a:lnTo>
                  <a:lnTo>
                    <a:pt x="205122" y="3919"/>
                  </a:lnTo>
                  <a:lnTo>
                    <a:pt x="205122" y="10078"/>
                  </a:lnTo>
                  <a:lnTo>
                    <a:pt x="205308" y="13438"/>
                  </a:lnTo>
                  <a:lnTo>
                    <a:pt x="205308" y="17357"/>
                  </a:lnTo>
                  <a:lnTo>
                    <a:pt x="205495" y="20717"/>
                  </a:lnTo>
                  <a:lnTo>
                    <a:pt x="205495" y="24823"/>
                  </a:lnTo>
                  <a:lnTo>
                    <a:pt x="205681" y="27996"/>
                  </a:lnTo>
                  <a:lnTo>
                    <a:pt x="205681" y="31916"/>
                  </a:lnTo>
                  <a:lnTo>
                    <a:pt x="205868" y="33222"/>
                  </a:lnTo>
                  <a:lnTo>
                    <a:pt x="205868" y="38075"/>
                  </a:lnTo>
                  <a:lnTo>
                    <a:pt x="398858" y="38075"/>
                  </a:lnTo>
                  <a:lnTo>
                    <a:pt x="398858" y="33969"/>
                  </a:lnTo>
                  <a:lnTo>
                    <a:pt x="399045" y="27809"/>
                  </a:lnTo>
                  <a:lnTo>
                    <a:pt x="399232" y="25383"/>
                  </a:lnTo>
                  <a:lnTo>
                    <a:pt x="399232" y="21090"/>
                  </a:lnTo>
                  <a:lnTo>
                    <a:pt x="399418" y="17731"/>
                  </a:lnTo>
                  <a:lnTo>
                    <a:pt x="399418" y="13811"/>
                  </a:lnTo>
                  <a:lnTo>
                    <a:pt x="399605" y="10265"/>
                  </a:lnTo>
                  <a:lnTo>
                    <a:pt x="399605" y="4852"/>
                  </a:lnTo>
                  <a:lnTo>
                    <a:pt x="399792" y="2986"/>
                  </a:lnTo>
                  <a:lnTo>
                    <a:pt x="399792" y="0"/>
                  </a:lnTo>
                  <a:lnTo>
                    <a:pt x="592782" y="0"/>
                  </a:lnTo>
                </a:path>
              </a:pathLst>
            </a:custGeom>
            <a:ln w="3175">
              <a:solidFill>
                <a:srgbClr val="00CC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1300760" y="1930500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1300760" y="1925648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1300760" y="1920981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1300760" y="1916129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1300760" y="1906610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1300760" y="1901944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1300760" y="1897091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1300760" y="1892425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1300760" y="1882906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1300760" y="1878053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1300760" y="1873387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1300760" y="1868534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1300760" y="1859016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1300760" y="1854349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1300760" y="1849497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1300760" y="1844831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1300760" y="183531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1300760" y="1830459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1300760" y="1825793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1300760" y="1820940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1330809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1350220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1369445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1388856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1427678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1447089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1466500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1485724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1524546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1543957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1563368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1582779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1621415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1640826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1660237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1679648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1718283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1737694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1757105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1776516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1815338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1834562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1853973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1873384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1300760" y="1935166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1300760" y="1911463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1300760" y="188757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1300760" y="1863868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1300760" y="1839978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1300760" y="1816274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1311398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1408267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1505135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1602004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1699059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1795927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1892795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1300200" y="1887572"/>
              <a:ext cx="593090" cy="38100"/>
            </a:xfrm>
            <a:custGeom>
              <a:avLst/>
              <a:gdLst/>
              <a:ahLst/>
              <a:cxnLst/>
              <a:rect l="l" t="t" r="r" b="b"/>
              <a:pathLst>
                <a:path w="593089" h="38100">
                  <a:moveTo>
                    <a:pt x="0" y="19037"/>
                  </a:moveTo>
                  <a:lnTo>
                    <a:pt x="11012" y="19037"/>
                  </a:lnTo>
                  <a:lnTo>
                    <a:pt x="11198" y="23143"/>
                  </a:lnTo>
                  <a:lnTo>
                    <a:pt x="11571" y="27996"/>
                  </a:lnTo>
                  <a:lnTo>
                    <a:pt x="11571" y="29116"/>
                  </a:lnTo>
                  <a:lnTo>
                    <a:pt x="11758" y="31542"/>
                  </a:lnTo>
                  <a:lnTo>
                    <a:pt x="11758" y="33036"/>
                  </a:lnTo>
                  <a:lnTo>
                    <a:pt x="11945" y="34529"/>
                  </a:lnTo>
                  <a:lnTo>
                    <a:pt x="11945" y="36395"/>
                  </a:lnTo>
                  <a:lnTo>
                    <a:pt x="12131" y="38075"/>
                  </a:lnTo>
                  <a:lnTo>
                    <a:pt x="204935" y="38075"/>
                  </a:lnTo>
                  <a:lnTo>
                    <a:pt x="205122" y="34155"/>
                  </a:lnTo>
                  <a:lnTo>
                    <a:pt x="205122" y="27996"/>
                  </a:lnTo>
                  <a:lnTo>
                    <a:pt x="205308" y="24637"/>
                  </a:lnTo>
                  <a:lnTo>
                    <a:pt x="205308" y="20717"/>
                  </a:lnTo>
                  <a:lnTo>
                    <a:pt x="205495" y="17357"/>
                  </a:lnTo>
                  <a:lnTo>
                    <a:pt x="205495" y="13251"/>
                  </a:lnTo>
                  <a:lnTo>
                    <a:pt x="205681" y="10078"/>
                  </a:lnTo>
                  <a:lnTo>
                    <a:pt x="205681" y="6159"/>
                  </a:lnTo>
                  <a:lnTo>
                    <a:pt x="205868" y="4666"/>
                  </a:lnTo>
                  <a:lnTo>
                    <a:pt x="205868" y="0"/>
                  </a:lnTo>
                  <a:lnTo>
                    <a:pt x="592782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1300760" y="1664159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1300760" y="1659306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1300760" y="1654640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1300760" y="1649787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1300760" y="1640268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1300760" y="163560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1300760" y="1630750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1300760" y="1626084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1300760" y="1616565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1300760" y="161171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1300760" y="1607046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1300760" y="1602193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1300760" y="1592674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1300760" y="1588008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1300760" y="1583155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1300760" y="1578489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1300760" y="1568970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1300760" y="1564118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1300760" y="1559452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1300760" y="1554599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1330809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1350220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1369445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1388856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1427678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1447089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1466500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1485724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1524546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1543957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1563368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1582779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1621415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1640826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1660237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1679648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1718283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1737694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1757105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1776516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1815338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1834562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3" name="object 393"/>
            <p:cNvSpPr/>
            <p:nvPr/>
          </p:nvSpPr>
          <p:spPr>
            <a:xfrm>
              <a:off x="1853973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4" name="object 394"/>
            <p:cNvSpPr/>
            <p:nvPr/>
          </p:nvSpPr>
          <p:spPr>
            <a:xfrm>
              <a:off x="1873384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1300760" y="1668825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1300760" y="1645121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7" name="object 397"/>
            <p:cNvSpPr/>
            <p:nvPr/>
          </p:nvSpPr>
          <p:spPr>
            <a:xfrm>
              <a:off x="1300760" y="1621231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1300760" y="1597527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1300760" y="1573636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1300760" y="1549933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1311398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2" name="object 402"/>
            <p:cNvSpPr/>
            <p:nvPr/>
          </p:nvSpPr>
          <p:spPr>
            <a:xfrm>
              <a:off x="1408267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3" name="object 403"/>
            <p:cNvSpPr/>
            <p:nvPr/>
          </p:nvSpPr>
          <p:spPr>
            <a:xfrm>
              <a:off x="1505135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4" name="object 404"/>
            <p:cNvSpPr/>
            <p:nvPr/>
          </p:nvSpPr>
          <p:spPr>
            <a:xfrm>
              <a:off x="1602004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1699059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1795927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1892795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8" name="object 408"/>
            <p:cNvSpPr/>
            <p:nvPr/>
          </p:nvSpPr>
          <p:spPr>
            <a:xfrm>
              <a:off x="1300200" y="1640268"/>
              <a:ext cx="593090" cy="19050"/>
            </a:xfrm>
            <a:custGeom>
              <a:avLst/>
              <a:gdLst/>
              <a:ahLst/>
              <a:cxnLst/>
              <a:rect l="l" t="t" r="r" b="b"/>
              <a:pathLst>
                <a:path w="593089" h="19050">
                  <a:moveTo>
                    <a:pt x="0" y="0"/>
                  </a:moveTo>
                  <a:lnTo>
                    <a:pt x="11012" y="0"/>
                  </a:lnTo>
                  <a:lnTo>
                    <a:pt x="11198" y="4106"/>
                  </a:lnTo>
                  <a:lnTo>
                    <a:pt x="11571" y="8958"/>
                  </a:lnTo>
                  <a:lnTo>
                    <a:pt x="11571" y="10078"/>
                  </a:lnTo>
                  <a:lnTo>
                    <a:pt x="11758" y="12505"/>
                  </a:lnTo>
                  <a:lnTo>
                    <a:pt x="11758" y="13998"/>
                  </a:lnTo>
                  <a:lnTo>
                    <a:pt x="11945" y="15491"/>
                  </a:lnTo>
                  <a:lnTo>
                    <a:pt x="11945" y="17357"/>
                  </a:lnTo>
                  <a:lnTo>
                    <a:pt x="12131" y="19037"/>
                  </a:lnTo>
                  <a:lnTo>
                    <a:pt x="592782" y="19037"/>
                  </a:lnTo>
                </a:path>
              </a:pathLst>
            </a:custGeom>
            <a:ln w="3175">
              <a:solidFill>
                <a:srgbClr val="FF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9" name="object 40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0714" y="1551612"/>
              <a:ext cx="13998" cy="9332"/>
            </a:xfrm>
            <a:prstGeom prst="rect">
              <a:avLst/>
            </a:prstGeom>
          </p:spPr>
        </p:pic>
        <p:pic>
          <p:nvPicPr>
            <p:cNvPr id="410" name="object 4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5241" y="1552639"/>
              <a:ext cx="13998" cy="9332"/>
            </a:xfrm>
            <a:prstGeom prst="rect">
              <a:avLst/>
            </a:prstGeom>
          </p:spPr>
        </p:pic>
      </p:grpSp>
      <p:sp>
        <p:nvSpPr>
          <p:cNvPr id="411" name="object 411"/>
          <p:cNvSpPr txBox="1"/>
          <p:nvPr/>
        </p:nvSpPr>
        <p:spPr>
          <a:xfrm>
            <a:off x="1214641" y="1711450"/>
            <a:ext cx="41275" cy="62865"/>
          </a:xfrm>
          <a:prstGeom prst="rect">
            <a:avLst/>
          </a:prstGeom>
        </p:spPr>
        <p:txBody>
          <a:bodyPr vert="vert270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" b="1" dirty="0">
                <a:latin typeface="Tahoma"/>
                <a:cs typeface="Tahoma"/>
              </a:rPr>
              <a:t>V</a:t>
            </a:r>
            <a:r>
              <a:rPr sz="100" b="1" spc="15" dirty="0">
                <a:latin typeface="Tahoma"/>
                <a:cs typeface="Tahoma"/>
              </a:rPr>
              <a:t> </a:t>
            </a:r>
            <a:r>
              <a:rPr sz="100" b="1" spc="-25" dirty="0">
                <a:latin typeface="Tahoma"/>
                <a:cs typeface="Tahoma"/>
              </a:rPr>
              <a:t>(V)</a:t>
            </a:r>
            <a:endParaRPr sz="100">
              <a:latin typeface="Tahoma"/>
              <a:cs typeface="Tahoma"/>
            </a:endParaRPr>
          </a:p>
        </p:txBody>
      </p:sp>
      <p:pic>
        <p:nvPicPr>
          <p:cNvPr id="412" name="object 4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0714" y="1817954"/>
            <a:ext cx="13998" cy="9332"/>
          </a:xfrm>
          <a:prstGeom prst="rect">
            <a:avLst/>
          </a:prstGeom>
        </p:spPr>
      </p:pic>
      <p:pic>
        <p:nvPicPr>
          <p:cNvPr id="413" name="object 4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5241" y="1818980"/>
            <a:ext cx="13998" cy="9332"/>
          </a:xfrm>
          <a:prstGeom prst="rect">
            <a:avLst/>
          </a:prstGeom>
        </p:spPr>
      </p:pic>
      <p:sp>
        <p:nvSpPr>
          <p:cNvPr id="414" name="object 414"/>
          <p:cNvSpPr txBox="1"/>
          <p:nvPr/>
        </p:nvSpPr>
        <p:spPr>
          <a:xfrm>
            <a:off x="1214641" y="1844714"/>
            <a:ext cx="41275" cy="62865"/>
          </a:xfrm>
          <a:prstGeom prst="rect">
            <a:avLst/>
          </a:prstGeom>
        </p:spPr>
        <p:txBody>
          <a:bodyPr vert="vert270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" b="1" dirty="0">
                <a:latin typeface="Tahoma"/>
                <a:cs typeface="Tahoma"/>
              </a:rPr>
              <a:t>V</a:t>
            </a:r>
            <a:r>
              <a:rPr sz="100" b="1" spc="15" dirty="0">
                <a:latin typeface="Tahoma"/>
                <a:cs typeface="Tahoma"/>
              </a:rPr>
              <a:t> </a:t>
            </a:r>
            <a:r>
              <a:rPr sz="100" b="1" spc="-25" dirty="0">
                <a:latin typeface="Tahoma"/>
                <a:cs typeface="Tahoma"/>
              </a:rPr>
              <a:t>(V)</a:t>
            </a:r>
            <a:endParaRPr sz="100">
              <a:latin typeface="Tahoma"/>
              <a:cs typeface="Tahoma"/>
            </a:endParaRPr>
          </a:p>
        </p:txBody>
      </p:sp>
      <p:sp>
        <p:nvSpPr>
          <p:cNvPr id="415" name="object 415"/>
          <p:cNvSpPr/>
          <p:nvPr/>
        </p:nvSpPr>
        <p:spPr>
          <a:xfrm>
            <a:off x="1287881" y="1549559"/>
            <a:ext cx="0" cy="386080"/>
          </a:xfrm>
          <a:custGeom>
            <a:avLst/>
            <a:gdLst/>
            <a:ahLst/>
            <a:cxnLst/>
            <a:rect l="l" t="t" r="r" b="b"/>
            <a:pathLst>
              <a:path h="386080">
                <a:moveTo>
                  <a:pt x="0" y="266341"/>
                </a:moveTo>
                <a:lnTo>
                  <a:pt x="0" y="385980"/>
                </a:lnTo>
              </a:path>
              <a:path h="386080">
                <a:moveTo>
                  <a:pt x="0" y="0"/>
                </a:moveTo>
                <a:lnTo>
                  <a:pt x="0" y="119638"/>
                </a:lnTo>
              </a:path>
            </a:pathLst>
          </a:custGeom>
          <a:ln w="746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 txBox="1"/>
          <p:nvPr/>
        </p:nvSpPr>
        <p:spPr>
          <a:xfrm>
            <a:off x="1214641" y="1578372"/>
            <a:ext cx="41275" cy="62865"/>
          </a:xfrm>
          <a:prstGeom prst="rect">
            <a:avLst/>
          </a:prstGeom>
        </p:spPr>
        <p:txBody>
          <a:bodyPr vert="vert270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" b="1" dirty="0">
                <a:latin typeface="Tahoma"/>
                <a:cs typeface="Tahoma"/>
              </a:rPr>
              <a:t>V</a:t>
            </a:r>
            <a:r>
              <a:rPr sz="100" b="1" spc="15" dirty="0">
                <a:latin typeface="Tahoma"/>
                <a:cs typeface="Tahoma"/>
              </a:rPr>
              <a:t> </a:t>
            </a:r>
            <a:r>
              <a:rPr sz="100" b="1" spc="-25" dirty="0">
                <a:latin typeface="Tahoma"/>
                <a:cs typeface="Tahoma"/>
              </a:rPr>
              <a:t>(V)</a:t>
            </a:r>
            <a:endParaRPr sz="100">
              <a:latin typeface="Tahoma"/>
              <a:cs typeface="Tahoma"/>
            </a:endParaRPr>
          </a:p>
        </p:txBody>
      </p:sp>
      <p:sp>
        <p:nvSpPr>
          <p:cNvPr id="417" name="object 417"/>
          <p:cNvSpPr txBox="1"/>
          <p:nvPr/>
        </p:nvSpPr>
        <p:spPr>
          <a:xfrm>
            <a:off x="989599" y="1479093"/>
            <a:ext cx="326390" cy="47815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R="47625" algn="r">
              <a:lnSpc>
                <a:spcPct val="100000"/>
              </a:lnSpc>
            </a:pPr>
            <a:r>
              <a:rPr sz="100" b="1" spc="-25" dirty="0">
                <a:latin typeface="Tahoma"/>
                <a:cs typeface="Tahoma"/>
              </a:rPr>
              <a:t>.9</a:t>
            </a:r>
            <a:endParaRPr sz="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">
              <a:latin typeface="Tahoma"/>
              <a:cs typeface="Tahoma"/>
            </a:endParaRPr>
          </a:p>
          <a:p>
            <a:pPr marR="38735" algn="r">
              <a:lnSpc>
                <a:spcPct val="100000"/>
              </a:lnSpc>
            </a:pPr>
            <a:r>
              <a:rPr sz="100" b="1" spc="-25" dirty="0">
                <a:latin typeface="Tahoma"/>
                <a:cs typeface="Tahoma"/>
              </a:rPr>
              <a:t>.85</a:t>
            </a:r>
            <a:endParaRPr sz="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00" b="1" dirty="0">
                <a:latin typeface="Tahoma"/>
                <a:cs typeface="Tahoma"/>
              </a:rPr>
              <a:t>/net3</a:t>
            </a:r>
            <a:r>
              <a:rPr sz="100" b="1" spc="445" dirty="0">
                <a:latin typeface="Tahoma"/>
                <a:cs typeface="Tahoma"/>
              </a:rPr>
              <a:t>  </a:t>
            </a:r>
            <a:r>
              <a:rPr sz="100" b="1" dirty="0">
                <a:latin typeface="Tahoma"/>
                <a:cs typeface="Tahoma"/>
              </a:rPr>
              <a:t>820.0mV</a:t>
            </a:r>
            <a:r>
              <a:rPr sz="100" b="1" spc="180" dirty="0">
                <a:latin typeface="Tahoma"/>
                <a:cs typeface="Tahoma"/>
              </a:rPr>
              <a:t> </a:t>
            </a:r>
            <a:r>
              <a:rPr sz="150" b="1" spc="-30" baseline="27777" dirty="0">
                <a:latin typeface="Tahoma"/>
                <a:cs typeface="Tahoma"/>
              </a:rPr>
              <a:t>1.05</a:t>
            </a:r>
            <a:endParaRPr sz="150" baseline="27777">
              <a:latin typeface="Tahoma"/>
              <a:cs typeface="Tahoma"/>
            </a:endParaRPr>
          </a:p>
          <a:p>
            <a:pPr marR="38735" algn="r">
              <a:lnSpc>
                <a:spcPct val="100000"/>
              </a:lnSpc>
              <a:spcBef>
                <a:spcPts val="25"/>
              </a:spcBef>
            </a:pPr>
            <a:r>
              <a:rPr sz="100" b="1" spc="-25" dirty="0">
                <a:latin typeface="Tahoma"/>
                <a:cs typeface="Tahoma"/>
              </a:rPr>
              <a:t>1.0</a:t>
            </a:r>
            <a:endParaRPr sz="100">
              <a:latin typeface="Tahoma"/>
              <a:cs typeface="Tahoma"/>
            </a:endParaRPr>
          </a:p>
          <a:p>
            <a:pPr marR="38735" algn="r">
              <a:lnSpc>
                <a:spcPct val="100000"/>
              </a:lnSpc>
              <a:spcBef>
                <a:spcPts val="70"/>
              </a:spcBef>
            </a:pPr>
            <a:r>
              <a:rPr sz="100" b="1" spc="-25" dirty="0">
                <a:latin typeface="Tahoma"/>
                <a:cs typeface="Tahoma"/>
              </a:rPr>
              <a:t>.95</a:t>
            </a:r>
            <a:endParaRPr sz="100">
              <a:latin typeface="Tahoma"/>
              <a:cs typeface="Tahoma"/>
            </a:endParaRPr>
          </a:p>
          <a:p>
            <a:pPr marR="47625" algn="r">
              <a:lnSpc>
                <a:spcPct val="100000"/>
              </a:lnSpc>
              <a:spcBef>
                <a:spcPts val="65"/>
              </a:spcBef>
            </a:pPr>
            <a:r>
              <a:rPr sz="100" b="1" spc="-25" dirty="0">
                <a:latin typeface="Tahoma"/>
                <a:cs typeface="Tahoma"/>
              </a:rPr>
              <a:t>.9</a:t>
            </a:r>
            <a:endParaRPr sz="100">
              <a:latin typeface="Tahoma"/>
              <a:cs typeface="Tahoma"/>
            </a:endParaRPr>
          </a:p>
          <a:p>
            <a:pPr marR="38735" algn="r">
              <a:lnSpc>
                <a:spcPct val="100000"/>
              </a:lnSpc>
              <a:spcBef>
                <a:spcPts val="70"/>
              </a:spcBef>
            </a:pPr>
            <a:r>
              <a:rPr sz="100" b="1" spc="-25" dirty="0">
                <a:latin typeface="Tahoma"/>
                <a:cs typeface="Tahoma"/>
              </a:rPr>
              <a:t>.85</a:t>
            </a:r>
            <a:endParaRPr sz="100">
              <a:latin typeface="Tahoma"/>
              <a:cs typeface="Tahoma"/>
            </a:endParaRPr>
          </a:p>
          <a:p>
            <a:pPr marR="47625" algn="r">
              <a:lnSpc>
                <a:spcPct val="100000"/>
              </a:lnSpc>
              <a:spcBef>
                <a:spcPts val="65"/>
              </a:spcBef>
            </a:pPr>
            <a:r>
              <a:rPr sz="100" b="1" spc="-25" dirty="0">
                <a:latin typeface="Tahoma"/>
                <a:cs typeface="Tahoma"/>
              </a:rPr>
              <a:t>.8</a:t>
            </a:r>
            <a:endParaRPr sz="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00" b="1" dirty="0">
                <a:latin typeface="Tahoma"/>
                <a:cs typeface="Tahoma"/>
              </a:rPr>
              <a:t>/net2</a:t>
            </a:r>
            <a:r>
              <a:rPr sz="100" b="1" spc="445" dirty="0">
                <a:latin typeface="Tahoma"/>
                <a:cs typeface="Tahoma"/>
              </a:rPr>
              <a:t>  </a:t>
            </a:r>
            <a:r>
              <a:rPr sz="100" b="1" dirty="0">
                <a:latin typeface="Tahoma"/>
                <a:cs typeface="Tahoma"/>
              </a:rPr>
              <a:t>900.0mV</a:t>
            </a:r>
            <a:r>
              <a:rPr sz="100" b="1" spc="180" dirty="0">
                <a:latin typeface="Tahoma"/>
                <a:cs typeface="Tahoma"/>
              </a:rPr>
              <a:t> </a:t>
            </a:r>
            <a:r>
              <a:rPr sz="150" b="1" spc="-30" baseline="27777" dirty="0">
                <a:latin typeface="Tahoma"/>
                <a:cs typeface="Tahoma"/>
              </a:rPr>
              <a:t>1.05</a:t>
            </a:r>
            <a:endParaRPr sz="150" baseline="27777">
              <a:latin typeface="Tahoma"/>
              <a:cs typeface="Tahoma"/>
            </a:endParaRPr>
          </a:p>
          <a:p>
            <a:pPr marR="38735" algn="r">
              <a:lnSpc>
                <a:spcPct val="100000"/>
              </a:lnSpc>
              <a:spcBef>
                <a:spcPts val="25"/>
              </a:spcBef>
            </a:pPr>
            <a:r>
              <a:rPr sz="100" b="1" spc="-25" dirty="0">
                <a:latin typeface="Tahoma"/>
                <a:cs typeface="Tahoma"/>
              </a:rPr>
              <a:t>1.0</a:t>
            </a:r>
            <a:endParaRPr sz="100">
              <a:latin typeface="Tahoma"/>
              <a:cs typeface="Tahoma"/>
            </a:endParaRPr>
          </a:p>
          <a:p>
            <a:pPr marR="38735" algn="r">
              <a:lnSpc>
                <a:spcPct val="100000"/>
              </a:lnSpc>
              <a:spcBef>
                <a:spcPts val="70"/>
              </a:spcBef>
            </a:pPr>
            <a:r>
              <a:rPr sz="100" b="1" spc="-25" dirty="0">
                <a:latin typeface="Tahoma"/>
                <a:cs typeface="Tahoma"/>
              </a:rPr>
              <a:t>.95</a:t>
            </a:r>
            <a:endParaRPr sz="100">
              <a:latin typeface="Tahoma"/>
              <a:cs typeface="Tahoma"/>
            </a:endParaRPr>
          </a:p>
          <a:p>
            <a:pPr marR="47625" algn="r">
              <a:lnSpc>
                <a:spcPct val="100000"/>
              </a:lnSpc>
              <a:spcBef>
                <a:spcPts val="65"/>
              </a:spcBef>
            </a:pPr>
            <a:r>
              <a:rPr sz="100" b="1" spc="-25" dirty="0">
                <a:latin typeface="Tahoma"/>
                <a:cs typeface="Tahoma"/>
              </a:rPr>
              <a:t>.9</a:t>
            </a:r>
            <a:endParaRPr sz="100">
              <a:latin typeface="Tahoma"/>
              <a:cs typeface="Tahoma"/>
            </a:endParaRPr>
          </a:p>
          <a:p>
            <a:pPr marR="38735" algn="r">
              <a:lnSpc>
                <a:spcPct val="100000"/>
              </a:lnSpc>
              <a:spcBef>
                <a:spcPts val="70"/>
              </a:spcBef>
            </a:pPr>
            <a:r>
              <a:rPr sz="100" b="1" spc="-25" dirty="0">
                <a:latin typeface="Tahoma"/>
                <a:cs typeface="Tahoma"/>
              </a:rPr>
              <a:t>.85</a:t>
            </a:r>
            <a:endParaRPr sz="100">
              <a:latin typeface="Tahoma"/>
              <a:cs typeface="Tahoma"/>
            </a:endParaRPr>
          </a:p>
          <a:p>
            <a:pPr marR="47625" algn="r">
              <a:lnSpc>
                <a:spcPct val="100000"/>
              </a:lnSpc>
              <a:spcBef>
                <a:spcPts val="65"/>
              </a:spcBef>
            </a:pPr>
            <a:r>
              <a:rPr sz="100" b="1" spc="-25" dirty="0">
                <a:latin typeface="Tahoma"/>
                <a:cs typeface="Tahoma"/>
              </a:rPr>
              <a:t>.8</a:t>
            </a:r>
            <a:endParaRPr sz="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00" b="1" dirty="0">
                <a:latin typeface="Tahoma"/>
                <a:cs typeface="Tahoma"/>
              </a:rPr>
              <a:t>/net1</a:t>
            </a:r>
            <a:r>
              <a:rPr sz="100" b="1" spc="445" dirty="0">
                <a:latin typeface="Tahoma"/>
                <a:cs typeface="Tahoma"/>
              </a:rPr>
              <a:t>  </a:t>
            </a:r>
            <a:r>
              <a:rPr sz="100" b="1" dirty="0">
                <a:latin typeface="Tahoma"/>
                <a:cs typeface="Tahoma"/>
              </a:rPr>
              <a:t>820.0mV</a:t>
            </a:r>
            <a:r>
              <a:rPr sz="100" b="1" spc="180" dirty="0">
                <a:latin typeface="Tahoma"/>
                <a:cs typeface="Tahoma"/>
              </a:rPr>
              <a:t> </a:t>
            </a:r>
            <a:r>
              <a:rPr sz="150" b="1" spc="-30" baseline="27777" dirty="0">
                <a:latin typeface="Tahoma"/>
                <a:cs typeface="Tahoma"/>
              </a:rPr>
              <a:t>1.05</a:t>
            </a:r>
            <a:endParaRPr sz="150" baseline="27777">
              <a:latin typeface="Tahoma"/>
              <a:cs typeface="Tahoma"/>
            </a:endParaRPr>
          </a:p>
          <a:p>
            <a:pPr marR="38735" algn="r">
              <a:lnSpc>
                <a:spcPct val="100000"/>
              </a:lnSpc>
              <a:spcBef>
                <a:spcPts val="25"/>
              </a:spcBef>
            </a:pPr>
            <a:r>
              <a:rPr sz="100" b="1" spc="-25" dirty="0">
                <a:latin typeface="Tahoma"/>
                <a:cs typeface="Tahoma"/>
              </a:rPr>
              <a:t>1.0</a:t>
            </a:r>
            <a:endParaRPr sz="100">
              <a:latin typeface="Tahoma"/>
              <a:cs typeface="Tahoma"/>
            </a:endParaRPr>
          </a:p>
          <a:p>
            <a:pPr marR="38735" algn="r">
              <a:lnSpc>
                <a:spcPct val="100000"/>
              </a:lnSpc>
              <a:spcBef>
                <a:spcPts val="65"/>
              </a:spcBef>
            </a:pPr>
            <a:r>
              <a:rPr sz="100" b="1" spc="-25" dirty="0">
                <a:latin typeface="Tahoma"/>
                <a:cs typeface="Tahoma"/>
              </a:rPr>
              <a:t>.95</a:t>
            </a:r>
            <a:endParaRPr sz="100">
              <a:latin typeface="Tahoma"/>
              <a:cs typeface="Tahoma"/>
            </a:endParaRPr>
          </a:p>
          <a:p>
            <a:pPr marR="47625" algn="r">
              <a:lnSpc>
                <a:spcPct val="100000"/>
              </a:lnSpc>
              <a:spcBef>
                <a:spcPts val="70"/>
              </a:spcBef>
            </a:pPr>
            <a:r>
              <a:rPr sz="100" b="1" spc="-25" dirty="0">
                <a:latin typeface="Tahoma"/>
                <a:cs typeface="Tahoma"/>
              </a:rPr>
              <a:t>.9</a:t>
            </a:r>
            <a:endParaRPr sz="100">
              <a:latin typeface="Tahoma"/>
              <a:cs typeface="Tahoma"/>
            </a:endParaRPr>
          </a:p>
          <a:p>
            <a:pPr marR="38735" algn="r">
              <a:lnSpc>
                <a:spcPct val="100000"/>
              </a:lnSpc>
              <a:spcBef>
                <a:spcPts val="65"/>
              </a:spcBef>
            </a:pPr>
            <a:r>
              <a:rPr sz="100" b="1" spc="-25" dirty="0">
                <a:latin typeface="Tahoma"/>
                <a:cs typeface="Tahoma"/>
              </a:rPr>
              <a:t>.85</a:t>
            </a:r>
            <a:endParaRPr sz="100">
              <a:latin typeface="Tahoma"/>
              <a:cs typeface="Tahoma"/>
            </a:endParaRPr>
          </a:p>
          <a:p>
            <a:pPr marR="47625" algn="r">
              <a:lnSpc>
                <a:spcPct val="100000"/>
              </a:lnSpc>
              <a:spcBef>
                <a:spcPts val="70"/>
              </a:spcBef>
            </a:pPr>
            <a:r>
              <a:rPr sz="100" b="1" spc="-25" dirty="0">
                <a:latin typeface="Tahoma"/>
                <a:cs typeface="Tahoma"/>
              </a:rPr>
              <a:t>.8</a:t>
            </a:r>
            <a:endParaRPr sz="100">
              <a:latin typeface="Tahoma"/>
              <a:cs typeface="Tahoma"/>
            </a:endParaRPr>
          </a:p>
        </p:txBody>
      </p:sp>
      <p:grpSp>
        <p:nvGrpSpPr>
          <p:cNvPr id="418" name="object 418"/>
          <p:cNvGrpSpPr/>
          <p:nvPr/>
        </p:nvGrpSpPr>
        <p:grpSpPr>
          <a:xfrm>
            <a:off x="1300125" y="1941811"/>
            <a:ext cx="596900" cy="8255"/>
            <a:chOff x="1300125" y="1941811"/>
            <a:chExt cx="596900" cy="8255"/>
          </a:xfrm>
        </p:grpSpPr>
        <p:sp>
          <p:nvSpPr>
            <p:cNvPr id="419" name="object 419"/>
            <p:cNvSpPr/>
            <p:nvPr/>
          </p:nvSpPr>
          <p:spPr>
            <a:xfrm>
              <a:off x="1300760" y="1942446"/>
              <a:ext cx="592455" cy="0"/>
            </a:xfrm>
            <a:custGeom>
              <a:avLst/>
              <a:gdLst/>
              <a:ahLst/>
              <a:cxnLst/>
              <a:rect l="l" t="t" r="r" b="b"/>
              <a:pathLst>
                <a:path w="592455">
                  <a:moveTo>
                    <a:pt x="0" y="0"/>
                  </a:moveTo>
                  <a:lnTo>
                    <a:pt x="59222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0" name="object 420"/>
            <p:cNvSpPr/>
            <p:nvPr/>
          </p:nvSpPr>
          <p:spPr>
            <a:xfrm>
              <a:off x="1311025" y="1945992"/>
              <a:ext cx="582295" cy="0"/>
            </a:xfrm>
            <a:custGeom>
              <a:avLst/>
              <a:gdLst/>
              <a:ahLst/>
              <a:cxnLst/>
              <a:rect l="l" t="t" r="r" b="b"/>
              <a:pathLst>
                <a:path w="582294">
                  <a:moveTo>
                    <a:pt x="0" y="0"/>
                  </a:moveTo>
                  <a:lnTo>
                    <a:pt x="582143" y="0"/>
                  </a:lnTo>
                </a:path>
              </a:pathLst>
            </a:custGeom>
            <a:ln w="7092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1" name="object 421"/>
          <p:cNvSpPr txBox="1"/>
          <p:nvPr/>
        </p:nvSpPr>
        <p:spPr>
          <a:xfrm>
            <a:off x="1283300" y="1937958"/>
            <a:ext cx="638175" cy="628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dirty="0">
                <a:latin typeface="Tahoma"/>
                <a:cs typeface="Tahoma"/>
              </a:rPr>
              <a:t>10.0</a:t>
            </a:r>
            <a:r>
              <a:rPr sz="100" b="1" spc="420" dirty="0">
                <a:latin typeface="Tahoma"/>
                <a:cs typeface="Tahoma"/>
              </a:rPr>
              <a:t> </a:t>
            </a:r>
            <a:r>
              <a:rPr sz="100" b="1" dirty="0">
                <a:latin typeface="Tahoma"/>
                <a:cs typeface="Tahoma"/>
              </a:rPr>
              <a:t>15.0</a:t>
            </a:r>
            <a:r>
              <a:rPr sz="100" b="1" spc="425" dirty="0">
                <a:latin typeface="Tahoma"/>
                <a:cs typeface="Tahoma"/>
              </a:rPr>
              <a:t> </a:t>
            </a:r>
            <a:r>
              <a:rPr sz="100" b="1" dirty="0">
                <a:latin typeface="Tahoma"/>
                <a:cs typeface="Tahoma"/>
              </a:rPr>
              <a:t>20.0</a:t>
            </a:r>
            <a:r>
              <a:rPr sz="100" b="1" spc="420" dirty="0">
                <a:latin typeface="Tahoma"/>
                <a:cs typeface="Tahoma"/>
              </a:rPr>
              <a:t> </a:t>
            </a:r>
            <a:r>
              <a:rPr sz="100" b="1" dirty="0">
                <a:latin typeface="Tahoma"/>
                <a:cs typeface="Tahoma"/>
              </a:rPr>
              <a:t>25.0</a:t>
            </a:r>
            <a:r>
              <a:rPr sz="100" b="1" spc="425" dirty="0">
                <a:latin typeface="Tahoma"/>
                <a:cs typeface="Tahoma"/>
              </a:rPr>
              <a:t> </a:t>
            </a:r>
            <a:r>
              <a:rPr sz="100" b="1" dirty="0">
                <a:latin typeface="Tahoma"/>
                <a:cs typeface="Tahoma"/>
              </a:rPr>
              <a:t>30.0</a:t>
            </a:r>
            <a:r>
              <a:rPr sz="100" b="1" spc="420" dirty="0">
                <a:latin typeface="Tahoma"/>
                <a:cs typeface="Tahoma"/>
              </a:rPr>
              <a:t> </a:t>
            </a:r>
            <a:r>
              <a:rPr sz="100" b="1" dirty="0">
                <a:latin typeface="Tahoma"/>
                <a:cs typeface="Tahoma"/>
              </a:rPr>
              <a:t>35.0</a:t>
            </a:r>
            <a:r>
              <a:rPr sz="100" b="1" spc="425" dirty="0">
                <a:latin typeface="Tahoma"/>
                <a:cs typeface="Tahoma"/>
              </a:rPr>
              <a:t> </a:t>
            </a:r>
            <a:r>
              <a:rPr sz="100" b="1" spc="-20" dirty="0">
                <a:latin typeface="Tahoma"/>
                <a:cs typeface="Tahoma"/>
              </a:rPr>
              <a:t>40.0</a:t>
            </a:r>
            <a:endParaRPr sz="100">
              <a:latin typeface="Tahoma"/>
              <a:cs typeface="Tahoma"/>
            </a:endParaRPr>
          </a:p>
          <a:p>
            <a:pPr marL="281940">
              <a:lnSpc>
                <a:spcPct val="100000"/>
              </a:lnSpc>
              <a:spcBef>
                <a:spcPts val="25"/>
              </a:spcBef>
            </a:pPr>
            <a:r>
              <a:rPr sz="100" b="1" dirty="0">
                <a:latin typeface="Tahoma"/>
                <a:cs typeface="Tahoma"/>
              </a:rPr>
              <a:t>time </a:t>
            </a:r>
            <a:r>
              <a:rPr sz="100" b="1" spc="-20" dirty="0">
                <a:latin typeface="Tahoma"/>
                <a:cs typeface="Tahoma"/>
              </a:rPr>
              <a:t>(us)</a:t>
            </a:r>
            <a:endParaRPr sz="100">
              <a:latin typeface="Tahoma"/>
              <a:cs typeface="Tahoma"/>
            </a:endParaRPr>
          </a:p>
        </p:txBody>
      </p:sp>
      <p:grpSp>
        <p:nvGrpSpPr>
          <p:cNvPr id="422" name="object 422"/>
          <p:cNvGrpSpPr/>
          <p:nvPr/>
        </p:nvGrpSpPr>
        <p:grpSpPr>
          <a:xfrm>
            <a:off x="1704825" y="1121397"/>
            <a:ext cx="22860" cy="822325"/>
            <a:chOff x="1704825" y="1121397"/>
            <a:chExt cx="22860" cy="822325"/>
          </a:xfrm>
        </p:grpSpPr>
        <p:sp>
          <p:nvSpPr>
            <p:cNvPr id="423" name="object 423"/>
            <p:cNvSpPr/>
            <p:nvPr/>
          </p:nvSpPr>
          <p:spPr>
            <a:xfrm>
              <a:off x="1906234" y="111523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4" name="object 424"/>
            <p:cNvSpPr/>
            <p:nvPr/>
          </p:nvSpPr>
          <p:spPr>
            <a:xfrm>
              <a:off x="1705778" y="1143235"/>
              <a:ext cx="0" cy="799465"/>
            </a:xfrm>
            <a:custGeom>
              <a:avLst/>
              <a:gdLst/>
              <a:ahLst/>
              <a:cxnLst/>
              <a:rect l="l" t="t" r="r" b="b"/>
              <a:pathLst>
                <a:path h="799464">
                  <a:moveTo>
                    <a:pt x="0" y="0"/>
                  </a:moveTo>
                  <a:lnTo>
                    <a:pt x="0" y="79921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5" name="object 4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05778" y="1121397"/>
              <a:ext cx="21464" cy="22024"/>
            </a:xfrm>
            <a:prstGeom prst="rect">
              <a:avLst/>
            </a:prstGeom>
          </p:spPr>
        </p:pic>
      </p:grpSp>
      <p:sp>
        <p:nvSpPr>
          <p:cNvPr id="426" name="object 426"/>
          <p:cNvSpPr txBox="1"/>
          <p:nvPr/>
        </p:nvSpPr>
        <p:spPr>
          <a:xfrm>
            <a:off x="1694011" y="1109257"/>
            <a:ext cx="44450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5" dirty="0">
                <a:solidFill>
                  <a:srgbClr val="FFFFFF"/>
                </a:solidFill>
                <a:latin typeface="Tahoma"/>
                <a:cs typeface="Tahoma"/>
              </a:rPr>
              <a:t>V2</a:t>
            </a:r>
            <a:endParaRPr sz="100">
              <a:latin typeface="Tahoma"/>
              <a:cs typeface="Tahoma"/>
            </a:endParaRPr>
          </a:p>
        </p:txBody>
      </p:sp>
      <p:grpSp>
        <p:nvGrpSpPr>
          <p:cNvPr id="427" name="object 427"/>
          <p:cNvGrpSpPr/>
          <p:nvPr/>
        </p:nvGrpSpPr>
        <p:grpSpPr>
          <a:xfrm>
            <a:off x="1412764" y="1141965"/>
            <a:ext cx="85725" cy="802005"/>
            <a:chOff x="1412764" y="1141965"/>
            <a:chExt cx="85725" cy="802005"/>
          </a:xfrm>
        </p:grpSpPr>
        <p:sp>
          <p:nvSpPr>
            <p:cNvPr id="428" name="object 428"/>
            <p:cNvSpPr/>
            <p:nvPr/>
          </p:nvSpPr>
          <p:spPr>
            <a:xfrm>
              <a:off x="1496923" y="1143235"/>
              <a:ext cx="0" cy="799465"/>
            </a:xfrm>
            <a:custGeom>
              <a:avLst/>
              <a:gdLst/>
              <a:ahLst/>
              <a:cxnLst/>
              <a:rect l="l" t="t" r="r" b="b"/>
              <a:pathLst>
                <a:path h="799464">
                  <a:moveTo>
                    <a:pt x="0" y="0"/>
                  </a:moveTo>
                  <a:lnTo>
                    <a:pt x="0" y="79921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9" name="object 429"/>
            <p:cNvSpPr/>
            <p:nvPr/>
          </p:nvSpPr>
          <p:spPr>
            <a:xfrm>
              <a:off x="1413399" y="1920515"/>
              <a:ext cx="80645" cy="19685"/>
            </a:xfrm>
            <a:custGeom>
              <a:avLst/>
              <a:gdLst/>
              <a:ahLst/>
              <a:cxnLst/>
              <a:rect l="l" t="t" r="r" b="b"/>
              <a:pathLst>
                <a:path w="80644" h="19685">
                  <a:moveTo>
                    <a:pt x="78167" y="19411"/>
                  </a:moveTo>
                  <a:lnTo>
                    <a:pt x="2089" y="19411"/>
                  </a:lnTo>
                  <a:lnTo>
                    <a:pt x="0" y="17321"/>
                  </a:lnTo>
                  <a:lnTo>
                    <a:pt x="0" y="2089"/>
                  </a:lnTo>
                  <a:lnTo>
                    <a:pt x="2089" y="0"/>
                  </a:lnTo>
                  <a:lnTo>
                    <a:pt x="4666" y="0"/>
                  </a:lnTo>
                  <a:lnTo>
                    <a:pt x="78167" y="0"/>
                  </a:lnTo>
                  <a:lnTo>
                    <a:pt x="80257" y="2089"/>
                  </a:lnTo>
                  <a:lnTo>
                    <a:pt x="80257" y="17321"/>
                  </a:lnTo>
                  <a:lnTo>
                    <a:pt x="78167" y="19411"/>
                  </a:lnTo>
                  <a:close/>
                </a:path>
              </a:pathLst>
            </a:custGeom>
            <a:solidFill>
              <a:srgbClr val="000000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1413399" y="1920515"/>
              <a:ext cx="80645" cy="19685"/>
            </a:xfrm>
            <a:custGeom>
              <a:avLst/>
              <a:gdLst/>
              <a:ahLst/>
              <a:cxnLst/>
              <a:rect l="l" t="t" r="r" b="b"/>
              <a:pathLst>
                <a:path w="80644" h="19685">
                  <a:moveTo>
                    <a:pt x="4666" y="0"/>
                  </a:moveTo>
                  <a:lnTo>
                    <a:pt x="2089" y="0"/>
                  </a:lnTo>
                  <a:lnTo>
                    <a:pt x="0" y="2089"/>
                  </a:lnTo>
                  <a:lnTo>
                    <a:pt x="0" y="4666"/>
                  </a:lnTo>
                  <a:lnTo>
                    <a:pt x="0" y="14744"/>
                  </a:lnTo>
                  <a:lnTo>
                    <a:pt x="0" y="17321"/>
                  </a:lnTo>
                  <a:lnTo>
                    <a:pt x="2089" y="19411"/>
                  </a:lnTo>
                  <a:lnTo>
                    <a:pt x="4666" y="19411"/>
                  </a:lnTo>
                  <a:lnTo>
                    <a:pt x="75590" y="19411"/>
                  </a:lnTo>
                  <a:lnTo>
                    <a:pt x="78167" y="19411"/>
                  </a:lnTo>
                  <a:lnTo>
                    <a:pt x="80257" y="17321"/>
                  </a:lnTo>
                  <a:lnTo>
                    <a:pt x="80257" y="14744"/>
                  </a:lnTo>
                  <a:lnTo>
                    <a:pt x="80257" y="4666"/>
                  </a:lnTo>
                  <a:lnTo>
                    <a:pt x="80257" y="2089"/>
                  </a:lnTo>
                  <a:lnTo>
                    <a:pt x="78167" y="0"/>
                  </a:lnTo>
                  <a:lnTo>
                    <a:pt x="75590" y="0"/>
                  </a:lnTo>
                  <a:lnTo>
                    <a:pt x="4666" y="0"/>
                  </a:lnTo>
                  <a:close/>
                </a:path>
              </a:pathLst>
            </a:custGeom>
            <a:ln w="3175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1" name="object 431"/>
          <p:cNvSpPr txBox="1"/>
          <p:nvPr/>
        </p:nvSpPr>
        <p:spPr>
          <a:xfrm>
            <a:off x="1401353" y="1907722"/>
            <a:ext cx="105410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solidFill>
                  <a:srgbClr val="FFFFFF"/>
                </a:solidFill>
                <a:latin typeface="Tahoma"/>
                <a:cs typeface="Tahoma"/>
              </a:rPr>
              <a:t>19.57192us</a:t>
            </a:r>
            <a:endParaRPr sz="100">
              <a:latin typeface="Tahoma"/>
              <a:cs typeface="Tahoma"/>
            </a:endParaRPr>
          </a:p>
        </p:txBody>
      </p:sp>
      <p:pic>
        <p:nvPicPr>
          <p:cNvPr id="432" name="object 43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96923" y="1121397"/>
            <a:ext cx="21464" cy="22024"/>
          </a:xfrm>
          <a:prstGeom prst="rect">
            <a:avLst/>
          </a:prstGeom>
        </p:spPr>
      </p:pic>
      <p:sp>
        <p:nvSpPr>
          <p:cNvPr id="433" name="object 433"/>
          <p:cNvSpPr txBox="1"/>
          <p:nvPr/>
        </p:nvSpPr>
        <p:spPr>
          <a:xfrm>
            <a:off x="1485156" y="1109257"/>
            <a:ext cx="44450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5" dirty="0">
                <a:solidFill>
                  <a:srgbClr val="FFFFFF"/>
                </a:solidFill>
                <a:latin typeface="Tahoma"/>
                <a:cs typeface="Tahoma"/>
              </a:rPr>
              <a:t>V1</a:t>
            </a:r>
            <a:endParaRPr sz="100">
              <a:latin typeface="Tahoma"/>
              <a:cs typeface="Tahoma"/>
            </a:endParaRPr>
          </a:p>
        </p:txBody>
      </p:sp>
      <p:sp>
        <p:nvSpPr>
          <p:cNvPr id="434" name="object 434"/>
          <p:cNvSpPr txBox="1"/>
          <p:nvPr/>
        </p:nvSpPr>
        <p:spPr>
          <a:xfrm>
            <a:off x="997641" y="1987839"/>
            <a:ext cx="921385" cy="6858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908050" algn="l"/>
              </a:tabLst>
            </a:pPr>
            <a:r>
              <a:rPr sz="100" b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Markern</a:t>
            </a:r>
            <a:r>
              <a:rPr sz="1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endParaRPr sz="100">
              <a:latin typeface="Cambria"/>
              <a:cs typeface="Cambria"/>
            </a:endParaRPr>
          </a:p>
          <a:p>
            <a:pPr marL="247015">
              <a:lnSpc>
                <a:spcPct val="100000"/>
              </a:lnSpc>
              <a:spcBef>
                <a:spcPts val="35"/>
              </a:spcBef>
            </a:pPr>
            <a:r>
              <a:rPr sz="100" b="1" dirty="0">
                <a:latin typeface="Cambria"/>
                <a:cs typeface="Cambria"/>
              </a:rPr>
              <a:t>!ł</a:t>
            </a:r>
            <a:r>
              <a:rPr sz="100" b="1" spc="350" dirty="0">
                <a:latin typeface="Cambria"/>
                <a:cs typeface="Cambria"/>
              </a:rPr>
              <a:t>   </a:t>
            </a:r>
            <a:r>
              <a:rPr sz="100" b="1" spc="-25" dirty="0">
                <a:latin typeface="Cambria"/>
                <a:cs typeface="Cambria"/>
              </a:rPr>
              <a:t>!P</a:t>
            </a:r>
            <a:endParaRPr sz="100">
              <a:latin typeface="Cambria"/>
              <a:cs typeface="Cambria"/>
            </a:endParaRPr>
          </a:p>
        </p:txBody>
      </p:sp>
      <p:sp>
        <p:nvSpPr>
          <p:cNvPr id="435" name="object 435"/>
          <p:cNvSpPr/>
          <p:nvPr/>
        </p:nvSpPr>
        <p:spPr>
          <a:xfrm>
            <a:off x="1054576" y="2047713"/>
            <a:ext cx="358775" cy="0"/>
          </a:xfrm>
          <a:custGeom>
            <a:avLst/>
            <a:gdLst/>
            <a:ahLst/>
            <a:cxnLst/>
            <a:rect l="l" t="t" r="r" b="b"/>
            <a:pathLst>
              <a:path w="358775">
                <a:moveTo>
                  <a:pt x="0" y="0"/>
                </a:moveTo>
                <a:lnTo>
                  <a:pt x="35873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 txBox="1"/>
          <p:nvPr/>
        </p:nvSpPr>
        <p:spPr>
          <a:xfrm>
            <a:off x="1214149" y="2039119"/>
            <a:ext cx="213360" cy="387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dirty="0">
                <a:latin typeface="Cambria"/>
                <a:cs typeface="Cambria"/>
              </a:rPr>
              <a:t>łR+57łRkn</a:t>
            </a:r>
            <a:r>
              <a:rPr sz="100" b="1" spc="445" dirty="0">
                <a:latin typeface="Cambria"/>
                <a:cs typeface="Cambria"/>
              </a:rPr>
              <a:t>  </a:t>
            </a:r>
            <a:r>
              <a:rPr sz="100" b="1" spc="-10" dirty="0">
                <a:latin typeface="Cambria"/>
                <a:cs typeface="Cambria"/>
              </a:rPr>
              <a:t>E⟡+E5E4kn</a:t>
            </a:r>
            <a:endParaRPr sz="100">
              <a:latin typeface="Cambria"/>
              <a:cs typeface="Cambria"/>
            </a:endParaRPr>
          </a:p>
        </p:txBody>
      </p:sp>
      <p:pic>
        <p:nvPicPr>
          <p:cNvPr id="437" name="object 43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54576" y="2068990"/>
            <a:ext cx="12505" cy="91642"/>
          </a:xfrm>
          <a:prstGeom prst="rect">
            <a:avLst/>
          </a:prstGeom>
        </p:spPr>
      </p:pic>
      <p:sp>
        <p:nvSpPr>
          <p:cNvPr id="438" name="object 438"/>
          <p:cNvSpPr txBox="1"/>
          <p:nvPr/>
        </p:nvSpPr>
        <p:spPr>
          <a:xfrm>
            <a:off x="1224974" y="2052110"/>
            <a:ext cx="64135" cy="106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210600"/>
              </a:lnSpc>
              <a:spcBef>
                <a:spcPts val="90"/>
              </a:spcBef>
            </a:pPr>
            <a:r>
              <a:rPr sz="100" b="1" spc="-10" dirty="0">
                <a:latin typeface="Cambria"/>
                <a:cs typeface="Cambria"/>
              </a:rPr>
              <a:t>R⟡⟡+⟡m!</a:t>
            </a:r>
            <a:r>
              <a:rPr sz="100" b="1" spc="500" dirty="0">
                <a:latin typeface="Cambria"/>
                <a:cs typeface="Cambria"/>
              </a:rPr>
              <a:t> </a:t>
            </a:r>
            <a:r>
              <a:rPr sz="100" b="1" spc="-10" dirty="0">
                <a:latin typeface="Cambria"/>
                <a:cs typeface="Cambria"/>
              </a:rPr>
              <a:t>R⟡⟡+⟡m!</a:t>
            </a:r>
            <a:r>
              <a:rPr sz="100" b="1" spc="500" dirty="0">
                <a:latin typeface="Cambria"/>
                <a:cs typeface="Cambria"/>
              </a:rPr>
              <a:t> </a:t>
            </a:r>
            <a:r>
              <a:rPr sz="100" b="1" spc="-10" dirty="0">
                <a:latin typeface="Cambria"/>
                <a:cs typeface="Cambria"/>
              </a:rPr>
              <a:t>R⟡⟡+⟡m!</a:t>
            </a:r>
            <a:r>
              <a:rPr sz="100" b="1" spc="500" dirty="0">
                <a:latin typeface="Cambria"/>
                <a:cs typeface="Cambria"/>
              </a:rPr>
              <a:t> </a:t>
            </a:r>
            <a:r>
              <a:rPr sz="100" b="1" spc="-10" dirty="0">
                <a:latin typeface="Cambria"/>
                <a:cs typeface="Cambria"/>
              </a:rPr>
              <a:t>8P⟡+⟡m!</a:t>
            </a:r>
            <a:r>
              <a:rPr sz="100" b="1" spc="500" dirty="0">
                <a:latin typeface="Cambria"/>
                <a:cs typeface="Cambria"/>
              </a:rPr>
              <a:t> </a:t>
            </a:r>
            <a:r>
              <a:rPr sz="100" b="1" spc="-10" dirty="0">
                <a:latin typeface="Cambria"/>
                <a:cs typeface="Cambria"/>
              </a:rPr>
              <a:t>R⟡⟡+⟡m!</a:t>
            </a:r>
            <a:endParaRPr sz="100">
              <a:latin typeface="Cambria"/>
              <a:cs typeface="Cambria"/>
            </a:endParaRPr>
          </a:p>
        </p:txBody>
      </p:sp>
      <p:sp>
        <p:nvSpPr>
          <p:cNvPr id="439" name="object 439"/>
          <p:cNvSpPr txBox="1"/>
          <p:nvPr/>
        </p:nvSpPr>
        <p:spPr>
          <a:xfrm>
            <a:off x="1362904" y="2052110"/>
            <a:ext cx="64135" cy="10604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" b="1" spc="-10" dirty="0">
                <a:latin typeface="Cambria"/>
                <a:cs typeface="Cambria"/>
              </a:rPr>
              <a:t>8P⟡+⟡m!</a:t>
            </a:r>
            <a:endParaRPr sz="100">
              <a:latin typeface="Cambria"/>
              <a:cs typeface="Cambria"/>
            </a:endParaRPr>
          </a:p>
          <a:p>
            <a:pPr marL="12700" marR="5080" algn="just">
              <a:lnSpc>
                <a:spcPct val="210600"/>
              </a:lnSpc>
            </a:pPr>
            <a:r>
              <a:rPr sz="100" b="1" spc="-10" dirty="0">
                <a:latin typeface="Cambria"/>
                <a:cs typeface="Cambria"/>
              </a:rPr>
              <a:t>8P⟡+⟡m!</a:t>
            </a:r>
            <a:r>
              <a:rPr sz="100" b="1" spc="500" dirty="0">
                <a:latin typeface="Cambria"/>
                <a:cs typeface="Cambria"/>
              </a:rPr>
              <a:t> </a:t>
            </a:r>
            <a:r>
              <a:rPr sz="100" b="1" spc="-10" dirty="0">
                <a:latin typeface="Cambria"/>
                <a:cs typeface="Cambria"/>
              </a:rPr>
              <a:t>R⟡⟡+⟡m!</a:t>
            </a:r>
            <a:r>
              <a:rPr sz="100" b="1" spc="500" dirty="0">
                <a:latin typeface="Cambria"/>
                <a:cs typeface="Cambria"/>
              </a:rPr>
              <a:t> </a:t>
            </a:r>
            <a:r>
              <a:rPr sz="100" b="1" spc="-10" dirty="0">
                <a:latin typeface="Cambria"/>
                <a:cs typeface="Cambria"/>
              </a:rPr>
              <a:t>8P⟡+⟡m!</a:t>
            </a:r>
            <a:r>
              <a:rPr sz="100" b="1" spc="500" dirty="0">
                <a:latin typeface="Cambria"/>
                <a:cs typeface="Cambria"/>
              </a:rPr>
              <a:t> </a:t>
            </a:r>
            <a:r>
              <a:rPr sz="100" b="1" spc="-10" dirty="0">
                <a:latin typeface="Cambria"/>
                <a:cs typeface="Cambria"/>
              </a:rPr>
              <a:t>R⟡⟡+⟡m!</a:t>
            </a:r>
            <a:endParaRPr sz="100">
              <a:latin typeface="Cambria"/>
              <a:cs typeface="Cambria"/>
            </a:endParaRPr>
          </a:p>
        </p:txBody>
      </p:sp>
      <p:sp>
        <p:nvSpPr>
          <p:cNvPr id="440" name="object 440"/>
          <p:cNvSpPr txBox="1"/>
          <p:nvPr/>
        </p:nvSpPr>
        <p:spPr>
          <a:xfrm>
            <a:off x="1098616" y="2036058"/>
            <a:ext cx="53340" cy="1377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210600"/>
              </a:lnSpc>
              <a:spcBef>
                <a:spcPts val="90"/>
              </a:spcBef>
            </a:pPr>
            <a:r>
              <a:rPr sz="100" b="1" spc="-25" dirty="0">
                <a:latin typeface="Cambria"/>
                <a:cs typeface="Cambria"/>
              </a:rPr>
              <a:t>x</a:t>
            </a:r>
            <a:r>
              <a:rPr sz="100" b="1" spc="500" dirty="0">
                <a:latin typeface="Cambria"/>
                <a:cs typeface="Cambria"/>
              </a:rPr>
              <a:t> </a:t>
            </a:r>
            <a:r>
              <a:rPr sz="100" b="1" spc="-10" dirty="0">
                <a:latin typeface="Cambria"/>
                <a:cs typeface="Cambria"/>
              </a:rPr>
              <a:t>Jneth</a:t>
            </a:r>
            <a:r>
              <a:rPr sz="100" b="1" spc="500" dirty="0">
                <a:latin typeface="Cambria"/>
                <a:cs typeface="Cambria"/>
              </a:rPr>
              <a:t> </a:t>
            </a:r>
            <a:r>
              <a:rPr sz="100" b="1" spc="-10" dirty="0">
                <a:latin typeface="Cambria"/>
                <a:cs typeface="Cambria"/>
              </a:rPr>
              <a:t>Jnet5</a:t>
            </a:r>
            <a:r>
              <a:rPr sz="100" b="1" spc="500" dirty="0">
                <a:latin typeface="Cambria"/>
                <a:cs typeface="Cambria"/>
              </a:rPr>
              <a:t> </a:t>
            </a:r>
            <a:r>
              <a:rPr sz="100" b="1" spc="-10" dirty="0">
                <a:latin typeface="Cambria"/>
                <a:cs typeface="Cambria"/>
              </a:rPr>
              <a:t>Jnet4</a:t>
            </a:r>
            <a:r>
              <a:rPr sz="100" b="1" spc="500" dirty="0">
                <a:latin typeface="Cambria"/>
                <a:cs typeface="Cambria"/>
              </a:rPr>
              <a:t> </a:t>
            </a:r>
            <a:r>
              <a:rPr sz="100" b="1" spc="-10" dirty="0">
                <a:latin typeface="Cambria"/>
                <a:cs typeface="Cambria"/>
              </a:rPr>
              <a:t>JnetE</a:t>
            </a:r>
            <a:r>
              <a:rPr sz="100" b="1" spc="500" dirty="0">
                <a:latin typeface="Cambria"/>
                <a:cs typeface="Cambria"/>
              </a:rPr>
              <a:t> </a:t>
            </a:r>
            <a:r>
              <a:rPr sz="100" b="1" spc="-10" dirty="0">
                <a:latin typeface="Cambria"/>
                <a:cs typeface="Cambria"/>
              </a:rPr>
              <a:t>JnetP</a:t>
            </a:r>
            <a:r>
              <a:rPr sz="100" b="1" spc="500" dirty="0">
                <a:latin typeface="Cambria"/>
                <a:cs typeface="Cambria"/>
              </a:rPr>
              <a:t> </a:t>
            </a:r>
            <a:r>
              <a:rPr sz="100" b="1" spc="-10" dirty="0">
                <a:latin typeface="Cambria"/>
                <a:cs typeface="Cambria"/>
              </a:rPr>
              <a:t>Jnetł</a:t>
            </a:r>
            <a:endParaRPr sz="100">
              <a:latin typeface="Cambria"/>
              <a:cs typeface="Cambria"/>
            </a:endParaRPr>
          </a:p>
        </p:txBody>
      </p:sp>
      <p:sp>
        <p:nvSpPr>
          <p:cNvPr id="441" name="object 441"/>
          <p:cNvSpPr txBox="1"/>
          <p:nvPr/>
        </p:nvSpPr>
        <p:spPr>
          <a:xfrm>
            <a:off x="1224974" y="2135427"/>
            <a:ext cx="202565" cy="387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dirty="0">
                <a:latin typeface="Cambria"/>
                <a:cs typeface="Cambria"/>
              </a:rPr>
              <a:t>8P⟡+⟡m!</a:t>
            </a:r>
            <a:r>
              <a:rPr sz="100" b="1" spc="450" dirty="0">
                <a:latin typeface="Cambria"/>
                <a:cs typeface="Cambria"/>
              </a:rPr>
              <a:t>  </a:t>
            </a:r>
            <a:r>
              <a:rPr sz="100" b="1" spc="-10" dirty="0">
                <a:latin typeface="Cambria"/>
                <a:cs typeface="Cambria"/>
              </a:rPr>
              <a:t>R⟡⟡+⟡m!</a:t>
            </a:r>
            <a:endParaRPr sz="100">
              <a:latin typeface="Cambria"/>
              <a:cs typeface="Cambria"/>
            </a:endParaRPr>
          </a:p>
        </p:txBody>
      </p:sp>
      <p:grpSp>
        <p:nvGrpSpPr>
          <p:cNvPr id="442" name="object 442"/>
          <p:cNvGrpSpPr/>
          <p:nvPr/>
        </p:nvGrpSpPr>
        <p:grpSpPr>
          <a:xfrm>
            <a:off x="1010341" y="2052939"/>
            <a:ext cx="895985" cy="140970"/>
            <a:chOff x="1010341" y="2052939"/>
            <a:chExt cx="895985" cy="140970"/>
          </a:xfrm>
        </p:grpSpPr>
        <p:sp>
          <p:nvSpPr>
            <p:cNvPr id="443" name="object 443"/>
            <p:cNvSpPr/>
            <p:nvPr/>
          </p:nvSpPr>
          <p:spPr>
            <a:xfrm>
              <a:off x="1319984" y="2052939"/>
              <a:ext cx="0" cy="107950"/>
            </a:xfrm>
            <a:custGeom>
              <a:avLst/>
              <a:gdLst/>
              <a:ahLst/>
              <a:cxnLst/>
              <a:rect l="l" t="t" r="r" b="b"/>
              <a:pathLst>
                <a:path h="107950">
                  <a:moveTo>
                    <a:pt x="0" y="0"/>
                  </a:moveTo>
                  <a:lnTo>
                    <a:pt x="0" y="1075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1010341" y="2193482"/>
              <a:ext cx="895985" cy="0"/>
            </a:xfrm>
            <a:custGeom>
              <a:avLst/>
              <a:gdLst/>
              <a:ahLst/>
              <a:cxnLst/>
              <a:rect l="l" t="t" r="r" b="b"/>
              <a:pathLst>
                <a:path w="895985">
                  <a:moveTo>
                    <a:pt x="0" y="0"/>
                  </a:moveTo>
                  <a:lnTo>
                    <a:pt x="8957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5" name="object 445"/>
          <p:cNvSpPr txBox="1"/>
          <p:nvPr/>
        </p:nvSpPr>
        <p:spPr>
          <a:xfrm>
            <a:off x="997641" y="2189368"/>
            <a:ext cx="90170" cy="55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" b="1" spc="-10" dirty="0">
                <a:latin typeface="Cambria"/>
                <a:cs typeface="Cambria"/>
              </a:rPr>
              <a:t>Printe4</a:t>
            </a:r>
            <a:r>
              <a:rPr sz="100" b="1" spc="60" dirty="0">
                <a:latin typeface="Cambria"/>
                <a:cs typeface="Cambria"/>
              </a:rPr>
              <a:t> </a:t>
            </a:r>
            <a:r>
              <a:rPr sz="100" b="1" spc="-25" dirty="0">
                <a:latin typeface="Cambria"/>
                <a:cs typeface="Cambria"/>
              </a:rPr>
              <a:t>en</a:t>
            </a:r>
            <a:r>
              <a:rPr sz="100" b="1" spc="500" dirty="0">
                <a:latin typeface="Cambria"/>
                <a:cs typeface="Cambria"/>
              </a:rPr>
              <a:t> </a:t>
            </a:r>
            <a:r>
              <a:rPr sz="100" b="1" dirty="0">
                <a:latin typeface="Cambria"/>
                <a:cs typeface="Cambria"/>
              </a:rPr>
              <a:t>h;</a:t>
            </a:r>
            <a:r>
              <a:rPr sz="100" b="1" spc="35" dirty="0">
                <a:latin typeface="Cambria"/>
                <a:cs typeface="Cambria"/>
              </a:rPr>
              <a:t> </a:t>
            </a:r>
            <a:r>
              <a:rPr sz="100" b="1" spc="-20" dirty="0">
                <a:latin typeface="Cambria"/>
                <a:cs typeface="Cambria"/>
              </a:rPr>
              <a:t>hket</a:t>
            </a:r>
            <a:endParaRPr sz="100">
              <a:latin typeface="Cambria"/>
              <a:cs typeface="Cambria"/>
            </a:endParaRPr>
          </a:p>
        </p:txBody>
      </p:sp>
      <p:sp>
        <p:nvSpPr>
          <p:cNvPr id="446" name="object 446"/>
          <p:cNvSpPr txBox="1"/>
          <p:nvPr/>
        </p:nvSpPr>
        <p:spPr>
          <a:xfrm>
            <a:off x="1823729" y="2189368"/>
            <a:ext cx="96520" cy="40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" b="1" spc="-10" dirty="0">
                <a:latin typeface="Cambria"/>
                <a:cs typeface="Cambria"/>
              </a:rPr>
              <a:t>Page</a:t>
            </a:r>
            <a:r>
              <a:rPr sz="100" b="1" dirty="0">
                <a:latin typeface="Cambria"/>
                <a:cs typeface="Cambria"/>
              </a:rPr>
              <a:t>  </a:t>
            </a:r>
            <a:r>
              <a:rPr sz="100" b="1" spc="15" dirty="0">
                <a:latin typeface="Cambria"/>
                <a:cs typeface="Cambria"/>
              </a:rPr>
              <a:t>ł</a:t>
            </a:r>
            <a:r>
              <a:rPr sz="100" b="1" dirty="0">
                <a:latin typeface="Cambria"/>
                <a:cs typeface="Cambria"/>
              </a:rPr>
              <a:t>  eF  </a:t>
            </a:r>
            <a:r>
              <a:rPr sz="100" b="1" spc="15" dirty="0">
                <a:latin typeface="Cambria"/>
                <a:cs typeface="Cambria"/>
              </a:rPr>
              <a:t>ł</a:t>
            </a:r>
            <a:endParaRPr sz="100">
              <a:latin typeface="Cambria"/>
              <a:cs typeface="Cambria"/>
            </a:endParaRPr>
          </a:p>
        </p:txBody>
      </p:sp>
      <p:sp>
        <p:nvSpPr>
          <p:cNvPr id="447" name="object 447"/>
          <p:cNvSpPr txBox="1"/>
          <p:nvPr/>
        </p:nvSpPr>
        <p:spPr>
          <a:xfrm>
            <a:off x="1402334" y="1189880"/>
            <a:ext cx="52705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spc="-50" dirty="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448" name="object 448"/>
          <p:cNvSpPr txBox="1"/>
          <p:nvPr/>
        </p:nvSpPr>
        <p:spPr>
          <a:xfrm>
            <a:off x="1602874" y="1187701"/>
            <a:ext cx="52705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spc="-50" dirty="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449" name="object 449"/>
          <p:cNvSpPr txBox="1"/>
          <p:nvPr/>
        </p:nvSpPr>
        <p:spPr>
          <a:xfrm>
            <a:off x="1793607" y="1174622"/>
            <a:ext cx="72390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spc="-10" dirty="0">
                <a:latin typeface="Times New Roman"/>
                <a:cs typeface="Times New Roman"/>
              </a:rPr>
              <a:t>-</a:t>
            </a:r>
            <a:r>
              <a:rPr sz="450" spc="-50" dirty="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450" name="object 450"/>
          <p:cNvSpPr txBox="1"/>
          <p:nvPr/>
        </p:nvSpPr>
        <p:spPr>
          <a:xfrm>
            <a:off x="1602874" y="1320668"/>
            <a:ext cx="52705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spc="-50" dirty="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451" name="object 451"/>
          <p:cNvSpPr txBox="1"/>
          <p:nvPr/>
        </p:nvSpPr>
        <p:spPr>
          <a:xfrm>
            <a:off x="1811045" y="1303230"/>
            <a:ext cx="72390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spc="-10" dirty="0">
                <a:latin typeface="Times New Roman"/>
                <a:cs typeface="Times New Roman"/>
              </a:rPr>
              <a:t>-</a:t>
            </a:r>
            <a:r>
              <a:rPr sz="450" spc="-50" dirty="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452" name="object 452"/>
          <p:cNvSpPr txBox="1"/>
          <p:nvPr/>
        </p:nvSpPr>
        <p:spPr>
          <a:xfrm>
            <a:off x="1401244" y="1321758"/>
            <a:ext cx="54610" cy="23367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90"/>
              </a:spcBef>
            </a:pPr>
            <a:r>
              <a:rPr sz="450" spc="-50" dirty="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50" spc="-50" dirty="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453" name="object 453"/>
          <p:cNvSpPr txBox="1"/>
          <p:nvPr/>
        </p:nvSpPr>
        <p:spPr>
          <a:xfrm>
            <a:off x="1610505" y="1460175"/>
            <a:ext cx="52705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spc="-50" dirty="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454" name="object 454"/>
          <p:cNvSpPr txBox="1"/>
          <p:nvPr/>
        </p:nvSpPr>
        <p:spPr>
          <a:xfrm>
            <a:off x="1835022" y="1457994"/>
            <a:ext cx="52705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spc="-50" dirty="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455" name="object 455"/>
          <p:cNvSpPr txBox="1"/>
          <p:nvPr/>
        </p:nvSpPr>
        <p:spPr>
          <a:xfrm>
            <a:off x="1404513" y="1575705"/>
            <a:ext cx="72390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spc="-10" dirty="0">
                <a:latin typeface="Times New Roman"/>
                <a:cs typeface="Times New Roman"/>
              </a:rPr>
              <a:t>-</a:t>
            </a:r>
            <a:r>
              <a:rPr sz="450" spc="-50" dirty="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456" name="object 456"/>
          <p:cNvSpPr txBox="1"/>
          <p:nvPr/>
        </p:nvSpPr>
        <p:spPr>
          <a:xfrm>
            <a:off x="1591976" y="1573524"/>
            <a:ext cx="72390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spc="-10" dirty="0">
                <a:latin typeface="Times New Roman"/>
                <a:cs typeface="Times New Roman"/>
              </a:rPr>
              <a:t>-</a:t>
            </a:r>
            <a:r>
              <a:rPr sz="450" spc="-50" dirty="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457" name="object 457"/>
          <p:cNvSpPr txBox="1"/>
          <p:nvPr/>
        </p:nvSpPr>
        <p:spPr>
          <a:xfrm>
            <a:off x="1796877" y="1577884"/>
            <a:ext cx="72390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spc="-10" dirty="0">
                <a:latin typeface="Times New Roman"/>
                <a:cs typeface="Times New Roman"/>
              </a:rPr>
              <a:t>-</a:t>
            </a:r>
            <a:r>
              <a:rPr sz="450" spc="-50" dirty="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458" name="object 458"/>
          <p:cNvSpPr txBox="1"/>
          <p:nvPr/>
        </p:nvSpPr>
        <p:spPr>
          <a:xfrm>
            <a:off x="1394705" y="1706491"/>
            <a:ext cx="52705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spc="-50" dirty="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459" name="object 459"/>
          <p:cNvSpPr txBox="1"/>
          <p:nvPr/>
        </p:nvSpPr>
        <p:spPr>
          <a:xfrm>
            <a:off x="1594156" y="1710851"/>
            <a:ext cx="73025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b="1" spc="-10" dirty="0">
                <a:latin typeface="Times New Roman"/>
                <a:cs typeface="Times New Roman"/>
              </a:rPr>
              <a:t>-</a:t>
            </a:r>
            <a:r>
              <a:rPr sz="450" b="1" spc="-50" dirty="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460" name="object 460"/>
          <p:cNvSpPr txBox="1"/>
          <p:nvPr/>
        </p:nvSpPr>
        <p:spPr>
          <a:xfrm>
            <a:off x="1793607" y="1717391"/>
            <a:ext cx="53975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b="1" spc="-50" dirty="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461" name="object 461"/>
          <p:cNvSpPr txBox="1"/>
          <p:nvPr/>
        </p:nvSpPr>
        <p:spPr>
          <a:xfrm>
            <a:off x="1368594" y="1829650"/>
            <a:ext cx="499745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238760" algn="l"/>
                <a:tab pos="433070" algn="l"/>
              </a:tabLst>
            </a:pPr>
            <a:r>
              <a:rPr sz="450" b="1" spc="-10" dirty="0">
                <a:latin typeface="Times New Roman"/>
                <a:cs typeface="Times New Roman"/>
              </a:rPr>
              <a:t>-</a:t>
            </a:r>
            <a:r>
              <a:rPr sz="450" b="1" spc="-50" dirty="0">
                <a:latin typeface="Times New Roman"/>
                <a:cs typeface="Times New Roman"/>
              </a:rPr>
              <a:t>1</a:t>
            </a:r>
            <a:r>
              <a:rPr sz="450" b="1" dirty="0">
                <a:latin typeface="Times New Roman"/>
                <a:cs typeface="Times New Roman"/>
              </a:rPr>
              <a:t>	</a:t>
            </a:r>
            <a:r>
              <a:rPr sz="675" b="1" spc="-75" baseline="-12345" dirty="0">
                <a:latin typeface="Times New Roman"/>
                <a:cs typeface="Times New Roman"/>
              </a:rPr>
              <a:t>1</a:t>
            </a:r>
            <a:r>
              <a:rPr sz="675" b="1" baseline="-12345" dirty="0">
                <a:latin typeface="Times New Roman"/>
                <a:cs typeface="Times New Roman"/>
              </a:rPr>
              <a:t>	</a:t>
            </a:r>
            <a:r>
              <a:rPr sz="675" b="1" spc="-75" baseline="-12345" dirty="0">
                <a:latin typeface="Times New Roman"/>
                <a:cs typeface="Times New Roman"/>
              </a:rPr>
              <a:t>1</a:t>
            </a:r>
            <a:endParaRPr sz="675" baseline="-12345">
              <a:latin typeface="Times New Roman"/>
              <a:cs typeface="Times New Roman"/>
            </a:endParaRPr>
          </a:p>
        </p:txBody>
      </p:sp>
      <p:sp>
        <p:nvSpPr>
          <p:cNvPr id="462" name="object 462"/>
          <p:cNvSpPr txBox="1"/>
          <p:nvPr/>
        </p:nvSpPr>
        <p:spPr>
          <a:xfrm>
            <a:off x="4157181" y="1041505"/>
            <a:ext cx="197485" cy="40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" spc="-25" dirty="0">
                <a:latin typeface="Cambria"/>
                <a:cs typeface="Cambria"/>
              </a:rPr>
              <a:t>BRM</a:t>
            </a:r>
            <a:r>
              <a:rPr sz="100" spc="50" dirty="0">
                <a:latin typeface="Cambria"/>
                <a:cs typeface="Cambria"/>
              </a:rPr>
              <a:t> </a:t>
            </a:r>
            <a:r>
              <a:rPr sz="100" spc="-10" dirty="0">
                <a:latin typeface="Cambria"/>
                <a:cs typeface="Cambria"/>
              </a:rPr>
              <a:t>Erennhar_BamP</a:t>
            </a:r>
            <a:r>
              <a:rPr sz="100" spc="50" dirty="0">
                <a:latin typeface="Cambria"/>
                <a:cs typeface="Cambria"/>
              </a:rPr>
              <a:t> </a:t>
            </a:r>
            <a:r>
              <a:rPr sz="100" spc="-10" dirty="0">
                <a:latin typeface="Cambria"/>
                <a:cs typeface="Cambria"/>
              </a:rPr>
              <a:t>nchematic</a:t>
            </a:r>
            <a:endParaRPr sz="100">
              <a:latin typeface="Cambria"/>
              <a:cs typeface="Cambria"/>
            </a:endParaRPr>
          </a:p>
        </p:txBody>
      </p:sp>
      <p:sp>
        <p:nvSpPr>
          <p:cNvPr id="463" name="object 463"/>
          <p:cNvSpPr txBox="1"/>
          <p:nvPr/>
        </p:nvSpPr>
        <p:spPr>
          <a:xfrm>
            <a:off x="4532150" y="1041505"/>
            <a:ext cx="184785" cy="40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" dirty="0">
                <a:latin typeface="Cambria"/>
                <a:cs typeface="Cambria"/>
              </a:rPr>
              <a:t>łł"E5"ł5</a:t>
            </a:r>
            <a:r>
              <a:rPr sz="100" spc="114" dirty="0">
                <a:latin typeface="Cambria"/>
                <a:cs typeface="Cambria"/>
              </a:rPr>
              <a:t> </a:t>
            </a:r>
            <a:r>
              <a:rPr sz="100" dirty="0">
                <a:latin typeface="Cambria"/>
                <a:cs typeface="Cambria"/>
              </a:rPr>
              <a:t>4at</a:t>
            </a:r>
            <a:r>
              <a:rPr sz="100" spc="45" dirty="0">
                <a:latin typeface="Cambria"/>
                <a:cs typeface="Cambria"/>
              </a:rPr>
              <a:t> </a:t>
            </a:r>
            <a:r>
              <a:rPr sz="100" dirty="0">
                <a:latin typeface="Cambria"/>
                <a:cs typeface="Cambria"/>
              </a:rPr>
              <a:t>Rpr</a:t>
            </a:r>
            <a:r>
              <a:rPr sz="100" spc="45" dirty="0">
                <a:latin typeface="Cambria"/>
                <a:cs typeface="Cambria"/>
              </a:rPr>
              <a:t> </a:t>
            </a:r>
            <a:r>
              <a:rPr sz="100" dirty="0">
                <a:latin typeface="Cambria"/>
                <a:cs typeface="Cambria"/>
              </a:rPr>
              <a:t>ł8</a:t>
            </a:r>
            <a:r>
              <a:rPr sz="100" spc="40" dirty="0">
                <a:latin typeface="Cambria"/>
                <a:cs typeface="Cambria"/>
              </a:rPr>
              <a:t> </a:t>
            </a:r>
            <a:r>
              <a:rPr sz="100" spc="-20" dirty="0">
                <a:latin typeface="Cambria"/>
                <a:cs typeface="Cambria"/>
              </a:rPr>
              <a:t>P⟡Ph</a:t>
            </a:r>
            <a:endParaRPr sz="100">
              <a:latin typeface="Cambria"/>
              <a:cs typeface="Cambria"/>
            </a:endParaRPr>
          </a:p>
        </p:txBody>
      </p:sp>
      <p:sp>
        <p:nvSpPr>
          <p:cNvPr id="464" name="object 464"/>
          <p:cNvSpPr/>
          <p:nvPr/>
        </p:nvSpPr>
        <p:spPr>
          <a:xfrm>
            <a:off x="3807605" y="1078096"/>
            <a:ext cx="895985" cy="0"/>
          </a:xfrm>
          <a:custGeom>
            <a:avLst/>
            <a:gdLst/>
            <a:ahLst/>
            <a:cxnLst/>
            <a:rect l="l" t="t" r="r" b="b"/>
            <a:pathLst>
              <a:path w="895985">
                <a:moveTo>
                  <a:pt x="0" y="0"/>
                </a:moveTo>
                <a:lnTo>
                  <a:pt x="89570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5" name="object 465"/>
          <p:cNvSpPr txBox="1"/>
          <p:nvPr/>
        </p:nvSpPr>
        <p:spPr>
          <a:xfrm>
            <a:off x="3794905" y="1083127"/>
            <a:ext cx="167640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10" dirty="0">
                <a:latin typeface="Cambria"/>
                <a:cs typeface="Cambria"/>
              </a:rPr>
              <a:t>Trannient</a:t>
            </a:r>
            <a:r>
              <a:rPr sz="100" spc="70" dirty="0">
                <a:latin typeface="Cambria"/>
                <a:cs typeface="Cambria"/>
              </a:rPr>
              <a:t> </a:t>
            </a:r>
            <a:r>
              <a:rPr sz="100" spc="-10" dirty="0">
                <a:latin typeface="Cambria"/>
                <a:cs typeface="Cambria"/>
              </a:rPr>
              <a:t>Renpenne</a:t>
            </a:r>
            <a:endParaRPr sz="100">
              <a:latin typeface="Cambria"/>
              <a:cs typeface="Cambria"/>
            </a:endParaRPr>
          </a:p>
        </p:txBody>
      </p:sp>
      <p:grpSp>
        <p:nvGrpSpPr>
          <p:cNvPr id="466" name="object 466"/>
          <p:cNvGrpSpPr/>
          <p:nvPr/>
        </p:nvGrpSpPr>
        <p:grpSpPr>
          <a:xfrm>
            <a:off x="3806652" y="1113352"/>
            <a:ext cx="897890" cy="290195"/>
            <a:chOff x="3806652" y="1113352"/>
            <a:chExt cx="897890" cy="290195"/>
          </a:xfrm>
        </p:grpSpPr>
        <p:sp>
          <p:nvSpPr>
            <p:cNvPr id="467" name="object 467"/>
            <p:cNvSpPr/>
            <p:nvPr/>
          </p:nvSpPr>
          <p:spPr>
            <a:xfrm>
              <a:off x="3807605" y="1114305"/>
              <a:ext cx="895985" cy="0"/>
            </a:xfrm>
            <a:custGeom>
              <a:avLst/>
              <a:gdLst/>
              <a:ahLst/>
              <a:cxnLst/>
              <a:rect l="l" t="t" r="r" b="b"/>
              <a:pathLst>
                <a:path w="895985">
                  <a:moveTo>
                    <a:pt x="0" y="0"/>
                  </a:moveTo>
                  <a:lnTo>
                    <a:pt x="8957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/>
            <p:cNvSpPr/>
            <p:nvPr/>
          </p:nvSpPr>
          <p:spPr>
            <a:xfrm>
              <a:off x="4078612" y="1397631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9" name="object 469"/>
            <p:cNvSpPr/>
            <p:nvPr/>
          </p:nvSpPr>
          <p:spPr>
            <a:xfrm>
              <a:off x="4078612" y="1392778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4078612" y="138811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/>
            <p:cNvSpPr/>
            <p:nvPr/>
          </p:nvSpPr>
          <p:spPr>
            <a:xfrm>
              <a:off x="4078612" y="1383259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2" name="object 472"/>
            <p:cNvSpPr/>
            <p:nvPr/>
          </p:nvSpPr>
          <p:spPr>
            <a:xfrm>
              <a:off x="4078612" y="1373740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3" name="object 473"/>
            <p:cNvSpPr/>
            <p:nvPr/>
          </p:nvSpPr>
          <p:spPr>
            <a:xfrm>
              <a:off x="4078612" y="1369074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4" name="object 474"/>
            <p:cNvSpPr/>
            <p:nvPr/>
          </p:nvSpPr>
          <p:spPr>
            <a:xfrm>
              <a:off x="4078612" y="136422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5" name="object 475"/>
            <p:cNvSpPr/>
            <p:nvPr/>
          </p:nvSpPr>
          <p:spPr>
            <a:xfrm>
              <a:off x="4078612" y="1359555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4078612" y="1350037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7" name="object 477"/>
            <p:cNvSpPr/>
            <p:nvPr/>
          </p:nvSpPr>
          <p:spPr>
            <a:xfrm>
              <a:off x="4078612" y="1345371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8" name="object 478"/>
            <p:cNvSpPr/>
            <p:nvPr/>
          </p:nvSpPr>
          <p:spPr>
            <a:xfrm>
              <a:off x="4078612" y="1340518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9" name="object 479"/>
            <p:cNvSpPr/>
            <p:nvPr/>
          </p:nvSpPr>
          <p:spPr>
            <a:xfrm>
              <a:off x="4078612" y="133585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0" name="object 480"/>
            <p:cNvSpPr/>
            <p:nvPr/>
          </p:nvSpPr>
          <p:spPr>
            <a:xfrm>
              <a:off x="4078612" y="1326333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1" name="object 481"/>
            <p:cNvSpPr/>
            <p:nvPr/>
          </p:nvSpPr>
          <p:spPr>
            <a:xfrm>
              <a:off x="4078612" y="1321667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4078612" y="1316814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3" name="object 483"/>
            <p:cNvSpPr/>
            <p:nvPr/>
          </p:nvSpPr>
          <p:spPr>
            <a:xfrm>
              <a:off x="4078612" y="1312148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4" name="object 484"/>
            <p:cNvSpPr/>
            <p:nvPr/>
          </p:nvSpPr>
          <p:spPr>
            <a:xfrm>
              <a:off x="4078612" y="1302629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5" name="object 485"/>
            <p:cNvSpPr/>
            <p:nvPr/>
          </p:nvSpPr>
          <p:spPr>
            <a:xfrm>
              <a:off x="4078612" y="1297776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6" name="object 486"/>
            <p:cNvSpPr/>
            <p:nvPr/>
          </p:nvSpPr>
          <p:spPr>
            <a:xfrm>
              <a:off x="4078612" y="1293110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7" name="object 487"/>
            <p:cNvSpPr/>
            <p:nvPr/>
          </p:nvSpPr>
          <p:spPr>
            <a:xfrm>
              <a:off x="4078612" y="1288257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8" name="object 488"/>
            <p:cNvSpPr/>
            <p:nvPr/>
          </p:nvSpPr>
          <p:spPr>
            <a:xfrm>
              <a:off x="4106982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9" name="object 489"/>
            <p:cNvSpPr/>
            <p:nvPr/>
          </p:nvSpPr>
          <p:spPr>
            <a:xfrm>
              <a:off x="4127140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0" name="object 490"/>
            <p:cNvSpPr/>
            <p:nvPr/>
          </p:nvSpPr>
          <p:spPr>
            <a:xfrm>
              <a:off x="4147298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1" name="object 491"/>
            <p:cNvSpPr/>
            <p:nvPr/>
          </p:nvSpPr>
          <p:spPr>
            <a:xfrm>
              <a:off x="4167268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2" name="object 492"/>
            <p:cNvSpPr/>
            <p:nvPr/>
          </p:nvSpPr>
          <p:spPr>
            <a:xfrm>
              <a:off x="4207584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3" name="object 493"/>
            <p:cNvSpPr/>
            <p:nvPr/>
          </p:nvSpPr>
          <p:spPr>
            <a:xfrm>
              <a:off x="4227741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4" name="object 494"/>
            <p:cNvSpPr/>
            <p:nvPr/>
          </p:nvSpPr>
          <p:spPr>
            <a:xfrm>
              <a:off x="4247712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5" name="object 495"/>
            <p:cNvSpPr/>
            <p:nvPr/>
          </p:nvSpPr>
          <p:spPr>
            <a:xfrm>
              <a:off x="4267870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6" name="object 496"/>
            <p:cNvSpPr/>
            <p:nvPr/>
          </p:nvSpPr>
          <p:spPr>
            <a:xfrm>
              <a:off x="4307998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7" name="object 497"/>
            <p:cNvSpPr/>
            <p:nvPr/>
          </p:nvSpPr>
          <p:spPr>
            <a:xfrm>
              <a:off x="4328156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8" name="object 498"/>
            <p:cNvSpPr/>
            <p:nvPr/>
          </p:nvSpPr>
          <p:spPr>
            <a:xfrm>
              <a:off x="4348313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9" name="object 499"/>
            <p:cNvSpPr/>
            <p:nvPr/>
          </p:nvSpPr>
          <p:spPr>
            <a:xfrm>
              <a:off x="4368471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0" name="object 500"/>
            <p:cNvSpPr/>
            <p:nvPr/>
          </p:nvSpPr>
          <p:spPr>
            <a:xfrm>
              <a:off x="4408599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1" name="object 501"/>
            <p:cNvSpPr/>
            <p:nvPr/>
          </p:nvSpPr>
          <p:spPr>
            <a:xfrm>
              <a:off x="4428757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2" name="object 502"/>
            <p:cNvSpPr/>
            <p:nvPr/>
          </p:nvSpPr>
          <p:spPr>
            <a:xfrm>
              <a:off x="4448728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3" name="object 503"/>
            <p:cNvSpPr/>
            <p:nvPr/>
          </p:nvSpPr>
          <p:spPr>
            <a:xfrm>
              <a:off x="4468886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4" name="object 504"/>
            <p:cNvSpPr/>
            <p:nvPr/>
          </p:nvSpPr>
          <p:spPr>
            <a:xfrm>
              <a:off x="4509201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5" name="object 505"/>
            <p:cNvSpPr/>
            <p:nvPr/>
          </p:nvSpPr>
          <p:spPr>
            <a:xfrm>
              <a:off x="4529172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6" name="object 506"/>
            <p:cNvSpPr/>
            <p:nvPr/>
          </p:nvSpPr>
          <p:spPr>
            <a:xfrm>
              <a:off x="4549329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7" name="object 507"/>
            <p:cNvSpPr/>
            <p:nvPr/>
          </p:nvSpPr>
          <p:spPr>
            <a:xfrm>
              <a:off x="4569487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8" name="object 508"/>
            <p:cNvSpPr/>
            <p:nvPr/>
          </p:nvSpPr>
          <p:spPr>
            <a:xfrm>
              <a:off x="4609615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9" name="object 509"/>
            <p:cNvSpPr/>
            <p:nvPr/>
          </p:nvSpPr>
          <p:spPr>
            <a:xfrm>
              <a:off x="4629773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0" name="object 510"/>
            <p:cNvSpPr/>
            <p:nvPr/>
          </p:nvSpPr>
          <p:spPr>
            <a:xfrm>
              <a:off x="4649931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1" name="object 511"/>
            <p:cNvSpPr/>
            <p:nvPr/>
          </p:nvSpPr>
          <p:spPr>
            <a:xfrm>
              <a:off x="4669901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2" name="object 512"/>
            <p:cNvSpPr/>
            <p:nvPr/>
          </p:nvSpPr>
          <p:spPr>
            <a:xfrm>
              <a:off x="4078612" y="1402297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3" name="object 513"/>
            <p:cNvSpPr/>
            <p:nvPr/>
          </p:nvSpPr>
          <p:spPr>
            <a:xfrm>
              <a:off x="4078612" y="1378593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4" name="object 514"/>
            <p:cNvSpPr/>
            <p:nvPr/>
          </p:nvSpPr>
          <p:spPr>
            <a:xfrm>
              <a:off x="4078612" y="1354889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5" name="object 515"/>
            <p:cNvSpPr/>
            <p:nvPr/>
          </p:nvSpPr>
          <p:spPr>
            <a:xfrm>
              <a:off x="4078612" y="1330999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6" name="object 516"/>
            <p:cNvSpPr/>
            <p:nvPr/>
          </p:nvSpPr>
          <p:spPr>
            <a:xfrm>
              <a:off x="4078612" y="1307295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7" name="object 517"/>
            <p:cNvSpPr/>
            <p:nvPr/>
          </p:nvSpPr>
          <p:spPr>
            <a:xfrm>
              <a:off x="4078612" y="1283591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8" name="object 518"/>
            <p:cNvSpPr/>
            <p:nvPr/>
          </p:nvSpPr>
          <p:spPr>
            <a:xfrm>
              <a:off x="4087011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9" name="object 519"/>
            <p:cNvSpPr/>
            <p:nvPr/>
          </p:nvSpPr>
          <p:spPr>
            <a:xfrm>
              <a:off x="4187426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0" name="object 520"/>
            <p:cNvSpPr/>
            <p:nvPr/>
          </p:nvSpPr>
          <p:spPr>
            <a:xfrm>
              <a:off x="4288027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1" name="object 521"/>
            <p:cNvSpPr/>
            <p:nvPr/>
          </p:nvSpPr>
          <p:spPr>
            <a:xfrm>
              <a:off x="4388442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2" name="object 522"/>
            <p:cNvSpPr/>
            <p:nvPr/>
          </p:nvSpPr>
          <p:spPr>
            <a:xfrm>
              <a:off x="4489043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3" name="object 523"/>
            <p:cNvSpPr/>
            <p:nvPr/>
          </p:nvSpPr>
          <p:spPr>
            <a:xfrm>
              <a:off x="4589458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4" name="object 524"/>
            <p:cNvSpPr/>
            <p:nvPr/>
          </p:nvSpPr>
          <p:spPr>
            <a:xfrm>
              <a:off x="4690059" y="1283591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5" name="object 525"/>
            <p:cNvSpPr/>
            <p:nvPr/>
          </p:nvSpPr>
          <p:spPr>
            <a:xfrm>
              <a:off x="4075439" y="1310095"/>
              <a:ext cx="614680" cy="83185"/>
            </a:xfrm>
            <a:custGeom>
              <a:avLst/>
              <a:gdLst/>
              <a:ahLst/>
              <a:cxnLst/>
              <a:rect l="l" t="t" r="r" b="b"/>
              <a:pathLst>
                <a:path w="614679" h="83184">
                  <a:moveTo>
                    <a:pt x="0" y="83056"/>
                  </a:moveTo>
                  <a:lnTo>
                    <a:pt x="11385" y="83056"/>
                  </a:lnTo>
                  <a:lnTo>
                    <a:pt x="11945" y="82496"/>
                  </a:lnTo>
                  <a:lnTo>
                    <a:pt x="11945" y="82310"/>
                  </a:lnTo>
                  <a:lnTo>
                    <a:pt x="12131" y="81750"/>
                  </a:lnTo>
                  <a:lnTo>
                    <a:pt x="12131" y="80630"/>
                  </a:lnTo>
                  <a:lnTo>
                    <a:pt x="12318" y="79883"/>
                  </a:lnTo>
                  <a:lnTo>
                    <a:pt x="12318" y="78950"/>
                  </a:lnTo>
                  <a:lnTo>
                    <a:pt x="12505" y="78203"/>
                  </a:lnTo>
                  <a:lnTo>
                    <a:pt x="12505" y="77270"/>
                  </a:lnTo>
                  <a:lnTo>
                    <a:pt x="12691" y="76150"/>
                  </a:lnTo>
                  <a:lnTo>
                    <a:pt x="12691" y="74657"/>
                  </a:lnTo>
                  <a:lnTo>
                    <a:pt x="12878" y="72977"/>
                  </a:lnTo>
                  <a:lnTo>
                    <a:pt x="13065" y="69618"/>
                  </a:lnTo>
                  <a:lnTo>
                    <a:pt x="13438" y="64765"/>
                  </a:lnTo>
                  <a:lnTo>
                    <a:pt x="13811" y="58419"/>
                  </a:lnTo>
                  <a:lnTo>
                    <a:pt x="14371" y="50953"/>
                  </a:lnTo>
                  <a:lnTo>
                    <a:pt x="15118" y="42368"/>
                  </a:lnTo>
                  <a:lnTo>
                    <a:pt x="15864" y="32849"/>
                  </a:lnTo>
                  <a:lnTo>
                    <a:pt x="16424" y="26130"/>
                  </a:lnTo>
                  <a:lnTo>
                    <a:pt x="17171" y="19411"/>
                  </a:lnTo>
                  <a:lnTo>
                    <a:pt x="17731" y="13811"/>
                  </a:lnTo>
                  <a:lnTo>
                    <a:pt x="18104" y="11758"/>
                  </a:lnTo>
                  <a:lnTo>
                    <a:pt x="27809" y="0"/>
                  </a:lnTo>
                  <a:lnTo>
                    <a:pt x="212774" y="0"/>
                  </a:lnTo>
                  <a:lnTo>
                    <a:pt x="212961" y="186"/>
                  </a:lnTo>
                  <a:lnTo>
                    <a:pt x="213147" y="559"/>
                  </a:lnTo>
                  <a:lnTo>
                    <a:pt x="213334" y="746"/>
                  </a:lnTo>
                  <a:lnTo>
                    <a:pt x="213334" y="1119"/>
                  </a:lnTo>
                  <a:lnTo>
                    <a:pt x="213521" y="1493"/>
                  </a:lnTo>
                  <a:lnTo>
                    <a:pt x="213521" y="2053"/>
                  </a:lnTo>
                  <a:lnTo>
                    <a:pt x="213707" y="2239"/>
                  </a:lnTo>
                  <a:lnTo>
                    <a:pt x="213707" y="2986"/>
                  </a:lnTo>
                  <a:lnTo>
                    <a:pt x="213894" y="3359"/>
                  </a:lnTo>
                  <a:lnTo>
                    <a:pt x="213894" y="4106"/>
                  </a:lnTo>
                  <a:lnTo>
                    <a:pt x="214267" y="5226"/>
                  </a:lnTo>
                  <a:lnTo>
                    <a:pt x="214640" y="7465"/>
                  </a:lnTo>
                  <a:lnTo>
                    <a:pt x="221733" y="49274"/>
                  </a:lnTo>
                  <a:lnTo>
                    <a:pt x="246183" y="81003"/>
                  </a:lnTo>
                  <a:lnTo>
                    <a:pt x="272687" y="82870"/>
                  </a:lnTo>
                  <a:lnTo>
                    <a:pt x="413603" y="82870"/>
                  </a:lnTo>
                  <a:lnTo>
                    <a:pt x="413790" y="82496"/>
                  </a:lnTo>
                  <a:lnTo>
                    <a:pt x="413977" y="82310"/>
                  </a:lnTo>
                  <a:lnTo>
                    <a:pt x="413977" y="81750"/>
                  </a:lnTo>
                  <a:lnTo>
                    <a:pt x="414163" y="81003"/>
                  </a:lnTo>
                  <a:lnTo>
                    <a:pt x="414163" y="80257"/>
                  </a:lnTo>
                  <a:lnTo>
                    <a:pt x="414350" y="79137"/>
                  </a:lnTo>
                  <a:lnTo>
                    <a:pt x="414350" y="78017"/>
                  </a:lnTo>
                  <a:lnTo>
                    <a:pt x="414536" y="77457"/>
                  </a:lnTo>
                  <a:lnTo>
                    <a:pt x="414536" y="75217"/>
                  </a:lnTo>
                  <a:lnTo>
                    <a:pt x="414723" y="75030"/>
                  </a:lnTo>
                  <a:lnTo>
                    <a:pt x="414723" y="72231"/>
                  </a:lnTo>
                  <a:lnTo>
                    <a:pt x="414910" y="71298"/>
                  </a:lnTo>
                  <a:lnTo>
                    <a:pt x="414910" y="69991"/>
                  </a:lnTo>
                  <a:lnTo>
                    <a:pt x="415096" y="68311"/>
                  </a:lnTo>
                  <a:lnTo>
                    <a:pt x="415096" y="65885"/>
                  </a:lnTo>
                  <a:lnTo>
                    <a:pt x="415470" y="62525"/>
                  </a:lnTo>
                  <a:lnTo>
                    <a:pt x="415843" y="57859"/>
                  </a:lnTo>
                  <a:lnTo>
                    <a:pt x="416216" y="52260"/>
                  </a:lnTo>
                  <a:lnTo>
                    <a:pt x="416963" y="45727"/>
                  </a:lnTo>
                  <a:lnTo>
                    <a:pt x="417709" y="38262"/>
                  </a:lnTo>
                  <a:lnTo>
                    <a:pt x="430215" y="1866"/>
                  </a:lnTo>
                  <a:lnTo>
                    <a:pt x="433388" y="1679"/>
                  </a:lnTo>
                  <a:lnTo>
                    <a:pt x="437494" y="1679"/>
                  </a:lnTo>
                  <a:lnTo>
                    <a:pt x="442533" y="1493"/>
                  </a:lnTo>
                  <a:lnTo>
                    <a:pt x="448879" y="1679"/>
                  </a:lnTo>
                  <a:lnTo>
                    <a:pt x="456531" y="1493"/>
                  </a:lnTo>
                  <a:lnTo>
                    <a:pt x="465677" y="1679"/>
                  </a:lnTo>
                  <a:lnTo>
                    <a:pt x="477249" y="1493"/>
                  </a:lnTo>
                  <a:lnTo>
                    <a:pt x="492180" y="1679"/>
                  </a:lnTo>
                  <a:lnTo>
                    <a:pt x="508232" y="1493"/>
                  </a:lnTo>
                  <a:lnTo>
                    <a:pt x="524470" y="1679"/>
                  </a:lnTo>
                  <a:lnTo>
                    <a:pt x="540521" y="1493"/>
                  </a:lnTo>
                  <a:lnTo>
                    <a:pt x="556573" y="1679"/>
                  </a:lnTo>
                  <a:lnTo>
                    <a:pt x="572624" y="1493"/>
                  </a:lnTo>
                  <a:lnTo>
                    <a:pt x="588676" y="1679"/>
                  </a:lnTo>
                  <a:lnTo>
                    <a:pt x="601741" y="1493"/>
                  </a:lnTo>
                  <a:lnTo>
                    <a:pt x="614619" y="1679"/>
                  </a:lnTo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26" name="object 5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7978" y="1285271"/>
            <a:ext cx="13998" cy="9332"/>
          </a:xfrm>
          <a:prstGeom prst="rect">
            <a:avLst/>
          </a:prstGeom>
        </p:spPr>
      </p:pic>
      <p:sp>
        <p:nvSpPr>
          <p:cNvPr id="527" name="object 527"/>
          <p:cNvSpPr txBox="1"/>
          <p:nvPr/>
        </p:nvSpPr>
        <p:spPr>
          <a:xfrm>
            <a:off x="3812263" y="1270891"/>
            <a:ext cx="48260" cy="387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0" dirty="0">
                <a:latin typeface="Tahoma"/>
                <a:cs typeface="Tahoma"/>
              </a:rPr>
              <a:t>/vo2</a:t>
            </a:r>
            <a:endParaRPr sz="100">
              <a:latin typeface="Tahoma"/>
              <a:cs typeface="Tahoma"/>
            </a:endParaRPr>
          </a:p>
        </p:txBody>
      </p:sp>
      <p:pic>
        <p:nvPicPr>
          <p:cNvPr id="528" name="object 5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9274" y="1286298"/>
            <a:ext cx="13998" cy="9332"/>
          </a:xfrm>
          <a:prstGeom prst="rect">
            <a:avLst/>
          </a:prstGeom>
        </p:spPr>
      </p:pic>
      <p:sp>
        <p:nvSpPr>
          <p:cNvPr id="529" name="object 529"/>
          <p:cNvSpPr txBox="1"/>
          <p:nvPr/>
        </p:nvSpPr>
        <p:spPr>
          <a:xfrm>
            <a:off x="4000333" y="1311844"/>
            <a:ext cx="41275" cy="62865"/>
          </a:xfrm>
          <a:prstGeom prst="rect">
            <a:avLst/>
          </a:prstGeom>
        </p:spPr>
        <p:txBody>
          <a:bodyPr vert="vert270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" b="1" dirty="0">
                <a:latin typeface="Tahoma"/>
                <a:cs typeface="Tahoma"/>
              </a:rPr>
              <a:t>V</a:t>
            </a:r>
            <a:r>
              <a:rPr sz="100" b="1" spc="15" dirty="0">
                <a:latin typeface="Tahoma"/>
                <a:cs typeface="Tahoma"/>
              </a:rPr>
              <a:t> </a:t>
            </a:r>
            <a:r>
              <a:rPr sz="100" b="1" spc="-25" dirty="0">
                <a:latin typeface="Tahoma"/>
                <a:cs typeface="Tahoma"/>
              </a:rPr>
              <a:t>(V)</a:t>
            </a:r>
            <a:endParaRPr sz="100">
              <a:latin typeface="Tahoma"/>
              <a:cs typeface="Tahoma"/>
            </a:endParaRPr>
          </a:p>
        </p:txBody>
      </p:sp>
      <p:sp>
        <p:nvSpPr>
          <p:cNvPr id="530" name="object 530"/>
          <p:cNvSpPr/>
          <p:nvPr/>
        </p:nvSpPr>
        <p:spPr>
          <a:xfrm>
            <a:off x="4065734" y="1283218"/>
            <a:ext cx="0" cy="120014"/>
          </a:xfrm>
          <a:custGeom>
            <a:avLst/>
            <a:gdLst/>
            <a:ahLst/>
            <a:cxnLst/>
            <a:rect l="l" t="t" r="r" b="b"/>
            <a:pathLst>
              <a:path h="120015">
                <a:moveTo>
                  <a:pt x="0" y="0"/>
                </a:moveTo>
                <a:lnTo>
                  <a:pt x="0" y="119452"/>
                </a:lnTo>
              </a:path>
            </a:pathLst>
          </a:custGeom>
          <a:ln w="746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31"/>
          <p:cNvSpPr txBox="1"/>
          <p:nvPr/>
        </p:nvSpPr>
        <p:spPr>
          <a:xfrm>
            <a:off x="4020185" y="1332390"/>
            <a:ext cx="55880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0" dirty="0">
                <a:latin typeface="Tahoma"/>
                <a:cs typeface="Tahoma"/>
              </a:rPr>
              <a:t>1.25</a:t>
            </a:r>
            <a:endParaRPr sz="100">
              <a:latin typeface="Tahoma"/>
              <a:cs typeface="Tahoma"/>
            </a:endParaRPr>
          </a:p>
        </p:txBody>
      </p:sp>
      <p:sp>
        <p:nvSpPr>
          <p:cNvPr id="532" name="object 532"/>
          <p:cNvSpPr txBox="1"/>
          <p:nvPr/>
        </p:nvSpPr>
        <p:spPr>
          <a:xfrm>
            <a:off x="4020185" y="1308500"/>
            <a:ext cx="47625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5" dirty="0">
                <a:latin typeface="Tahoma"/>
                <a:cs typeface="Tahoma"/>
              </a:rPr>
              <a:t>1.5</a:t>
            </a:r>
            <a:endParaRPr sz="100">
              <a:latin typeface="Tahoma"/>
              <a:cs typeface="Tahoma"/>
            </a:endParaRPr>
          </a:p>
        </p:txBody>
      </p:sp>
      <p:sp>
        <p:nvSpPr>
          <p:cNvPr id="533" name="object 533"/>
          <p:cNvSpPr txBox="1"/>
          <p:nvPr/>
        </p:nvSpPr>
        <p:spPr>
          <a:xfrm>
            <a:off x="4020185" y="1284796"/>
            <a:ext cx="55880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0" dirty="0">
                <a:latin typeface="Tahoma"/>
                <a:cs typeface="Tahoma"/>
              </a:rPr>
              <a:t>1.75</a:t>
            </a:r>
            <a:endParaRPr sz="100">
              <a:latin typeface="Tahoma"/>
              <a:cs typeface="Tahoma"/>
            </a:endParaRPr>
          </a:p>
        </p:txBody>
      </p:sp>
      <p:grpSp>
        <p:nvGrpSpPr>
          <p:cNvPr id="534" name="object 534"/>
          <p:cNvGrpSpPr/>
          <p:nvPr/>
        </p:nvGrpSpPr>
        <p:grpSpPr>
          <a:xfrm>
            <a:off x="3807978" y="1149692"/>
            <a:ext cx="883919" cy="120650"/>
            <a:chOff x="3807978" y="1149692"/>
            <a:chExt cx="883919" cy="120650"/>
          </a:xfrm>
        </p:grpSpPr>
        <p:sp>
          <p:nvSpPr>
            <p:cNvPr id="535" name="object 535"/>
            <p:cNvSpPr/>
            <p:nvPr/>
          </p:nvSpPr>
          <p:spPr>
            <a:xfrm>
              <a:off x="4078613" y="1264554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6" name="object 536"/>
            <p:cNvSpPr/>
            <p:nvPr/>
          </p:nvSpPr>
          <p:spPr>
            <a:xfrm>
              <a:off x="4078613" y="1259701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37"/>
            <p:cNvSpPr/>
            <p:nvPr/>
          </p:nvSpPr>
          <p:spPr>
            <a:xfrm>
              <a:off x="4078613" y="1255035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8" name="object 538"/>
            <p:cNvSpPr/>
            <p:nvPr/>
          </p:nvSpPr>
          <p:spPr>
            <a:xfrm>
              <a:off x="4078613" y="125018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9" name="object 539"/>
            <p:cNvSpPr/>
            <p:nvPr/>
          </p:nvSpPr>
          <p:spPr>
            <a:xfrm>
              <a:off x="4078613" y="1240663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0" name="object 540"/>
            <p:cNvSpPr/>
            <p:nvPr/>
          </p:nvSpPr>
          <p:spPr>
            <a:xfrm>
              <a:off x="4078613" y="1235997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1" name="object 541"/>
            <p:cNvSpPr/>
            <p:nvPr/>
          </p:nvSpPr>
          <p:spPr>
            <a:xfrm>
              <a:off x="4078613" y="1231144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2" name="object 542"/>
            <p:cNvSpPr/>
            <p:nvPr/>
          </p:nvSpPr>
          <p:spPr>
            <a:xfrm>
              <a:off x="4078613" y="1226478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543"/>
            <p:cNvSpPr/>
            <p:nvPr/>
          </p:nvSpPr>
          <p:spPr>
            <a:xfrm>
              <a:off x="4078613" y="1216959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4" name="object 544"/>
            <p:cNvSpPr/>
            <p:nvPr/>
          </p:nvSpPr>
          <p:spPr>
            <a:xfrm>
              <a:off x="4078613" y="1212106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5" name="object 545"/>
            <p:cNvSpPr/>
            <p:nvPr/>
          </p:nvSpPr>
          <p:spPr>
            <a:xfrm>
              <a:off x="4078613" y="1207440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6" name="object 546"/>
            <p:cNvSpPr/>
            <p:nvPr/>
          </p:nvSpPr>
          <p:spPr>
            <a:xfrm>
              <a:off x="4078613" y="1202588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7" name="object 547"/>
            <p:cNvSpPr/>
            <p:nvPr/>
          </p:nvSpPr>
          <p:spPr>
            <a:xfrm>
              <a:off x="4078613" y="1193069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8" name="object 548"/>
            <p:cNvSpPr/>
            <p:nvPr/>
          </p:nvSpPr>
          <p:spPr>
            <a:xfrm>
              <a:off x="4078613" y="1188403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9" name="object 549"/>
            <p:cNvSpPr/>
            <p:nvPr/>
          </p:nvSpPr>
          <p:spPr>
            <a:xfrm>
              <a:off x="4078613" y="1183550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0" name="object 550"/>
            <p:cNvSpPr/>
            <p:nvPr/>
          </p:nvSpPr>
          <p:spPr>
            <a:xfrm>
              <a:off x="4078613" y="1178884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1" name="object 551"/>
            <p:cNvSpPr/>
            <p:nvPr/>
          </p:nvSpPr>
          <p:spPr>
            <a:xfrm>
              <a:off x="4078613" y="1169365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2" name="object 552"/>
            <p:cNvSpPr/>
            <p:nvPr/>
          </p:nvSpPr>
          <p:spPr>
            <a:xfrm>
              <a:off x="4078613" y="116451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3" name="object 553"/>
            <p:cNvSpPr/>
            <p:nvPr/>
          </p:nvSpPr>
          <p:spPr>
            <a:xfrm>
              <a:off x="4078613" y="1159846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4" name="object 554"/>
            <p:cNvSpPr/>
            <p:nvPr/>
          </p:nvSpPr>
          <p:spPr>
            <a:xfrm>
              <a:off x="4078613" y="1154993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555"/>
            <p:cNvSpPr/>
            <p:nvPr/>
          </p:nvSpPr>
          <p:spPr>
            <a:xfrm>
              <a:off x="4106982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6" name="object 556"/>
            <p:cNvSpPr/>
            <p:nvPr/>
          </p:nvSpPr>
          <p:spPr>
            <a:xfrm>
              <a:off x="4127140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7" name="object 557"/>
            <p:cNvSpPr/>
            <p:nvPr/>
          </p:nvSpPr>
          <p:spPr>
            <a:xfrm>
              <a:off x="4147298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8" name="object 558"/>
            <p:cNvSpPr/>
            <p:nvPr/>
          </p:nvSpPr>
          <p:spPr>
            <a:xfrm>
              <a:off x="4167269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9" name="object 559"/>
            <p:cNvSpPr/>
            <p:nvPr/>
          </p:nvSpPr>
          <p:spPr>
            <a:xfrm>
              <a:off x="4207584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0" name="object 560"/>
            <p:cNvSpPr/>
            <p:nvPr/>
          </p:nvSpPr>
          <p:spPr>
            <a:xfrm>
              <a:off x="4227741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1" name="object 561"/>
            <p:cNvSpPr/>
            <p:nvPr/>
          </p:nvSpPr>
          <p:spPr>
            <a:xfrm>
              <a:off x="4247712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2" name="object 562"/>
            <p:cNvSpPr/>
            <p:nvPr/>
          </p:nvSpPr>
          <p:spPr>
            <a:xfrm>
              <a:off x="4267870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3"/>
            <p:cNvSpPr/>
            <p:nvPr/>
          </p:nvSpPr>
          <p:spPr>
            <a:xfrm>
              <a:off x="4307998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4" name="object 564"/>
            <p:cNvSpPr/>
            <p:nvPr/>
          </p:nvSpPr>
          <p:spPr>
            <a:xfrm>
              <a:off x="4328156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5" name="object 565"/>
            <p:cNvSpPr/>
            <p:nvPr/>
          </p:nvSpPr>
          <p:spPr>
            <a:xfrm>
              <a:off x="4348313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6" name="object 566"/>
            <p:cNvSpPr/>
            <p:nvPr/>
          </p:nvSpPr>
          <p:spPr>
            <a:xfrm>
              <a:off x="4368471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7" name="object 567"/>
            <p:cNvSpPr/>
            <p:nvPr/>
          </p:nvSpPr>
          <p:spPr>
            <a:xfrm>
              <a:off x="4408600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8" name="object 568"/>
            <p:cNvSpPr/>
            <p:nvPr/>
          </p:nvSpPr>
          <p:spPr>
            <a:xfrm>
              <a:off x="4428757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9" name="object 569"/>
            <p:cNvSpPr/>
            <p:nvPr/>
          </p:nvSpPr>
          <p:spPr>
            <a:xfrm>
              <a:off x="4448728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0" name="object 570"/>
            <p:cNvSpPr/>
            <p:nvPr/>
          </p:nvSpPr>
          <p:spPr>
            <a:xfrm>
              <a:off x="4468886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1" name="object 571"/>
            <p:cNvSpPr/>
            <p:nvPr/>
          </p:nvSpPr>
          <p:spPr>
            <a:xfrm>
              <a:off x="4509201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2" name="object 572"/>
            <p:cNvSpPr/>
            <p:nvPr/>
          </p:nvSpPr>
          <p:spPr>
            <a:xfrm>
              <a:off x="4529172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3" name="object 573"/>
            <p:cNvSpPr/>
            <p:nvPr/>
          </p:nvSpPr>
          <p:spPr>
            <a:xfrm>
              <a:off x="4549329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4" name="object 574"/>
            <p:cNvSpPr/>
            <p:nvPr/>
          </p:nvSpPr>
          <p:spPr>
            <a:xfrm>
              <a:off x="4569487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5" name="object 575"/>
            <p:cNvSpPr/>
            <p:nvPr/>
          </p:nvSpPr>
          <p:spPr>
            <a:xfrm>
              <a:off x="4609615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6" name="object 576"/>
            <p:cNvSpPr/>
            <p:nvPr/>
          </p:nvSpPr>
          <p:spPr>
            <a:xfrm>
              <a:off x="4629773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7" name="object 577"/>
            <p:cNvSpPr/>
            <p:nvPr/>
          </p:nvSpPr>
          <p:spPr>
            <a:xfrm>
              <a:off x="4649931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8" name="object 578"/>
            <p:cNvSpPr/>
            <p:nvPr/>
          </p:nvSpPr>
          <p:spPr>
            <a:xfrm>
              <a:off x="4669902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9" name="object 579"/>
            <p:cNvSpPr/>
            <p:nvPr/>
          </p:nvSpPr>
          <p:spPr>
            <a:xfrm>
              <a:off x="4078613" y="1269220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0" name="object 580"/>
            <p:cNvSpPr/>
            <p:nvPr/>
          </p:nvSpPr>
          <p:spPr>
            <a:xfrm>
              <a:off x="4078613" y="1245516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1" name="object 581"/>
            <p:cNvSpPr/>
            <p:nvPr/>
          </p:nvSpPr>
          <p:spPr>
            <a:xfrm>
              <a:off x="4078613" y="1221625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2" name="object 582"/>
            <p:cNvSpPr/>
            <p:nvPr/>
          </p:nvSpPr>
          <p:spPr>
            <a:xfrm>
              <a:off x="4078613" y="119792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3" name="object 583"/>
            <p:cNvSpPr/>
            <p:nvPr/>
          </p:nvSpPr>
          <p:spPr>
            <a:xfrm>
              <a:off x="4078613" y="1174031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4" name="object 584"/>
            <p:cNvSpPr/>
            <p:nvPr/>
          </p:nvSpPr>
          <p:spPr>
            <a:xfrm>
              <a:off x="4078613" y="1150327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5" name="object 585"/>
            <p:cNvSpPr/>
            <p:nvPr/>
          </p:nvSpPr>
          <p:spPr>
            <a:xfrm>
              <a:off x="4087012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6" name="object 586"/>
            <p:cNvSpPr/>
            <p:nvPr/>
          </p:nvSpPr>
          <p:spPr>
            <a:xfrm>
              <a:off x="4187426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7" name="object 587"/>
            <p:cNvSpPr/>
            <p:nvPr/>
          </p:nvSpPr>
          <p:spPr>
            <a:xfrm>
              <a:off x="4288027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8" name="object 588"/>
            <p:cNvSpPr/>
            <p:nvPr/>
          </p:nvSpPr>
          <p:spPr>
            <a:xfrm>
              <a:off x="4388442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9" name="object 589"/>
            <p:cNvSpPr/>
            <p:nvPr/>
          </p:nvSpPr>
          <p:spPr>
            <a:xfrm>
              <a:off x="4489043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0" name="object 590"/>
            <p:cNvSpPr/>
            <p:nvPr/>
          </p:nvSpPr>
          <p:spPr>
            <a:xfrm>
              <a:off x="4589458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1" name="object 591"/>
            <p:cNvSpPr/>
            <p:nvPr/>
          </p:nvSpPr>
          <p:spPr>
            <a:xfrm>
              <a:off x="4690059" y="115032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2" name="object 592"/>
            <p:cNvSpPr/>
            <p:nvPr/>
          </p:nvSpPr>
          <p:spPr>
            <a:xfrm>
              <a:off x="4075440" y="1176831"/>
              <a:ext cx="614680" cy="89535"/>
            </a:xfrm>
            <a:custGeom>
              <a:avLst/>
              <a:gdLst/>
              <a:ahLst/>
              <a:cxnLst/>
              <a:rect l="l" t="t" r="r" b="b"/>
              <a:pathLst>
                <a:path w="614679" h="89534">
                  <a:moveTo>
                    <a:pt x="0" y="83243"/>
                  </a:moveTo>
                  <a:lnTo>
                    <a:pt x="11385" y="83243"/>
                  </a:lnTo>
                  <a:lnTo>
                    <a:pt x="11945" y="84363"/>
                  </a:lnTo>
                  <a:lnTo>
                    <a:pt x="11945" y="84736"/>
                  </a:lnTo>
                  <a:lnTo>
                    <a:pt x="12131" y="85296"/>
                  </a:lnTo>
                  <a:lnTo>
                    <a:pt x="12131" y="86229"/>
                  </a:lnTo>
                  <a:lnTo>
                    <a:pt x="12318" y="86602"/>
                  </a:lnTo>
                  <a:lnTo>
                    <a:pt x="12318" y="87162"/>
                  </a:lnTo>
                  <a:lnTo>
                    <a:pt x="12505" y="87349"/>
                  </a:lnTo>
                  <a:lnTo>
                    <a:pt x="12505" y="87722"/>
                  </a:lnTo>
                  <a:lnTo>
                    <a:pt x="12691" y="87909"/>
                  </a:lnTo>
                  <a:lnTo>
                    <a:pt x="12691" y="88282"/>
                  </a:lnTo>
                  <a:lnTo>
                    <a:pt x="12878" y="88656"/>
                  </a:lnTo>
                  <a:lnTo>
                    <a:pt x="13065" y="88842"/>
                  </a:lnTo>
                  <a:lnTo>
                    <a:pt x="13438" y="89029"/>
                  </a:lnTo>
                  <a:lnTo>
                    <a:pt x="13811" y="89029"/>
                  </a:lnTo>
                  <a:lnTo>
                    <a:pt x="14371" y="88842"/>
                  </a:lnTo>
                  <a:lnTo>
                    <a:pt x="15118" y="88469"/>
                  </a:lnTo>
                  <a:lnTo>
                    <a:pt x="15864" y="87909"/>
                  </a:lnTo>
                  <a:lnTo>
                    <a:pt x="16424" y="87722"/>
                  </a:lnTo>
                  <a:lnTo>
                    <a:pt x="17171" y="87349"/>
                  </a:lnTo>
                  <a:lnTo>
                    <a:pt x="17731" y="86976"/>
                  </a:lnTo>
                  <a:lnTo>
                    <a:pt x="18104" y="86789"/>
                  </a:lnTo>
                  <a:lnTo>
                    <a:pt x="18664" y="86602"/>
                  </a:lnTo>
                  <a:lnTo>
                    <a:pt x="19597" y="86229"/>
                  </a:lnTo>
                  <a:lnTo>
                    <a:pt x="20717" y="85856"/>
                  </a:lnTo>
                  <a:lnTo>
                    <a:pt x="62525" y="83056"/>
                  </a:lnTo>
                  <a:lnTo>
                    <a:pt x="212587" y="83056"/>
                  </a:lnTo>
                  <a:lnTo>
                    <a:pt x="212774" y="82683"/>
                  </a:lnTo>
                  <a:lnTo>
                    <a:pt x="212774" y="82496"/>
                  </a:lnTo>
                  <a:lnTo>
                    <a:pt x="212961" y="81936"/>
                  </a:lnTo>
                  <a:lnTo>
                    <a:pt x="213147" y="81563"/>
                  </a:lnTo>
                  <a:lnTo>
                    <a:pt x="213147" y="80630"/>
                  </a:lnTo>
                  <a:lnTo>
                    <a:pt x="213334" y="79883"/>
                  </a:lnTo>
                  <a:lnTo>
                    <a:pt x="213334" y="78203"/>
                  </a:lnTo>
                  <a:lnTo>
                    <a:pt x="213521" y="77644"/>
                  </a:lnTo>
                  <a:lnTo>
                    <a:pt x="213521" y="75217"/>
                  </a:lnTo>
                  <a:lnTo>
                    <a:pt x="213707" y="74284"/>
                  </a:lnTo>
                  <a:lnTo>
                    <a:pt x="213707" y="72231"/>
                  </a:lnTo>
                  <a:lnTo>
                    <a:pt x="213894" y="70924"/>
                  </a:lnTo>
                  <a:lnTo>
                    <a:pt x="213894" y="68871"/>
                  </a:lnTo>
                  <a:lnTo>
                    <a:pt x="214267" y="65698"/>
                  </a:lnTo>
                  <a:lnTo>
                    <a:pt x="214640" y="60286"/>
                  </a:lnTo>
                  <a:lnTo>
                    <a:pt x="215200" y="49834"/>
                  </a:lnTo>
                  <a:lnTo>
                    <a:pt x="216134" y="38448"/>
                  </a:lnTo>
                  <a:lnTo>
                    <a:pt x="224533" y="559"/>
                  </a:lnTo>
                  <a:lnTo>
                    <a:pt x="228825" y="0"/>
                  </a:lnTo>
                  <a:lnTo>
                    <a:pt x="413790" y="0"/>
                  </a:lnTo>
                  <a:lnTo>
                    <a:pt x="414163" y="186"/>
                  </a:lnTo>
                  <a:lnTo>
                    <a:pt x="414536" y="186"/>
                  </a:lnTo>
                  <a:lnTo>
                    <a:pt x="414723" y="0"/>
                  </a:lnTo>
                  <a:lnTo>
                    <a:pt x="415470" y="0"/>
                  </a:lnTo>
                  <a:lnTo>
                    <a:pt x="416216" y="373"/>
                  </a:lnTo>
                  <a:lnTo>
                    <a:pt x="416963" y="559"/>
                  </a:lnTo>
                  <a:lnTo>
                    <a:pt x="417709" y="933"/>
                  </a:lnTo>
                  <a:lnTo>
                    <a:pt x="418643" y="1119"/>
                  </a:lnTo>
                  <a:lnTo>
                    <a:pt x="420136" y="1306"/>
                  </a:lnTo>
                  <a:lnTo>
                    <a:pt x="422002" y="1493"/>
                  </a:lnTo>
                  <a:lnTo>
                    <a:pt x="424242" y="1493"/>
                  </a:lnTo>
                  <a:lnTo>
                    <a:pt x="426108" y="1679"/>
                  </a:lnTo>
                  <a:lnTo>
                    <a:pt x="614619" y="1679"/>
                  </a:lnTo>
                </a:path>
              </a:pathLst>
            </a:custGeom>
            <a:ln w="3175">
              <a:solidFill>
                <a:srgbClr val="BD40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3" name="object 59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7978" y="1152007"/>
              <a:ext cx="13998" cy="9332"/>
            </a:xfrm>
            <a:prstGeom prst="rect">
              <a:avLst/>
            </a:prstGeom>
          </p:spPr>
        </p:pic>
      </p:grpSp>
      <p:sp>
        <p:nvSpPr>
          <p:cNvPr id="594" name="object 594"/>
          <p:cNvSpPr txBox="1"/>
          <p:nvPr/>
        </p:nvSpPr>
        <p:spPr>
          <a:xfrm>
            <a:off x="3812263" y="1137627"/>
            <a:ext cx="48260" cy="387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0" dirty="0">
                <a:latin typeface="Tahoma"/>
                <a:cs typeface="Tahoma"/>
              </a:rPr>
              <a:t>/vo1</a:t>
            </a:r>
            <a:endParaRPr sz="100">
              <a:latin typeface="Tahoma"/>
              <a:cs typeface="Tahoma"/>
            </a:endParaRPr>
          </a:p>
        </p:txBody>
      </p:sp>
      <p:pic>
        <p:nvPicPr>
          <p:cNvPr id="595" name="object 59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9274" y="1153034"/>
            <a:ext cx="13998" cy="9332"/>
          </a:xfrm>
          <a:prstGeom prst="rect">
            <a:avLst/>
          </a:prstGeom>
        </p:spPr>
      </p:pic>
      <p:sp>
        <p:nvSpPr>
          <p:cNvPr id="596" name="object 596"/>
          <p:cNvSpPr txBox="1"/>
          <p:nvPr/>
        </p:nvSpPr>
        <p:spPr>
          <a:xfrm>
            <a:off x="4000333" y="1178767"/>
            <a:ext cx="41275" cy="62865"/>
          </a:xfrm>
          <a:prstGeom prst="rect">
            <a:avLst/>
          </a:prstGeom>
        </p:spPr>
        <p:txBody>
          <a:bodyPr vert="vert270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" b="1" dirty="0">
                <a:latin typeface="Tahoma"/>
                <a:cs typeface="Tahoma"/>
              </a:rPr>
              <a:t>V</a:t>
            </a:r>
            <a:r>
              <a:rPr sz="100" b="1" spc="15" dirty="0">
                <a:latin typeface="Tahoma"/>
                <a:cs typeface="Tahoma"/>
              </a:rPr>
              <a:t> </a:t>
            </a:r>
            <a:r>
              <a:rPr sz="100" b="1" spc="-25" dirty="0">
                <a:latin typeface="Tahoma"/>
                <a:cs typeface="Tahoma"/>
              </a:rPr>
              <a:t>(V)</a:t>
            </a:r>
            <a:endParaRPr sz="100">
              <a:latin typeface="Tahoma"/>
              <a:cs typeface="Tahoma"/>
            </a:endParaRPr>
          </a:p>
        </p:txBody>
      </p:sp>
      <p:sp>
        <p:nvSpPr>
          <p:cNvPr id="597" name="object 597"/>
          <p:cNvSpPr/>
          <p:nvPr/>
        </p:nvSpPr>
        <p:spPr>
          <a:xfrm>
            <a:off x="4065734" y="1149954"/>
            <a:ext cx="0" cy="120014"/>
          </a:xfrm>
          <a:custGeom>
            <a:avLst/>
            <a:gdLst/>
            <a:ahLst/>
            <a:cxnLst/>
            <a:rect l="l" t="t" r="r" b="b"/>
            <a:pathLst>
              <a:path h="120015">
                <a:moveTo>
                  <a:pt x="0" y="0"/>
                </a:moveTo>
                <a:lnTo>
                  <a:pt x="0" y="119638"/>
                </a:lnTo>
              </a:path>
            </a:pathLst>
          </a:custGeom>
          <a:ln w="746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8" name="object 598"/>
          <p:cNvSpPr txBox="1"/>
          <p:nvPr/>
        </p:nvSpPr>
        <p:spPr>
          <a:xfrm>
            <a:off x="3923113" y="1217903"/>
            <a:ext cx="170180" cy="9271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Times New Roman"/>
              <a:cs typeface="Times New Roman"/>
            </a:endParaRPr>
          </a:p>
          <a:p>
            <a:pPr marL="109220">
              <a:lnSpc>
                <a:spcPct val="100000"/>
              </a:lnSpc>
            </a:pPr>
            <a:r>
              <a:rPr sz="100" b="1" spc="-25" dirty="0">
                <a:latin typeface="Tahoma"/>
                <a:cs typeface="Tahoma"/>
              </a:rPr>
              <a:t>1.0</a:t>
            </a:r>
            <a:endParaRPr sz="100">
              <a:latin typeface="Tahoma"/>
              <a:cs typeface="Tahoma"/>
            </a:endParaRPr>
          </a:p>
          <a:p>
            <a:pPr marL="109220">
              <a:lnSpc>
                <a:spcPct val="100000"/>
              </a:lnSpc>
              <a:spcBef>
                <a:spcPts val="65"/>
              </a:spcBef>
            </a:pPr>
            <a:r>
              <a:rPr sz="100" b="1" spc="-25" dirty="0">
                <a:latin typeface="Tahoma"/>
                <a:cs typeface="Tahoma"/>
              </a:rPr>
              <a:t>.75</a:t>
            </a:r>
            <a:endParaRPr sz="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00" b="1" dirty="0">
                <a:latin typeface="Tahoma"/>
                <a:cs typeface="Tahoma"/>
              </a:rPr>
              <a:t>1.68684V</a:t>
            </a:r>
            <a:r>
              <a:rPr sz="100" b="1" spc="210" dirty="0">
                <a:latin typeface="Tahoma"/>
                <a:cs typeface="Tahoma"/>
              </a:rPr>
              <a:t> </a:t>
            </a:r>
            <a:r>
              <a:rPr sz="150" b="1" spc="-37" baseline="27777" dirty="0">
                <a:latin typeface="Tahoma"/>
                <a:cs typeface="Tahoma"/>
              </a:rPr>
              <a:t>2.0</a:t>
            </a:r>
            <a:endParaRPr sz="150" baseline="27777">
              <a:latin typeface="Tahoma"/>
              <a:cs typeface="Tahoma"/>
            </a:endParaRPr>
          </a:p>
        </p:txBody>
      </p:sp>
      <p:sp>
        <p:nvSpPr>
          <p:cNvPr id="599" name="object 599"/>
          <p:cNvSpPr txBox="1"/>
          <p:nvPr/>
        </p:nvSpPr>
        <p:spPr>
          <a:xfrm>
            <a:off x="4020185" y="1199127"/>
            <a:ext cx="55880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0" dirty="0">
                <a:latin typeface="Tahoma"/>
                <a:cs typeface="Tahoma"/>
              </a:rPr>
              <a:t>1.25</a:t>
            </a:r>
            <a:endParaRPr sz="100">
              <a:latin typeface="Tahoma"/>
              <a:cs typeface="Tahoma"/>
            </a:endParaRPr>
          </a:p>
        </p:txBody>
      </p:sp>
      <p:sp>
        <p:nvSpPr>
          <p:cNvPr id="600" name="object 600"/>
          <p:cNvSpPr txBox="1"/>
          <p:nvPr/>
        </p:nvSpPr>
        <p:spPr>
          <a:xfrm>
            <a:off x="4020185" y="1175423"/>
            <a:ext cx="47625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5" dirty="0">
                <a:latin typeface="Tahoma"/>
                <a:cs typeface="Tahoma"/>
              </a:rPr>
              <a:t>1.5</a:t>
            </a:r>
            <a:endParaRPr sz="100">
              <a:latin typeface="Tahoma"/>
              <a:cs typeface="Tahoma"/>
            </a:endParaRPr>
          </a:p>
        </p:txBody>
      </p:sp>
      <p:sp>
        <p:nvSpPr>
          <p:cNvPr id="601" name="object 601"/>
          <p:cNvSpPr txBox="1"/>
          <p:nvPr/>
        </p:nvSpPr>
        <p:spPr>
          <a:xfrm>
            <a:off x="3923113" y="1132961"/>
            <a:ext cx="178435" cy="628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00" b="1" dirty="0">
                <a:latin typeface="Tahoma"/>
                <a:cs typeface="Tahoma"/>
              </a:rPr>
              <a:t>1.70402V</a:t>
            </a:r>
            <a:r>
              <a:rPr sz="100" b="1" spc="210" dirty="0">
                <a:latin typeface="Tahoma"/>
                <a:cs typeface="Tahoma"/>
              </a:rPr>
              <a:t> </a:t>
            </a:r>
            <a:r>
              <a:rPr sz="150" b="1" spc="-37" baseline="27777" dirty="0">
                <a:latin typeface="Tahoma"/>
                <a:cs typeface="Tahoma"/>
              </a:rPr>
              <a:t>2.0</a:t>
            </a:r>
            <a:endParaRPr sz="150" baseline="27777">
              <a:latin typeface="Tahoma"/>
              <a:cs typeface="Tahoma"/>
            </a:endParaRPr>
          </a:p>
          <a:p>
            <a:pPr marL="109220">
              <a:lnSpc>
                <a:spcPct val="100000"/>
              </a:lnSpc>
              <a:spcBef>
                <a:spcPts val="25"/>
              </a:spcBef>
            </a:pPr>
            <a:r>
              <a:rPr sz="100" b="1" spc="-20" dirty="0">
                <a:latin typeface="Tahoma"/>
                <a:cs typeface="Tahoma"/>
              </a:rPr>
              <a:t>1.75</a:t>
            </a:r>
            <a:endParaRPr sz="100">
              <a:latin typeface="Tahoma"/>
              <a:cs typeface="Tahoma"/>
            </a:endParaRPr>
          </a:p>
        </p:txBody>
      </p:sp>
      <p:grpSp>
        <p:nvGrpSpPr>
          <p:cNvPr id="602" name="object 602"/>
          <p:cNvGrpSpPr/>
          <p:nvPr/>
        </p:nvGrpSpPr>
        <p:grpSpPr>
          <a:xfrm>
            <a:off x="3807978" y="1416034"/>
            <a:ext cx="883919" cy="120650"/>
            <a:chOff x="3807978" y="1416034"/>
            <a:chExt cx="883919" cy="120650"/>
          </a:xfrm>
        </p:grpSpPr>
        <p:sp>
          <p:nvSpPr>
            <p:cNvPr id="603" name="object 603"/>
            <p:cNvSpPr/>
            <p:nvPr/>
          </p:nvSpPr>
          <p:spPr>
            <a:xfrm>
              <a:off x="4078613" y="1530895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4" name="object 604"/>
            <p:cNvSpPr/>
            <p:nvPr/>
          </p:nvSpPr>
          <p:spPr>
            <a:xfrm>
              <a:off x="4078613" y="152604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5" name="object 605"/>
            <p:cNvSpPr/>
            <p:nvPr/>
          </p:nvSpPr>
          <p:spPr>
            <a:xfrm>
              <a:off x="4078613" y="1521376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6" name="object 606"/>
            <p:cNvSpPr/>
            <p:nvPr/>
          </p:nvSpPr>
          <p:spPr>
            <a:xfrm>
              <a:off x="4078613" y="1516523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7" name="object 607"/>
            <p:cNvSpPr/>
            <p:nvPr/>
          </p:nvSpPr>
          <p:spPr>
            <a:xfrm>
              <a:off x="4078613" y="1507004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8" name="object 608"/>
            <p:cNvSpPr/>
            <p:nvPr/>
          </p:nvSpPr>
          <p:spPr>
            <a:xfrm>
              <a:off x="4078613" y="1502338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9" name="object 609"/>
            <p:cNvSpPr/>
            <p:nvPr/>
          </p:nvSpPr>
          <p:spPr>
            <a:xfrm>
              <a:off x="4078613" y="1497486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0" name="object 610"/>
            <p:cNvSpPr/>
            <p:nvPr/>
          </p:nvSpPr>
          <p:spPr>
            <a:xfrm>
              <a:off x="4078613" y="1492819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1" name="object 611"/>
            <p:cNvSpPr/>
            <p:nvPr/>
          </p:nvSpPr>
          <p:spPr>
            <a:xfrm>
              <a:off x="4078613" y="1483301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2" name="object 612"/>
            <p:cNvSpPr/>
            <p:nvPr/>
          </p:nvSpPr>
          <p:spPr>
            <a:xfrm>
              <a:off x="4078613" y="1478448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3" name="object 613"/>
            <p:cNvSpPr/>
            <p:nvPr/>
          </p:nvSpPr>
          <p:spPr>
            <a:xfrm>
              <a:off x="4078613" y="147378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4" name="object 614"/>
            <p:cNvSpPr/>
            <p:nvPr/>
          </p:nvSpPr>
          <p:spPr>
            <a:xfrm>
              <a:off x="4078613" y="1468929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5" name="object 615"/>
            <p:cNvSpPr/>
            <p:nvPr/>
          </p:nvSpPr>
          <p:spPr>
            <a:xfrm>
              <a:off x="4078613" y="1459410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6" name="object 616"/>
            <p:cNvSpPr/>
            <p:nvPr/>
          </p:nvSpPr>
          <p:spPr>
            <a:xfrm>
              <a:off x="4078613" y="1454744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7" name="object 617"/>
            <p:cNvSpPr/>
            <p:nvPr/>
          </p:nvSpPr>
          <p:spPr>
            <a:xfrm>
              <a:off x="4078613" y="1449891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8" name="object 618"/>
            <p:cNvSpPr/>
            <p:nvPr/>
          </p:nvSpPr>
          <p:spPr>
            <a:xfrm>
              <a:off x="4078613" y="1445225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9" name="object 619"/>
            <p:cNvSpPr/>
            <p:nvPr/>
          </p:nvSpPr>
          <p:spPr>
            <a:xfrm>
              <a:off x="4078613" y="1435706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0" name="object 620"/>
            <p:cNvSpPr/>
            <p:nvPr/>
          </p:nvSpPr>
          <p:spPr>
            <a:xfrm>
              <a:off x="4078613" y="1430854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1" name="object 621"/>
            <p:cNvSpPr/>
            <p:nvPr/>
          </p:nvSpPr>
          <p:spPr>
            <a:xfrm>
              <a:off x="4078613" y="1426187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2" name="object 622"/>
            <p:cNvSpPr/>
            <p:nvPr/>
          </p:nvSpPr>
          <p:spPr>
            <a:xfrm>
              <a:off x="4078613" y="1421335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3" name="object 623"/>
            <p:cNvSpPr/>
            <p:nvPr/>
          </p:nvSpPr>
          <p:spPr>
            <a:xfrm>
              <a:off x="4106982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4" name="object 624"/>
            <p:cNvSpPr/>
            <p:nvPr/>
          </p:nvSpPr>
          <p:spPr>
            <a:xfrm>
              <a:off x="4127140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5" name="object 625"/>
            <p:cNvSpPr/>
            <p:nvPr/>
          </p:nvSpPr>
          <p:spPr>
            <a:xfrm>
              <a:off x="4147298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6" name="object 626"/>
            <p:cNvSpPr/>
            <p:nvPr/>
          </p:nvSpPr>
          <p:spPr>
            <a:xfrm>
              <a:off x="4167269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7" name="object 627"/>
            <p:cNvSpPr/>
            <p:nvPr/>
          </p:nvSpPr>
          <p:spPr>
            <a:xfrm>
              <a:off x="4207584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8" name="object 628"/>
            <p:cNvSpPr/>
            <p:nvPr/>
          </p:nvSpPr>
          <p:spPr>
            <a:xfrm>
              <a:off x="4227741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9" name="object 629"/>
            <p:cNvSpPr/>
            <p:nvPr/>
          </p:nvSpPr>
          <p:spPr>
            <a:xfrm>
              <a:off x="4247712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0" name="object 630"/>
            <p:cNvSpPr/>
            <p:nvPr/>
          </p:nvSpPr>
          <p:spPr>
            <a:xfrm>
              <a:off x="4267870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1" name="object 631"/>
            <p:cNvSpPr/>
            <p:nvPr/>
          </p:nvSpPr>
          <p:spPr>
            <a:xfrm>
              <a:off x="4307998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2" name="object 632"/>
            <p:cNvSpPr/>
            <p:nvPr/>
          </p:nvSpPr>
          <p:spPr>
            <a:xfrm>
              <a:off x="4328156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3" name="object 633"/>
            <p:cNvSpPr/>
            <p:nvPr/>
          </p:nvSpPr>
          <p:spPr>
            <a:xfrm>
              <a:off x="4348313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4" name="object 634"/>
            <p:cNvSpPr/>
            <p:nvPr/>
          </p:nvSpPr>
          <p:spPr>
            <a:xfrm>
              <a:off x="4368471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5" name="object 635"/>
            <p:cNvSpPr/>
            <p:nvPr/>
          </p:nvSpPr>
          <p:spPr>
            <a:xfrm>
              <a:off x="4408600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6" name="object 636"/>
            <p:cNvSpPr/>
            <p:nvPr/>
          </p:nvSpPr>
          <p:spPr>
            <a:xfrm>
              <a:off x="4428757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7" name="object 637"/>
            <p:cNvSpPr/>
            <p:nvPr/>
          </p:nvSpPr>
          <p:spPr>
            <a:xfrm>
              <a:off x="4448728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8" name="object 638"/>
            <p:cNvSpPr/>
            <p:nvPr/>
          </p:nvSpPr>
          <p:spPr>
            <a:xfrm>
              <a:off x="4468886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9" name="object 639"/>
            <p:cNvSpPr/>
            <p:nvPr/>
          </p:nvSpPr>
          <p:spPr>
            <a:xfrm>
              <a:off x="4509201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0" name="object 640"/>
            <p:cNvSpPr/>
            <p:nvPr/>
          </p:nvSpPr>
          <p:spPr>
            <a:xfrm>
              <a:off x="4529172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1" name="object 641"/>
            <p:cNvSpPr/>
            <p:nvPr/>
          </p:nvSpPr>
          <p:spPr>
            <a:xfrm>
              <a:off x="4549329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2" name="object 642"/>
            <p:cNvSpPr/>
            <p:nvPr/>
          </p:nvSpPr>
          <p:spPr>
            <a:xfrm>
              <a:off x="4569487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3" name="object 643"/>
            <p:cNvSpPr/>
            <p:nvPr/>
          </p:nvSpPr>
          <p:spPr>
            <a:xfrm>
              <a:off x="4609615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4" name="object 644"/>
            <p:cNvSpPr/>
            <p:nvPr/>
          </p:nvSpPr>
          <p:spPr>
            <a:xfrm>
              <a:off x="4629773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5" name="object 645"/>
            <p:cNvSpPr/>
            <p:nvPr/>
          </p:nvSpPr>
          <p:spPr>
            <a:xfrm>
              <a:off x="4649931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6" name="object 646"/>
            <p:cNvSpPr/>
            <p:nvPr/>
          </p:nvSpPr>
          <p:spPr>
            <a:xfrm>
              <a:off x="4669902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7" name="object 647"/>
            <p:cNvSpPr/>
            <p:nvPr/>
          </p:nvSpPr>
          <p:spPr>
            <a:xfrm>
              <a:off x="4078613" y="1535561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8" name="object 648"/>
            <p:cNvSpPr/>
            <p:nvPr/>
          </p:nvSpPr>
          <p:spPr>
            <a:xfrm>
              <a:off x="4078613" y="1511857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9" name="object 649"/>
            <p:cNvSpPr/>
            <p:nvPr/>
          </p:nvSpPr>
          <p:spPr>
            <a:xfrm>
              <a:off x="4078613" y="1487967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0" name="object 650"/>
            <p:cNvSpPr/>
            <p:nvPr/>
          </p:nvSpPr>
          <p:spPr>
            <a:xfrm>
              <a:off x="4078613" y="1464263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1" name="object 651"/>
            <p:cNvSpPr/>
            <p:nvPr/>
          </p:nvSpPr>
          <p:spPr>
            <a:xfrm>
              <a:off x="4078613" y="144037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2" name="object 652"/>
            <p:cNvSpPr/>
            <p:nvPr/>
          </p:nvSpPr>
          <p:spPr>
            <a:xfrm>
              <a:off x="4078613" y="1416669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3" name="object 653"/>
            <p:cNvSpPr/>
            <p:nvPr/>
          </p:nvSpPr>
          <p:spPr>
            <a:xfrm>
              <a:off x="4087012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4" name="object 654"/>
            <p:cNvSpPr/>
            <p:nvPr/>
          </p:nvSpPr>
          <p:spPr>
            <a:xfrm>
              <a:off x="4187426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5" name="object 655"/>
            <p:cNvSpPr/>
            <p:nvPr/>
          </p:nvSpPr>
          <p:spPr>
            <a:xfrm>
              <a:off x="4288027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6" name="object 656"/>
            <p:cNvSpPr/>
            <p:nvPr/>
          </p:nvSpPr>
          <p:spPr>
            <a:xfrm>
              <a:off x="4388442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7" name="object 657"/>
            <p:cNvSpPr/>
            <p:nvPr/>
          </p:nvSpPr>
          <p:spPr>
            <a:xfrm>
              <a:off x="4489043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8" name="object 658"/>
            <p:cNvSpPr/>
            <p:nvPr/>
          </p:nvSpPr>
          <p:spPr>
            <a:xfrm>
              <a:off x="4589458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9" name="object 659"/>
            <p:cNvSpPr/>
            <p:nvPr/>
          </p:nvSpPr>
          <p:spPr>
            <a:xfrm>
              <a:off x="4690059" y="1416669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0" name="object 660"/>
            <p:cNvSpPr/>
            <p:nvPr/>
          </p:nvSpPr>
          <p:spPr>
            <a:xfrm>
              <a:off x="4075440" y="1473968"/>
              <a:ext cx="614680" cy="38100"/>
            </a:xfrm>
            <a:custGeom>
              <a:avLst/>
              <a:gdLst/>
              <a:ahLst/>
              <a:cxnLst/>
              <a:rect l="l" t="t" r="r" b="b"/>
              <a:pathLst>
                <a:path w="614679" h="38100">
                  <a:moveTo>
                    <a:pt x="0" y="0"/>
                  </a:moveTo>
                  <a:lnTo>
                    <a:pt x="11385" y="0"/>
                  </a:lnTo>
                  <a:lnTo>
                    <a:pt x="11945" y="1119"/>
                  </a:lnTo>
                  <a:lnTo>
                    <a:pt x="11945" y="1493"/>
                  </a:lnTo>
                  <a:lnTo>
                    <a:pt x="12131" y="2239"/>
                  </a:lnTo>
                  <a:lnTo>
                    <a:pt x="12131" y="3359"/>
                  </a:lnTo>
                  <a:lnTo>
                    <a:pt x="12318" y="4106"/>
                  </a:lnTo>
                  <a:lnTo>
                    <a:pt x="12318" y="5039"/>
                  </a:lnTo>
                  <a:lnTo>
                    <a:pt x="12505" y="5412"/>
                  </a:lnTo>
                  <a:lnTo>
                    <a:pt x="12505" y="6345"/>
                  </a:lnTo>
                  <a:lnTo>
                    <a:pt x="12691" y="7092"/>
                  </a:lnTo>
                  <a:lnTo>
                    <a:pt x="12691" y="8212"/>
                  </a:lnTo>
                  <a:lnTo>
                    <a:pt x="12878" y="9145"/>
                  </a:lnTo>
                  <a:lnTo>
                    <a:pt x="13065" y="11012"/>
                  </a:lnTo>
                  <a:lnTo>
                    <a:pt x="13438" y="13625"/>
                  </a:lnTo>
                  <a:lnTo>
                    <a:pt x="13811" y="16984"/>
                  </a:lnTo>
                  <a:lnTo>
                    <a:pt x="14371" y="20717"/>
                  </a:lnTo>
                  <a:lnTo>
                    <a:pt x="15118" y="24823"/>
                  </a:lnTo>
                  <a:lnTo>
                    <a:pt x="15864" y="29489"/>
                  </a:lnTo>
                  <a:lnTo>
                    <a:pt x="16424" y="32476"/>
                  </a:lnTo>
                  <a:lnTo>
                    <a:pt x="20717" y="37702"/>
                  </a:lnTo>
                  <a:lnTo>
                    <a:pt x="413790" y="37702"/>
                  </a:lnTo>
                  <a:lnTo>
                    <a:pt x="414163" y="37888"/>
                  </a:lnTo>
                  <a:lnTo>
                    <a:pt x="414350" y="37702"/>
                  </a:lnTo>
                  <a:lnTo>
                    <a:pt x="414536" y="37702"/>
                  </a:lnTo>
                  <a:lnTo>
                    <a:pt x="415096" y="37142"/>
                  </a:lnTo>
                  <a:lnTo>
                    <a:pt x="415096" y="36955"/>
                  </a:lnTo>
                  <a:lnTo>
                    <a:pt x="415470" y="36582"/>
                  </a:lnTo>
                  <a:lnTo>
                    <a:pt x="415843" y="36022"/>
                  </a:lnTo>
                  <a:lnTo>
                    <a:pt x="416216" y="35089"/>
                  </a:lnTo>
                  <a:lnTo>
                    <a:pt x="416963" y="34155"/>
                  </a:lnTo>
                  <a:lnTo>
                    <a:pt x="418643" y="30796"/>
                  </a:lnTo>
                  <a:lnTo>
                    <a:pt x="456531" y="9892"/>
                  </a:lnTo>
                  <a:lnTo>
                    <a:pt x="492180" y="8772"/>
                  </a:lnTo>
                  <a:lnTo>
                    <a:pt x="614619" y="8772"/>
                  </a:lnTo>
                </a:path>
              </a:pathLst>
            </a:custGeom>
            <a:ln w="3175">
              <a:solidFill>
                <a:srgbClr val="C587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1" name="object 6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07978" y="1418348"/>
              <a:ext cx="13998" cy="9332"/>
            </a:xfrm>
            <a:prstGeom prst="rect">
              <a:avLst/>
            </a:prstGeom>
          </p:spPr>
        </p:pic>
      </p:grpSp>
      <p:sp>
        <p:nvSpPr>
          <p:cNvPr id="662" name="object 662"/>
          <p:cNvSpPr txBox="1"/>
          <p:nvPr/>
        </p:nvSpPr>
        <p:spPr>
          <a:xfrm>
            <a:off x="3812263" y="1403969"/>
            <a:ext cx="48260" cy="387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0" dirty="0">
                <a:latin typeface="Tahoma"/>
                <a:cs typeface="Tahoma"/>
              </a:rPr>
              <a:t>/vo3</a:t>
            </a:r>
            <a:endParaRPr sz="100">
              <a:latin typeface="Tahoma"/>
              <a:cs typeface="Tahoma"/>
            </a:endParaRPr>
          </a:p>
        </p:txBody>
      </p:sp>
      <p:pic>
        <p:nvPicPr>
          <p:cNvPr id="663" name="object 66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9274" y="1419375"/>
            <a:ext cx="13998" cy="9332"/>
          </a:xfrm>
          <a:prstGeom prst="rect">
            <a:avLst/>
          </a:prstGeom>
        </p:spPr>
      </p:pic>
      <p:sp>
        <p:nvSpPr>
          <p:cNvPr id="664" name="object 664"/>
          <p:cNvSpPr txBox="1"/>
          <p:nvPr/>
        </p:nvSpPr>
        <p:spPr>
          <a:xfrm>
            <a:off x="4000333" y="1445108"/>
            <a:ext cx="41275" cy="62865"/>
          </a:xfrm>
          <a:prstGeom prst="rect">
            <a:avLst/>
          </a:prstGeom>
        </p:spPr>
        <p:txBody>
          <a:bodyPr vert="vert270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" b="1" dirty="0">
                <a:latin typeface="Tahoma"/>
                <a:cs typeface="Tahoma"/>
              </a:rPr>
              <a:t>V</a:t>
            </a:r>
            <a:r>
              <a:rPr sz="100" b="1" spc="15" dirty="0">
                <a:latin typeface="Tahoma"/>
                <a:cs typeface="Tahoma"/>
              </a:rPr>
              <a:t> </a:t>
            </a:r>
            <a:r>
              <a:rPr sz="100" b="1" spc="-25" dirty="0">
                <a:latin typeface="Tahoma"/>
                <a:cs typeface="Tahoma"/>
              </a:rPr>
              <a:t>(V)</a:t>
            </a:r>
            <a:endParaRPr sz="100">
              <a:latin typeface="Tahoma"/>
              <a:cs typeface="Tahoma"/>
            </a:endParaRPr>
          </a:p>
        </p:txBody>
      </p:sp>
      <p:pic>
        <p:nvPicPr>
          <p:cNvPr id="665" name="object 66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07978" y="1684877"/>
            <a:ext cx="13998" cy="9332"/>
          </a:xfrm>
          <a:prstGeom prst="rect">
            <a:avLst/>
          </a:prstGeom>
        </p:spPr>
      </p:pic>
      <p:grpSp>
        <p:nvGrpSpPr>
          <p:cNvPr id="666" name="object 666"/>
          <p:cNvGrpSpPr/>
          <p:nvPr/>
        </p:nvGrpSpPr>
        <p:grpSpPr>
          <a:xfrm>
            <a:off x="4061924" y="1412485"/>
            <a:ext cx="629920" cy="393700"/>
            <a:chOff x="4061924" y="1412485"/>
            <a:chExt cx="629920" cy="393700"/>
          </a:xfrm>
        </p:grpSpPr>
        <p:sp>
          <p:nvSpPr>
            <p:cNvPr id="667" name="object 667"/>
            <p:cNvSpPr/>
            <p:nvPr/>
          </p:nvSpPr>
          <p:spPr>
            <a:xfrm>
              <a:off x="4065734" y="1416295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5">
                  <a:moveTo>
                    <a:pt x="0" y="0"/>
                  </a:moveTo>
                  <a:lnTo>
                    <a:pt x="0" y="119638"/>
                  </a:lnTo>
                </a:path>
              </a:pathLst>
            </a:custGeom>
            <a:ln w="746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8" name="object 668"/>
            <p:cNvSpPr/>
            <p:nvPr/>
          </p:nvSpPr>
          <p:spPr>
            <a:xfrm>
              <a:off x="4078613" y="1797236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9" name="object 669"/>
            <p:cNvSpPr/>
            <p:nvPr/>
          </p:nvSpPr>
          <p:spPr>
            <a:xfrm>
              <a:off x="4078613" y="1792384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0" name="object 670"/>
            <p:cNvSpPr/>
            <p:nvPr/>
          </p:nvSpPr>
          <p:spPr>
            <a:xfrm>
              <a:off x="4078613" y="1787717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1" name="object 671"/>
            <p:cNvSpPr/>
            <p:nvPr/>
          </p:nvSpPr>
          <p:spPr>
            <a:xfrm>
              <a:off x="4078613" y="1782865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2" name="object 672"/>
            <p:cNvSpPr/>
            <p:nvPr/>
          </p:nvSpPr>
          <p:spPr>
            <a:xfrm>
              <a:off x="4078613" y="1773346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3" name="object 673"/>
            <p:cNvSpPr/>
            <p:nvPr/>
          </p:nvSpPr>
          <p:spPr>
            <a:xfrm>
              <a:off x="4078613" y="1768680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4" name="object 674"/>
            <p:cNvSpPr/>
            <p:nvPr/>
          </p:nvSpPr>
          <p:spPr>
            <a:xfrm>
              <a:off x="4078613" y="1763827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5" name="object 675"/>
            <p:cNvSpPr/>
            <p:nvPr/>
          </p:nvSpPr>
          <p:spPr>
            <a:xfrm>
              <a:off x="4078613" y="1759161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6" name="object 676"/>
            <p:cNvSpPr/>
            <p:nvPr/>
          </p:nvSpPr>
          <p:spPr>
            <a:xfrm>
              <a:off x="4078613" y="174964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7" name="object 677"/>
            <p:cNvSpPr/>
            <p:nvPr/>
          </p:nvSpPr>
          <p:spPr>
            <a:xfrm>
              <a:off x="4078613" y="1744976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8" name="object 678"/>
            <p:cNvSpPr/>
            <p:nvPr/>
          </p:nvSpPr>
          <p:spPr>
            <a:xfrm>
              <a:off x="4078613" y="1740123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9" name="object 679"/>
            <p:cNvSpPr/>
            <p:nvPr/>
          </p:nvSpPr>
          <p:spPr>
            <a:xfrm>
              <a:off x="4078613" y="1735457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0" name="object 680"/>
            <p:cNvSpPr/>
            <p:nvPr/>
          </p:nvSpPr>
          <p:spPr>
            <a:xfrm>
              <a:off x="4078613" y="1725938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1" name="object 681"/>
            <p:cNvSpPr/>
            <p:nvPr/>
          </p:nvSpPr>
          <p:spPr>
            <a:xfrm>
              <a:off x="4078613" y="172127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2" name="object 682"/>
            <p:cNvSpPr/>
            <p:nvPr/>
          </p:nvSpPr>
          <p:spPr>
            <a:xfrm>
              <a:off x="4078613" y="1716419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3" name="object 683"/>
            <p:cNvSpPr/>
            <p:nvPr/>
          </p:nvSpPr>
          <p:spPr>
            <a:xfrm>
              <a:off x="4078613" y="1711753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4" name="object 684"/>
            <p:cNvSpPr/>
            <p:nvPr/>
          </p:nvSpPr>
          <p:spPr>
            <a:xfrm>
              <a:off x="4078613" y="1702234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5" name="object 685"/>
            <p:cNvSpPr/>
            <p:nvPr/>
          </p:nvSpPr>
          <p:spPr>
            <a:xfrm>
              <a:off x="4078613" y="169738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6" name="object 686"/>
            <p:cNvSpPr/>
            <p:nvPr/>
          </p:nvSpPr>
          <p:spPr>
            <a:xfrm>
              <a:off x="4078613" y="1692716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7" name="object 687"/>
            <p:cNvSpPr/>
            <p:nvPr/>
          </p:nvSpPr>
          <p:spPr>
            <a:xfrm>
              <a:off x="4078613" y="1687863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8" name="object 688"/>
            <p:cNvSpPr/>
            <p:nvPr/>
          </p:nvSpPr>
          <p:spPr>
            <a:xfrm>
              <a:off x="4106982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9" name="object 689"/>
            <p:cNvSpPr/>
            <p:nvPr/>
          </p:nvSpPr>
          <p:spPr>
            <a:xfrm>
              <a:off x="4127140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0" name="object 690"/>
            <p:cNvSpPr/>
            <p:nvPr/>
          </p:nvSpPr>
          <p:spPr>
            <a:xfrm>
              <a:off x="4147298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1" name="object 691"/>
            <p:cNvSpPr/>
            <p:nvPr/>
          </p:nvSpPr>
          <p:spPr>
            <a:xfrm>
              <a:off x="4167269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2" name="object 692"/>
            <p:cNvSpPr/>
            <p:nvPr/>
          </p:nvSpPr>
          <p:spPr>
            <a:xfrm>
              <a:off x="4207584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3" name="object 693"/>
            <p:cNvSpPr/>
            <p:nvPr/>
          </p:nvSpPr>
          <p:spPr>
            <a:xfrm>
              <a:off x="4227741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4" name="object 694"/>
            <p:cNvSpPr/>
            <p:nvPr/>
          </p:nvSpPr>
          <p:spPr>
            <a:xfrm>
              <a:off x="4247712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5" name="object 695"/>
            <p:cNvSpPr/>
            <p:nvPr/>
          </p:nvSpPr>
          <p:spPr>
            <a:xfrm>
              <a:off x="4267870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6" name="object 696"/>
            <p:cNvSpPr/>
            <p:nvPr/>
          </p:nvSpPr>
          <p:spPr>
            <a:xfrm>
              <a:off x="4307998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7" name="object 697"/>
            <p:cNvSpPr/>
            <p:nvPr/>
          </p:nvSpPr>
          <p:spPr>
            <a:xfrm>
              <a:off x="4328156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8" name="object 698"/>
            <p:cNvSpPr/>
            <p:nvPr/>
          </p:nvSpPr>
          <p:spPr>
            <a:xfrm>
              <a:off x="4348313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9" name="object 699"/>
            <p:cNvSpPr/>
            <p:nvPr/>
          </p:nvSpPr>
          <p:spPr>
            <a:xfrm>
              <a:off x="4368471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0" name="object 700"/>
            <p:cNvSpPr/>
            <p:nvPr/>
          </p:nvSpPr>
          <p:spPr>
            <a:xfrm>
              <a:off x="4408600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1" name="object 701"/>
            <p:cNvSpPr/>
            <p:nvPr/>
          </p:nvSpPr>
          <p:spPr>
            <a:xfrm>
              <a:off x="4428757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2" name="object 702"/>
            <p:cNvSpPr/>
            <p:nvPr/>
          </p:nvSpPr>
          <p:spPr>
            <a:xfrm>
              <a:off x="4448728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3" name="object 703"/>
            <p:cNvSpPr/>
            <p:nvPr/>
          </p:nvSpPr>
          <p:spPr>
            <a:xfrm>
              <a:off x="4468886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4" name="object 704"/>
            <p:cNvSpPr/>
            <p:nvPr/>
          </p:nvSpPr>
          <p:spPr>
            <a:xfrm>
              <a:off x="4509201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5" name="object 705"/>
            <p:cNvSpPr/>
            <p:nvPr/>
          </p:nvSpPr>
          <p:spPr>
            <a:xfrm>
              <a:off x="4529172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6" name="object 706"/>
            <p:cNvSpPr/>
            <p:nvPr/>
          </p:nvSpPr>
          <p:spPr>
            <a:xfrm>
              <a:off x="4549329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7" name="object 707"/>
            <p:cNvSpPr/>
            <p:nvPr/>
          </p:nvSpPr>
          <p:spPr>
            <a:xfrm>
              <a:off x="4569487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8" name="object 708"/>
            <p:cNvSpPr/>
            <p:nvPr/>
          </p:nvSpPr>
          <p:spPr>
            <a:xfrm>
              <a:off x="4609615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9" name="object 709"/>
            <p:cNvSpPr/>
            <p:nvPr/>
          </p:nvSpPr>
          <p:spPr>
            <a:xfrm>
              <a:off x="4629773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0" name="object 710"/>
            <p:cNvSpPr/>
            <p:nvPr/>
          </p:nvSpPr>
          <p:spPr>
            <a:xfrm>
              <a:off x="4649931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1" name="object 711"/>
            <p:cNvSpPr/>
            <p:nvPr/>
          </p:nvSpPr>
          <p:spPr>
            <a:xfrm>
              <a:off x="4669902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2" name="object 712"/>
            <p:cNvSpPr/>
            <p:nvPr/>
          </p:nvSpPr>
          <p:spPr>
            <a:xfrm>
              <a:off x="4078613" y="180190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3" name="object 713"/>
            <p:cNvSpPr/>
            <p:nvPr/>
          </p:nvSpPr>
          <p:spPr>
            <a:xfrm>
              <a:off x="4078613" y="1778199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4" name="object 714"/>
            <p:cNvSpPr/>
            <p:nvPr/>
          </p:nvSpPr>
          <p:spPr>
            <a:xfrm>
              <a:off x="4078613" y="1754495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5" name="object 715"/>
            <p:cNvSpPr/>
            <p:nvPr/>
          </p:nvSpPr>
          <p:spPr>
            <a:xfrm>
              <a:off x="4078613" y="1730604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6" name="object 716"/>
            <p:cNvSpPr/>
            <p:nvPr/>
          </p:nvSpPr>
          <p:spPr>
            <a:xfrm>
              <a:off x="4078613" y="1706901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7" name="object 717"/>
            <p:cNvSpPr/>
            <p:nvPr/>
          </p:nvSpPr>
          <p:spPr>
            <a:xfrm>
              <a:off x="4078613" y="1683197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8" name="object 718"/>
            <p:cNvSpPr/>
            <p:nvPr/>
          </p:nvSpPr>
          <p:spPr>
            <a:xfrm>
              <a:off x="4087011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9" name="object 719"/>
            <p:cNvSpPr/>
            <p:nvPr/>
          </p:nvSpPr>
          <p:spPr>
            <a:xfrm>
              <a:off x="4187426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0" name="object 720"/>
            <p:cNvSpPr/>
            <p:nvPr/>
          </p:nvSpPr>
          <p:spPr>
            <a:xfrm>
              <a:off x="4288027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1" name="object 721"/>
            <p:cNvSpPr/>
            <p:nvPr/>
          </p:nvSpPr>
          <p:spPr>
            <a:xfrm>
              <a:off x="4388442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2" name="object 722"/>
            <p:cNvSpPr/>
            <p:nvPr/>
          </p:nvSpPr>
          <p:spPr>
            <a:xfrm>
              <a:off x="4489043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3" name="object 723"/>
            <p:cNvSpPr/>
            <p:nvPr/>
          </p:nvSpPr>
          <p:spPr>
            <a:xfrm>
              <a:off x="4589458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4" name="object 724"/>
            <p:cNvSpPr/>
            <p:nvPr/>
          </p:nvSpPr>
          <p:spPr>
            <a:xfrm>
              <a:off x="4690059" y="1683197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8892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5" name="object 725"/>
            <p:cNvSpPr/>
            <p:nvPr/>
          </p:nvSpPr>
          <p:spPr>
            <a:xfrm>
              <a:off x="4075440" y="1706901"/>
              <a:ext cx="614680" cy="84455"/>
            </a:xfrm>
            <a:custGeom>
              <a:avLst/>
              <a:gdLst/>
              <a:ahLst/>
              <a:cxnLst/>
              <a:rect l="l" t="t" r="r" b="b"/>
              <a:pathLst>
                <a:path w="614679" h="84455">
                  <a:moveTo>
                    <a:pt x="0" y="84363"/>
                  </a:moveTo>
                  <a:lnTo>
                    <a:pt x="11385" y="84363"/>
                  </a:lnTo>
                  <a:lnTo>
                    <a:pt x="11571" y="83803"/>
                  </a:lnTo>
                  <a:lnTo>
                    <a:pt x="11945" y="82496"/>
                  </a:lnTo>
                  <a:lnTo>
                    <a:pt x="11945" y="81936"/>
                  </a:lnTo>
                  <a:lnTo>
                    <a:pt x="12131" y="80630"/>
                  </a:lnTo>
                  <a:lnTo>
                    <a:pt x="12131" y="78203"/>
                  </a:lnTo>
                  <a:lnTo>
                    <a:pt x="12318" y="76524"/>
                  </a:lnTo>
                  <a:lnTo>
                    <a:pt x="12318" y="74471"/>
                  </a:lnTo>
                  <a:lnTo>
                    <a:pt x="12505" y="73164"/>
                  </a:lnTo>
                  <a:lnTo>
                    <a:pt x="12505" y="71298"/>
                  </a:lnTo>
                  <a:lnTo>
                    <a:pt x="12691" y="69245"/>
                  </a:lnTo>
                  <a:lnTo>
                    <a:pt x="12691" y="66258"/>
                  </a:lnTo>
                  <a:lnTo>
                    <a:pt x="12878" y="63272"/>
                  </a:lnTo>
                  <a:lnTo>
                    <a:pt x="13065" y="57299"/>
                  </a:lnTo>
                  <a:lnTo>
                    <a:pt x="13438" y="48714"/>
                  </a:lnTo>
                  <a:lnTo>
                    <a:pt x="13811" y="37888"/>
                  </a:lnTo>
                  <a:lnTo>
                    <a:pt x="14371" y="25756"/>
                  </a:lnTo>
                  <a:lnTo>
                    <a:pt x="18104" y="933"/>
                  </a:lnTo>
                  <a:lnTo>
                    <a:pt x="18664" y="559"/>
                  </a:lnTo>
                  <a:lnTo>
                    <a:pt x="19597" y="373"/>
                  </a:lnTo>
                  <a:lnTo>
                    <a:pt x="20717" y="186"/>
                  </a:lnTo>
                  <a:lnTo>
                    <a:pt x="22024" y="0"/>
                  </a:lnTo>
                  <a:lnTo>
                    <a:pt x="414723" y="0"/>
                  </a:lnTo>
                  <a:lnTo>
                    <a:pt x="415096" y="186"/>
                  </a:lnTo>
                  <a:lnTo>
                    <a:pt x="415470" y="186"/>
                  </a:lnTo>
                  <a:lnTo>
                    <a:pt x="422002" y="1679"/>
                  </a:lnTo>
                  <a:lnTo>
                    <a:pt x="614619" y="1679"/>
                  </a:lnTo>
                </a:path>
              </a:pathLst>
            </a:custGeom>
            <a:ln w="3175">
              <a:solidFill>
                <a:srgbClr val="00CC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6" name="object 726"/>
            <p:cNvSpPr/>
            <p:nvPr/>
          </p:nvSpPr>
          <p:spPr>
            <a:xfrm>
              <a:off x="4065734" y="1682823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4">
                  <a:moveTo>
                    <a:pt x="0" y="0"/>
                  </a:moveTo>
                  <a:lnTo>
                    <a:pt x="0" y="119452"/>
                  </a:lnTo>
                </a:path>
              </a:pathLst>
            </a:custGeom>
            <a:ln w="746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7" name="object 727"/>
          <p:cNvSpPr txBox="1"/>
          <p:nvPr/>
        </p:nvSpPr>
        <p:spPr>
          <a:xfrm>
            <a:off x="3812263" y="1670497"/>
            <a:ext cx="48260" cy="387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0" dirty="0">
                <a:latin typeface="Tahoma"/>
                <a:cs typeface="Tahoma"/>
              </a:rPr>
              <a:t>/vo5</a:t>
            </a:r>
            <a:endParaRPr sz="100">
              <a:latin typeface="Tahoma"/>
              <a:cs typeface="Tahoma"/>
            </a:endParaRPr>
          </a:p>
        </p:txBody>
      </p:sp>
      <p:pic>
        <p:nvPicPr>
          <p:cNvPr id="728" name="object 7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9274" y="1685903"/>
            <a:ext cx="13998" cy="9332"/>
          </a:xfrm>
          <a:prstGeom prst="rect">
            <a:avLst/>
          </a:prstGeom>
        </p:spPr>
      </p:pic>
      <p:sp>
        <p:nvSpPr>
          <p:cNvPr id="729" name="object 729"/>
          <p:cNvSpPr txBox="1"/>
          <p:nvPr/>
        </p:nvSpPr>
        <p:spPr>
          <a:xfrm>
            <a:off x="4000333" y="1711450"/>
            <a:ext cx="41275" cy="62865"/>
          </a:xfrm>
          <a:prstGeom prst="rect">
            <a:avLst/>
          </a:prstGeom>
        </p:spPr>
        <p:txBody>
          <a:bodyPr vert="vert270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" b="1" dirty="0">
                <a:latin typeface="Tahoma"/>
                <a:cs typeface="Tahoma"/>
              </a:rPr>
              <a:t>V</a:t>
            </a:r>
            <a:r>
              <a:rPr sz="100" b="1" spc="15" dirty="0">
                <a:latin typeface="Tahoma"/>
                <a:cs typeface="Tahoma"/>
              </a:rPr>
              <a:t> </a:t>
            </a:r>
            <a:r>
              <a:rPr sz="100" b="1" spc="-25" dirty="0">
                <a:latin typeface="Tahoma"/>
                <a:cs typeface="Tahoma"/>
              </a:rPr>
              <a:t>(V)</a:t>
            </a:r>
            <a:endParaRPr sz="100">
              <a:latin typeface="Tahoma"/>
              <a:cs typeface="Tahoma"/>
            </a:endParaRPr>
          </a:p>
        </p:txBody>
      </p:sp>
      <p:sp>
        <p:nvSpPr>
          <p:cNvPr id="730" name="object 730"/>
          <p:cNvSpPr txBox="1"/>
          <p:nvPr/>
        </p:nvSpPr>
        <p:spPr>
          <a:xfrm>
            <a:off x="4020185" y="1731996"/>
            <a:ext cx="55880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0" dirty="0">
                <a:latin typeface="Tahoma"/>
                <a:cs typeface="Tahoma"/>
              </a:rPr>
              <a:t>1.25</a:t>
            </a:r>
            <a:endParaRPr sz="100">
              <a:latin typeface="Tahoma"/>
              <a:cs typeface="Tahoma"/>
            </a:endParaRPr>
          </a:p>
        </p:txBody>
      </p:sp>
      <p:sp>
        <p:nvSpPr>
          <p:cNvPr id="731" name="object 731"/>
          <p:cNvSpPr txBox="1"/>
          <p:nvPr/>
        </p:nvSpPr>
        <p:spPr>
          <a:xfrm>
            <a:off x="4020185" y="1708106"/>
            <a:ext cx="47625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5" dirty="0">
                <a:latin typeface="Tahoma"/>
                <a:cs typeface="Tahoma"/>
              </a:rPr>
              <a:t>1.5</a:t>
            </a:r>
            <a:endParaRPr sz="100">
              <a:latin typeface="Tahoma"/>
              <a:cs typeface="Tahoma"/>
            </a:endParaRPr>
          </a:p>
        </p:txBody>
      </p:sp>
      <p:sp>
        <p:nvSpPr>
          <p:cNvPr id="732" name="object 732"/>
          <p:cNvSpPr txBox="1"/>
          <p:nvPr/>
        </p:nvSpPr>
        <p:spPr>
          <a:xfrm>
            <a:off x="4020185" y="1684402"/>
            <a:ext cx="55880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0" dirty="0">
                <a:latin typeface="Tahoma"/>
                <a:cs typeface="Tahoma"/>
              </a:rPr>
              <a:t>1.75</a:t>
            </a:r>
            <a:endParaRPr sz="100">
              <a:latin typeface="Tahoma"/>
              <a:cs typeface="Tahoma"/>
            </a:endParaRPr>
          </a:p>
        </p:txBody>
      </p:sp>
      <p:pic>
        <p:nvPicPr>
          <p:cNvPr id="733" name="object 73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07978" y="1817954"/>
            <a:ext cx="13998" cy="9332"/>
          </a:xfrm>
          <a:prstGeom prst="rect">
            <a:avLst/>
          </a:prstGeom>
        </p:spPr>
      </p:pic>
      <p:grpSp>
        <p:nvGrpSpPr>
          <p:cNvPr id="734" name="object 734"/>
          <p:cNvGrpSpPr/>
          <p:nvPr/>
        </p:nvGrpSpPr>
        <p:grpSpPr>
          <a:xfrm>
            <a:off x="4061366" y="1815639"/>
            <a:ext cx="630555" cy="120650"/>
            <a:chOff x="4061366" y="1815639"/>
            <a:chExt cx="630555" cy="120650"/>
          </a:xfrm>
        </p:grpSpPr>
        <p:sp>
          <p:nvSpPr>
            <p:cNvPr id="735" name="object 735"/>
            <p:cNvSpPr/>
            <p:nvPr/>
          </p:nvSpPr>
          <p:spPr>
            <a:xfrm>
              <a:off x="4078613" y="1927327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6" name="object 736"/>
            <p:cNvSpPr/>
            <p:nvPr/>
          </p:nvSpPr>
          <p:spPr>
            <a:xfrm>
              <a:off x="4078613" y="191930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7" name="object 737"/>
            <p:cNvSpPr/>
            <p:nvPr/>
          </p:nvSpPr>
          <p:spPr>
            <a:xfrm>
              <a:off x="4078613" y="1911463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8" name="object 738"/>
            <p:cNvSpPr/>
            <p:nvPr/>
          </p:nvSpPr>
          <p:spPr>
            <a:xfrm>
              <a:off x="4078613" y="1903437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9" name="object 739"/>
            <p:cNvSpPr/>
            <p:nvPr/>
          </p:nvSpPr>
          <p:spPr>
            <a:xfrm>
              <a:off x="4078613" y="189149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0" name="object 740"/>
            <p:cNvSpPr/>
            <p:nvPr/>
          </p:nvSpPr>
          <p:spPr>
            <a:xfrm>
              <a:off x="4078613" y="1883653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1" name="object 741"/>
            <p:cNvSpPr/>
            <p:nvPr/>
          </p:nvSpPr>
          <p:spPr>
            <a:xfrm>
              <a:off x="4078613" y="1871707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2" name="object 742"/>
            <p:cNvSpPr/>
            <p:nvPr/>
          </p:nvSpPr>
          <p:spPr>
            <a:xfrm>
              <a:off x="4078613" y="1863868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3" name="object 743"/>
            <p:cNvSpPr/>
            <p:nvPr/>
          </p:nvSpPr>
          <p:spPr>
            <a:xfrm>
              <a:off x="4078613" y="1851923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4" name="object 744"/>
            <p:cNvSpPr/>
            <p:nvPr/>
          </p:nvSpPr>
          <p:spPr>
            <a:xfrm>
              <a:off x="4078613" y="1844084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5" name="object 745"/>
            <p:cNvSpPr/>
            <p:nvPr/>
          </p:nvSpPr>
          <p:spPr>
            <a:xfrm>
              <a:off x="4078613" y="1832139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6" name="object 746"/>
            <p:cNvSpPr/>
            <p:nvPr/>
          </p:nvSpPr>
          <p:spPr>
            <a:xfrm>
              <a:off x="4078613" y="1824113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7" name="object 747"/>
            <p:cNvSpPr/>
            <p:nvPr/>
          </p:nvSpPr>
          <p:spPr>
            <a:xfrm>
              <a:off x="4106983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8" name="object 748"/>
            <p:cNvSpPr/>
            <p:nvPr/>
          </p:nvSpPr>
          <p:spPr>
            <a:xfrm>
              <a:off x="4127140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9" name="object 749"/>
            <p:cNvSpPr/>
            <p:nvPr/>
          </p:nvSpPr>
          <p:spPr>
            <a:xfrm>
              <a:off x="4147298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0" name="object 750"/>
            <p:cNvSpPr/>
            <p:nvPr/>
          </p:nvSpPr>
          <p:spPr>
            <a:xfrm>
              <a:off x="4167269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1" name="object 751"/>
            <p:cNvSpPr/>
            <p:nvPr/>
          </p:nvSpPr>
          <p:spPr>
            <a:xfrm>
              <a:off x="4207584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2" name="object 752"/>
            <p:cNvSpPr/>
            <p:nvPr/>
          </p:nvSpPr>
          <p:spPr>
            <a:xfrm>
              <a:off x="4227741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3" name="object 753"/>
            <p:cNvSpPr/>
            <p:nvPr/>
          </p:nvSpPr>
          <p:spPr>
            <a:xfrm>
              <a:off x="4247712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4" name="object 754"/>
            <p:cNvSpPr/>
            <p:nvPr/>
          </p:nvSpPr>
          <p:spPr>
            <a:xfrm>
              <a:off x="4267870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5" name="object 755"/>
            <p:cNvSpPr/>
            <p:nvPr/>
          </p:nvSpPr>
          <p:spPr>
            <a:xfrm>
              <a:off x="4307998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6" name="object 756"/>
            <p:cNvSpPr/>
            <p:nvPr/>
          </p:nvSpPr>
          <p:spPr>
            <a:xfrm>
              <a:off x="4328156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7" name="object 757"/>
            <p:cNvSpPr/>
            <p:nvPr/>
          </p:nvSpPr>
          <p:spPr>
            <a:xfrm>
              <a:off x="4348314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8" name="object 758"/>
            <p:cNvSpPr/>
            <p:nvPr/>
          </p:nvSpPr>
          <p:spPr>
            <a:xfrm>
              <a:off x="4368471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9" name="object 759"/>
            <p:cNvSpPr/>
            <p:nvPr/>
          </p:nvSpPr>
          <p:spPr>
            <a:xfrm>
              <a:off x="4408600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0" name="object 760"/>
            <p:cNvSpPr/>
            <p:nvPr/>
          </p:nvSpPr>
          <p:spPr>
            <a:xfrm>
              <a:off x="4428757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1" name="object 761"/>
            <p:cNvSpPr/>
            <p:nvPr/>
          </p:nvSpPr>
          <p:spPr>
            <a:xfrm>
              <a:off x="4448728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2" name="object 762"/>
            <p:cNvSpPr/>
            <p:nvPr/>
          </p:nvSpPr>
          <p:spPr>
            <a:xfrm>
              <a:off x="4468886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3" name="object 763"/>
            <p:cNvSpPr/>
            <p:nvPr/>
          </p:nvSpPr>
          <p:spPr>
            <a:xfrm>
              <a:off x="4509201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4" name="object 764"/>
            <p:cNvSpPr/>
            <p:nvPr/>
          </p:nvSpPr>
          <p:spPr>
            <a:xfrm>
              <a:off x="4529172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5" name="object 765"/>
            <p:cNvSpPr/>
            <p:nvPr/>
          </p:nvSpPr>
          <p:spPr>
            <a:xfrm>
              <a:off x="4549330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6" name="object 766"/>
            <p:cNvSpPr/>
            <p:nvPr/>
          </p:nvSpPr>
          <p:spPr>
            <a:xfrm>
              <a:off x="4569487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7" name="object 767"/>
            <p:cNvSpPr/>
            <p:nvPr/>
          </p:nvSpPr>
          <p:spPr>
            <a:xfrm>
              <a:off x="4609616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8" name="object 768"/>
            <p:cNvSpPr/>
            <p:nvPr/>
          </p:nvSpPr>
          <p:spPr>
            <a:xfrm>
              <a:off x="4629773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9" name="object 769"/>
            <p:cNvSpPr/>
            <p:nvPr/>
          </p:nvSpPr>
          <p:spPr>
            <a:xfrm>
              <a:off x="4649931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0" name="object 770"/>
            <p:cNvSpPr/>
            <p:nvPr/>
          </p:nvSpPr>
          <p:spPr>
            <a:xfrm>
              <a:off x="4669902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1" name="object 771"/>
            <p:cNvSpPr/>
            <p:nvPr/>
          </p:nvSpPr>
          <p:spPr>
            <a:xfrm>
              <a:off x="4078613" y="1935166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2" name="object 772"/>
            <p:cNvSpPr/>
            <p:nvPr/>
          </p:nvSpPr>
          <p:spPr>
            <a:xfrm>
              <a:off x="4078613" y="191538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3" name="object 773"/>
            <p:cNvSpPr/>
            <p:nvPr/>
          </p:nvSpPr>
          <p:spPr>
            <a:xfrm>
              <a:off x="4078613" y="1895598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4" name="object 774"/>
            <p:cNvSpPr/>
            <p:nvPr/>
          </p:nvSpPr>
          <p:spPr>
            <a:xfrm>
              <a:off x="4078613" y="1875814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5" name="object 775"/>
            <p:cNvSpPr/>
            <p:nvPr/>
          </p:nvSpPr>
          <p:spPr>
            <a:xfrm>
              <a:off x="4078613" y="1855843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6" name="object 776"/>
            <p:cNvSpPr/>
            <p:nvPr/>
          </p:nvSpPr>
          <p:spPr>
            <a:xfrm>
              <a:off x="4078613" y="1836058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7" name="object 777"/>
            <p:cNvSpPr/>
            <p:nvPr/>
          </p:nvSpPr>
          <p:spPr>
            <a:xfrm>
              <a:off x="4078613" y="1816274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8" name="object 778"/>
            <p:cNvSpPr/>
            <p:nvPr/>
          </p:nvSpPr>
          <p:spPr>
            <a:xfrm>
              <a:off x="4087012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9" name="object 779"/>
            <p:cNvSpPr/>
            <p:nvPr/>
          </p:nvSpPr>
          <p:spPr>
            <a:xfrm>
              <a:off x="4187426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0" name="object 780"/>
            <p:cNvSpPr/>
            <p:nvPr/>
          </p:nvSpPr>
          <p:spPr>
            <a:xfrm>
              <a:off x="4288028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1" name="object 781"/>
            <p:cNvSpPr/>
            <p:nvPr/>
          </p:nvSpPr>
          <p:spPr>
            <a:xfrm>
              <a:off x="4388442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2" name="object 782"/>
            <p:cNvSpPr/>
            <p:nvPr/>
          </p:nvSpPr>
          <p:spPr>
            <a:xfrm>
              <a:off x="4489043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3" name="object 783"/>
            <p:cNvSpPr/>
            <p:nvPr/>
          </p:nvSpPr>
          <p:spPr>
            <a:xfrm>
              <a:off x="4589458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4" name="object 784"/>
            <p:cNvSpPr/>
            <p:nvPr/>
          </p:nvSpPr>
          <p:spPr>
            <a:xfrm>
              <a:off x="4690059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5" name="object 785"/>
            <p:cNvSpPr/>
            <p:nvPr/>
          </p:nvSpPr>
          <p:spPr>
            <a:xfrm>
              <a:off x="4075440" y="1867228"/>
              <a:ext cx="614680" cy="61594"/>
            </a:xfrm>
            <a:custGeom>
              <a:avLst/>
              <a:gdLst/>
              <a:ahLst/>
              <a:cxnLst/>
              <a:rect l="l" t="t" r="r" b="b"/>
              <a:pathLst>
                <a:path w="614679" h="61594">
                  <a:moveTo>
                    <a:pt x="0" y="0"/>
                  </a:moveTo>
                  <a:lnTo>
                    <a:pt x="11385" y="0"/>
                  </a:lnTo>
                  <a:lnTo>
                    <a:pt x="11571" y="373"/>
                  </a:lnTo>
                  <a:lnTo>
                    <a:pt x="11945" y="933"/>
                  </a:lnTo>
                  <a:lnTo>
                    <a:pt x="11945" y="1306"/>
                  </a:lnTo>
                  <a:lnTo>
                    <a:pt x="12131" y="1679"/>
                  </a:lnTo>
                  <a:lnTo>
                    <a:pt x="12131" y="2426"/>
                  </a:lnTo>
                  <a:lnTo>
                    <a:pt x="12318" y="2799"/>
                  </a:lnTo>
                  <a:lnTo>
                    <a:pt x="12318" y="2986"/>
                  </a:lnTo>
                  <a:lnTo>
                    <a:pt x="12505" y="3546"/>
                  </a:lnTo>
                  <a:lnTo>
                    <a:pt x="12691" y="3732"/>
                  </a:lnTo>
                  <a:lnTo>
                    <a:pt x="12691" y="3919"/>
                  </a:lnTo>
                  <a:lnTo>
                    <a:pt x="13065" y="4292"/>
                  </a:lnTo>
                  <a:lnTo>
                    <a:pt x="13438" y="4479"/>
                  </a:lnTo>
                  <a:lnTo>
                    <a:pt x="13811" y="4479"/>
                  </a:lnTo>
                  <a:lnTo>
                    <a:pt x="14371" y="4292"/>
                  </a:lnTo>
                  <a:lnTo>
                    <a:pt x="15118" y="3919"/>
                  </a:lnTo>
                  <a:lnTo>
                    <a:pt x="15864" y="3732"/>
                  </a:lnTo>
                  <a:lnTo>
                    <a:pt x="16424" y="3359"/>
                  </a:lnTo>
                  <a:lnTo>
                    <a:pt x="17171" y="3172"/>
                  </a:lnTo>
                  <a:lnTo>
                    <a:pt x="17731" y="2986"/>
                  </a:lnTo>
                  <a:lnTo>
                    <a:pt x="18104" y="2799"/>
                  </a:lnTo>
                  <a:lnTo>
                    <a:pt x="18664" y="2613"/>
                  </a:lnTo>
                  <a:lnTo>
                    <a:pt x="19597" y="2426"/>
                  </a:lnTo>
                  <a:lnTo>
                    <a:pt x="20717" y="2053"/>
                  </a:lnTo>
                  <a:lnTo>
                    <a:pt x="22024" y="1866"/>
                  </a:lnTo>
                  <a:lnTo>
                    <a:pt x="23517" y="1493"/>
                  </a:lnTo>
                  <a:lnTo>
                    <a:pt x="25383" y="1306"/>
                  </a:lnTo>
                  <a:lnTo>
                    <a:pt x="62525" y="0"/>
                  </a:lnTo>
                  <a:lnTo>
                    <a:pt x="212587" y="0"/>
                  </a:lnTo>
                  <a:lnTo>
                    <a:pt x="212774" y="186"/>
                  </a:lnTo>
                  <a:lnTo>
                    <a:pt x="213147" y="933"/>
                  </a:lnTo>
                  <a:lnTo>
                    <a:pt x="213521" y="1306"/>
                  </a:lnTo>
                  <a:lnTo>
                    <a:pt x="214640" y="1306"/>
                  </a:lnTo>
                  <a:lnTo>
                    <a:pt x="215200" y="1119"/>
                  </a:lnTo>
                  <a:lnTo>
                    <a:pt x="216134" y="1119"/>
                  </a:lnTo>
                  <a:lnTo>
                    <a:pt x="217067" y="933"/>
                  </a:lnTo>
                  <a:lnTo>
                    <a:pt x="218187" y="746"/>
                  </a:lnTo>
                  <a:lnTo>
                    <a:pt x="220053" y="746"/>
                  </a:lnTo>
                  <a:lnTo>
                    <a:pt x="221733" y="559"/>
                  </a:lnTo>
                  <a:lnTo>
                    <a:pt x="223039" y="559"/>
                  </a:lnTo>
                  <a:lnTo>
                    <a:pt x="224533" y="373"/>
                  </a:lnTo>
                  <a:lnTo>
                    <a:pt x="228825" y="373"/>
                  </a:lnTo>
                  <a:lnTo>
                    <a:pt x="231625" y="186"/>
                  </a:lnTo>
                  <a:lnTo>
                    <a:pt x="246183" y="186"/>
                  </a:lnTo>
                  <a:lnTo>
                    <a:pt x="253462" y="0"/>
                  </a:lnTo>
                  <a:lnTo>
                    <a:pt x="413603" y="0"/>
                  </a:lnTo>
                  <a:lnTo>
                    <a:pt x="413790" y="186"/>
                  </a:lnTo>
                  <a:lnTo>
                    <a:pt x="413977" y="559"/>
                  </a:lnTo>
                  <a:lnTo>
                    <a:pt x="414163" y="746"/>
                  </a:lnTo>
                  <a:lnTo>
                    <a:pt x="414163" y="933"/>
                  </a:lnTo>
                  <a:lnTo>
                    <a:pt x="414350" y="1306"/>
                  </a:lnTo>
                  <a:lnTo>
                    <a:pt x="414350" y="1493"/>
                  </a:lnTo>
                  <a:lnTo>
                    <a:pt x="414536" y="1679"/>
                  </a:lnTo>
                  <a:lnTo>
                    <a:pt x="414536" y="2053"/>
                  </a:lnTo>
                  <a:lnTo>
                    <a:pt x="414723" y="2239"/>
                  </a:lnTo>
                  <a:lnTo>
                    <a:pt x="414723" y="2426"/>
                  </a:lnTo>
                  <a:lnTo>
                    <a:pt x="414910" y="2799"/>
                  </a:lnTo>
                  <a:lnTo>
                    <a:pt x="415096" y="3359"/>
                  </a:lnTo>
                  <a:lnTo>
                    <a:pt x="415096" y="3919"/>
                  </a:lnTo>
                  <a:lnTo>
                    <a:pt x="415470" y="5226"/>
                  </a:lnTo>
                  <a:lnTo>
                    <a:pt x="415843" y="7092"/>
                  </a:lnTo>
                  <a:lnTo>
                    <a:pt x="416216" y="9518"/>
                  </a:lnTo>
                  <a:lnTo>
                    <a:pt x="416963" y="12691"/>
                  </a:lnTo>
                  <a:lnTo>
                    <a:pt x="418643" y="21090"/>
                  </a:lnTo>
                  <a:lnTo>
                    <a:pt x="437494" y="55433"/>
                  </a:lnTo>
                  <a:lnTo>
                    <a:pt x="477249" y="60846"/>
                  </a:lnTo>
                  <a:lnTo>
                    <a:pt x="492180" y="61032"/>
                  </a:lnTo>
                  <a:lnTo>
                    <a:pt x="614619" y="61032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6" name="object 786"/>
            <p:cNvSpPr/>
            <p:nvPr/>
          </p:nvSpPr>
          <p:spPr>
            <a:xfrm>
              <a:off x="4069094" y="1816274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7" name="object 787"/>
            <p:cNvSpPr/>
            <p:nvPr/>
          </p:nvSpPr>
          <p:spPr>
            <a:xfrm>
              <a:off x="4062001" y="1935166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70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8" name="object 788"/>
            <p:cNvSpPr/>
            <p:nvPr/>
          </p:nvSpPr>
          <p:spPr>
            <a:xfrm>
              <a:off x="4062001" y="1915382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70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9" name="object 789"/>
            <p:cNvSpPr/>
            <p:nvPr/>
          </p:nvSpPr>
          <p:spPr>
            <a:xfrm>
              <a:off x="4062001" y="1895598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70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0" name="object 790"/>
            <p:cNvSpPr/>
            <p:nvPr/>
          </p:nvSpPr>
          <p:spPr>
            <a:xfrm>
              <a:off x="4062001" y="1875814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70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1" name="object 791"/>
            <p:cNvSpPr/>
            <p:nvPr/>
          </p:nvSpPr>
          <p:spPr>
            <a:xfrm>
              <a:off x="4062001" y="1855843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70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2" name="object 792"/>
            <p:cNvSpPr/>
            <p:nvPr/>
          </p:nvSpPr>
          <p:spPr>
            <a:xfrm>
              <a:off x="4062001" y="1836058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70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3" name="object 793"/>
            <p:cNvSpPr/>
            <p:nvPr/>
          </p:nvSpPr>
          <p:spPr>
            <a:xfrm>
              <a:off x="4062001" y="1816274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709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4" name="object 794"/>
            <p:cNvSpPr/>
            <p:nvPr/>
          </p:nvSpPr>
          <p:spPr>
            <a:xfrm>
              <a:off x="4064428" y="1931247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5" name="object 795"/>
            <p:cNvSpPr/>
            <p:nvPr/>
          </p:nvSpPr>
          <p:spPr>
            <a:xfrm>
              <a:off x="4064428" y="1927327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6" name="object 796"/>
            <p:cNvSpPr/>
            <p:nvPr/>
          </p:nvSpPr>
          <p:spPr>
            <a:xfrm>
              <a:off x="4064428" y="192322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7" name="object 797"/>
            <p:cNvSpPr/>
            <p:nvPr/>
          </p:nvSpPr>
          <p:spPr>
            <a:xfrm>
              <a:off x="4064428" y="191930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8" name="object 798"/>
            <p:cNvSpPr/>
            <p:nvPr/>
          </p:nvSpPr>
          <p:spPr>
            <a:xfrm>
              <a:off x="4064428" y="191146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9" name="object 799"/>
            <p:cNvSpPr/>
            <p:nvPr/>
          </p:nvSpPr>
          <p:spPr>
            <a:xfrm>
              <a:off x="4064428" y="190735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0" name="object 800"/>
            <p:cNvSpPr/>
            <p:nvPr/>
          </p:nvSpPr>
          <p:spPr>
            <a:xfrm>
              <a:off x="4064428" y="1903437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1" name="object 801"/>
            <p:cNvSpPr/>
            <p:nvPr/>
          </p:nvSpPr>
          <p:spPr>
            <a:xfrm>
              <a:off x="4064428" y="1899517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2" name="object 802"/>
            <p:cNvSpPr/>
            <p:nvPr/>
          </p:nvSpPr>
          <p:spPr>
            <a:xfrm>
              <a:off x="4064428" y="189149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3" name="object 803"/>
            <p:cNvSpPr/>
            <p:nvPr/>
          </p:nvSpPr>
          <p:spPr>
            <a:xfrm>
              <a:off x="4064428" y="188757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4" name="object 804"/>
            <p:cNvSpPr/>
            <p:nvPr/>
          </p:nvSpPr>
          <p:spPr>
            <a:xfrm>
              <a:off x="4064428" y="188365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5" name="object 805"/>
            <p:cNvSpPr/>
            <p:nvPr/>
          </p:nvSpPr>
          <p:spPr>
            <a:xfrm>
              <a:off x="4064428" y="187973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6" name="object 806"/>
            <p:cNvSpPr/>
            <p:nvPr/>
          </p:nvSpPr>
          <p:spPr>
            <a:xfrm>
              <a:off x="4064428" y="1871707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7" name="object 807"/>
            <p:cNvSpPr/>
            <p:nvPr/>
          </p:nvSpPr>
          <p:spPr>
            <a:xfrm>
              <a:off x="4064428" y="186778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8" name="object 808"/>
            <p:cNvSpPr/>
            <p:nvPr/>
          </p:nvSpPr>
          <p:spPr>
            <a:xfrm>
              <a:off x="4064428" y="186386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9" name="object 809"/>
            <p:cNvSpPr/>
            <p:nvPr/>
          </p:nvSpPr>
          <p:spPr>
            <a:xfrm>
              <a:off x="4064428" y="1859949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0" name="object 810"/>
            <p:cNvSpPr/>
            <p:nvPr/>
          </p:nvSpPr>
          <p:spPr>
            <a:xfrm>
              <a:off x="4064428" y="185192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1" name="object 811"/>
            <p:cNvSpPr/>
            <p:nvPr/>
          </p:nvSpPr>
          <p:spPr>
            <a:xfrm>
              <a:off x="4064428" y="184800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2" name="object 812"/>
            <p:cNvSpPr/>
            <p:nvPr/>
          </p:nvSpPr>
          <p:spPr>
            <a:xfrm>
              <a:off x="4064428" y="184408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3" name="object 813"/>
            <p:cNvSpPr/>
            <p:nvPr/>
          </p:nvSpPr>
          <p:spPr>
            <a:xfrm>
              <a:off x="4064428" y="183997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4" name="object 814"/>
            <p:cNvSpPr/>
            <p:nvPr/>
          </p:nvSpPr>
          <p:spPr>
            <a:xfrm>
              <a:off x="4064428" y="1832139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5" name="object 815"/>
            <p:cNvSpPr/>
            <p:nvPr/>
          </p:nvSpPr>
          <p:spPr>
            <a:xfrm>
              <a:off x="4064428" y="1828219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6" name="object 816"/>
            <p:cNvSpPr/>
            <p:nvPr/>
          </p:nvSpPr>
          <p:spPr>
            <a:xfrm>
              <a:off x="4064428" y="182411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7" name="object 817"/>
            <p:cNvSpPr/>
            <p:nvPr/>
          </p:nvSpPr>
          <p:spPr>
            <a:xfrm>
              <a:off x="4064428" y="182019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66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8" name="object 818"/>
          <p:cNvSpPr txBox="1"/>
          <p:nvPr/>
        </p:nvSpPr>
        <p:spPr>
          <a:xfrm>
            <a:off x="3812263" y="1803574"/>
            <a:ext cx="48260" cy="387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0" dirty="0">
                <a:latin typeface="Tahoma"/>
                <a:cs typeface="Tahoma"/>
              </a:rPr>
              <a:t>/vo6</a:t>
            </a:r>
            <a:endParaRPr sz="100">
              <a:latin typeface="Tahoma"/>
              <a:cs typeface="Tahoma"/>
            </a:endParaRPr>
          </a:p>
        </p:txBody>
      </p:sp>
      <p:pic>
        <p:nvPicPr>
          <p:cNvPr id="819" name="object 8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9274" y="1818980"/>
            <a:ext cx="13998" cy="9332"/>
          </a:xfrm>
          <a:prstGeom prst="rect">
            <a:avLst/>
          </a:prstGeom>
        </p:spPr>
      </p:pic>
      <p:sp>
        <p:nvSpPr>
          <p:cNvPr id="820" name="object 820"/>
          <p:cNvSpPr txBox="1"/>
          <p:nvPr/>
        </p:nvSpPr>
        <p:spPr>
          <a:xfrm>
            <a:off x="4000333" y="1844714"/>
            <a:ext cx="41275" cy="62865"/>
          </a:xfrm>
          <a:prstGeom prst="rect">
            <a:avLst/>
          </a:prstGeom>
        </p:spPr>
        <p:txBody>
          <a:bodyPr vert="vert270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" b="1" dirty="0">
                <a:latin typeface="Tahoma"/>
                <a:cs typeface="Tahoma"/>
              </a:rPr>
              <a:t>V</a:t>
            </a:r>
            <a:r>
              <a:rPr sz="100" b="1" spc="15" dirty="0">
                <a:latin typeface="Tahoma"/>
                <a:cs typeface="Tahoma"/>
              </a:rPr>
              <a:t> </a:t>
            </a:r>
            <a:r>
              <a:rPr sz="100" b="1" spc="-25" dirty="0">
                <a:latin typeface="Tahoma"/>
                <a:cs typeface="Tahoma"/>
              </a:rPr>
              <a:t>(V)</a:t>
            </a:r>
            <a:endParaRPr sz="100">
              <a:latin typeface="Tahoma"/>
              <a:cs typeface="Tahoma"/>
            </a:endParaRPr>
          </a:p>
        </p:txBody>
      </p:sp>
      <p:sp>
        <p:nvSpPr>
          <p:cNvPr id="821" name="object 821"/>
          <p:cNvSpPr txBox="1"/>
          <p:nvPr/>
        </p:nvSpPr>
        <p:spPr>
          <a:xfrm>
            <a:off x="4020185" y="1852120"/>
            <a:ext cx="55880" cy="1047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0" dirty="0">
                <a:latin typeface="Tahoma"/>
                <a:cs typeface="Tahoma"/>
              </a:rPr>
              <a:t>1.25</a:t>
            </a:r>
            <a:endParaRPr sz="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0" b="1" spc="-25" dirty="0">
                <a:latin typeface="Tahoma"/>
                <a:cs typeface="Tahoma"/>
              </a:rPr>
              <a:t>1.0</a:t>
            </a:r>
            <a:endParaRPr sz="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0" b="1" spc="-25" dirty="0">
                <a:latin typeface="Tahoma"/>
                <a:cs typeface="Tahoma"/>
              </a:rPr>
              <a:t>.75</a:t>
            </a:r>
            <a:endParaRPr sz="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0" b="1" spc="-25" dirty="0">
                <a:latin typeface="Tahoma"/>
                <a:cs typeface="Tahoma"/>
              </a:rPr>
              <a:t>.5</a:t>
            </a:r>
            <a:endParaRPr sz="100">
              <a:latin typeface="Tahoma"/>
              <a:cs typeface="Tahoma"/>
            </a:endParaRPr>
          </a:p>
        </p:txBody>
      </p:sp>
      <p:sp>
        <p:nvSpPr>
          <p:cNvPr id="822" name="object 822"/>
          <p:cNvSpPr txBox="1"/>
          <p:nvPr/>
        </p:nvSpPr>
        <p:spPr>
          <a:xfrm>
            <a:off x="4020185" y="1833344"/>
            <a:ext cx="47625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5" dirty="0">
                <a:latin typeface="Tahoma"/>
                <a:cs typeface="Tahoma"/>
              </a:rPr>
              <a:t>1.5</a:t>
            </a:r>
            <a:endParaRPr sz="100">
              <a:latin typeface="Tahoma"/>
              <a:cs typeface="Tahoma"/>
            </a:endParaRPr>
          </a:p>
        </p:txBody>
      </p:sp>
      <p:sp>
        <p:nvSpPr>
          <p:cNvPr id="823" name="object 823"/>
          <p:cNvSpPr txBox="1"/>
          <p:nvPr/>
        </p:nvSpPr>
        <p:spPr>
          <a:xfrm>
            <a:off x="4020185" y="1813560"/>
            <a:ext cx="55880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0" dirty="0">
                <a:latin typeface="Tahoma"/>
                <a:cs typeface="Tahoma"/>
              </a:rPr>
              <a:t>1.75</a:t>
            </a:r>
            <a:endParaRPr sz="100">
              <a:latin typeface="Tahoma"/>
              <a:cs typeface="Tahoma"/>
            </a:endParaRPr>
          </a:p>
        </p:txBody>
      </p:sp>
      <p:sp>
        <p:nvSpPr>
          <p:cNvPr id="824" name="object 824"/>
          <p:cNvSpPr txBox="1"/>
          <p:nvPr/>
        </p:nvSpPr>
        <p:spPr>
          <a:xfrm>
            <a:off x="3913968" y="1750586"/>
            <a:ext cx="179070" cy="9271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Times New Roman"/>
              <a:cs typeface="Times New Roman"/>
            </a:endParaRPr>
          </a:p>
          <a:p>
            <a:pPr marL="118745">
              <a:lnSpc>
                <a:spcPct val="100000"/>
              </a:lnSpc>
            </a:pPr>
            <a:r>
              <a:rPr sz="100" b="1" spc="-25" dirty="0">
                <a:latin typeface="Tahoma"/>
                <a:cs typeface="Tahoma"/>
              </a:rPr>
              <a:t>1.0</a:t>
            </a:r>
            <a:endParaRPr sz="100">
              <a:latin typeface="Tahoma"/>
              <a:cs typeface="Tahoma"/>
            </a:endParaRPr>
          </a:p>
          <a:p>
            <a:pPr marL="118745">
              <a:lnSpc>
                <a:spcPct val="100000"/>
              </a:lnSpc>
              <a:spcBef>
                <a:spcPts val="65"/>
              </a:spcBef>
            </a:pPr>
            <a:r>
              <a:rPr sz="100" b="1" spc="-25" dirty="0">
                <a:latin typeface="Tahoma"/>
                <a:cs typeface="Tahoma"/>
              </a:rPr>
              <a:t>.75</a:t>
            </a:r>
            <a:endParaRPr sz="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00" b="1" dirty="0">
                <a:latin typeface="Tahoma"/>
                <a:cs typeface="Tahoma"/>
              </a:rPr>
              <a:t>835.845mV</a:t>
            </a:r>
            <a:r>
              <a:rPr sz="100" b="1" spc="229" dirty="0">
                <a:latin typeface="Tahoma"/>
                <a:cs typeface="Tahoma"/>
              </a:rPr>
              <a:t> </a:t>
            </a:r>
            <a:r>
              <a:rPr sz="150" b="1" spc="-37" baseline="27777" dirty="0">
                <a:latin typeface="Tahoma"/>
                <a:cs typeface="Tahoma"/>
              </a:rPr>
              <a:t>2.0</a:t>
            </a:r>
            <a:endParaRPr sz="150" baseline="27777">
              <a:latin typeface="Tahoma"/>
              <a:cs typeface="Tahoma"/>
            </a:endParaRPr>
          </a:p>
        </p:txBody>
      </p:sp>
      <p:grpSp>
        <p:nvGrpSpPr>
          <p:cNvPr id="825" name="object 825"/>
          <p:cNvGrpSpPr/>
          <p:nvPr/>
        </p:nvGrpSpPr>
        <p:grpSpPr>
          <a:xfrm>
            <a:off x="3807978" y="1549298"/>
            <a:ext cx="883919" cy="120650"/>
            <a:chOff x="3807978" y="1549298"/>
            <a:chExt cx="883919" cy="120650"/>
          </a:xfrm>
        </p:grpSpPr>
        <p:sp>
          <p:nvSpPr>
            <p:cNvPr id="826" name="object 826"/>
            <p:cNvSpPr/>
            <p:nvPr/>
          </p:nvSpPr>
          <p:spPr>
            <a:xfrm>
              <a:off x="4078613" y="1664159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7" name="object 827"/>
            <p:cNvSpPr/>
            <p:nvPr/>
          </p:nvSpPr>
          <p:spPr>
            <a:xfrm>
              <a:off x="4078613" y="1659306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8" name="object 828"/>
            <p:cNvSpPr/>
            <p:nvPr/>
          </p:nvSpPr>
          <p:spPr>
            <a:xfrm>
              <a:off x="4078613" y="1654640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9" name="object 829"/>
            <p:cNvSpPr/>
            <p:nvPr/>
          </p:nvSpPr>
          <p:spPr>
            <a:xfrm>
              <a:off x="4078613" y="1649787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0" name="object 830"/>
            <p:cNvSpPr/>
            <p:nvPr/>
          </p:nvSpPr>
          <p:spPr>
            <a:xfrm>
              <a:off x="4078613" y="1640268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1" name="object 831"/>
            <p:cNvSpPr/>
            <p:nvPr/>
          </p:nvSpPr>
          <p:spPr>
            <a:xfrm>
              <a:off x="4078613" y="163560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2" name="object 832"/>
            <p:cNvSpPr/>
            <p:nvPr/>
          </p:nvSpPr>
          <p:spPr>
            <a:xfrm>
              <a:off x="4078613" y="1630750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3" name="object 833"/>
            <p:cNvSpPr/>
            <p:nvPr/>
          </p:nvSpPr>
          <p:spPr>
            <a:xfrm>
              <a:off x="4078613" y="1626084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4" name="object 834"/>
            <p:cNvSpPr/>
            <p:nvPr/>
          </p:nvSpPr>
          <p:spPr>
            <a:xfrm>
              <a:off x="4078613" y="1616565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5" name="object 835"/>
            <p:cNvSpPr/>
            <p:nvPr/>
          </p:nvSpPr>
          <p:spPr>
            <a:xfrm>
              <a:off x="4078613" y="161171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6" name="object 836"/>
            <p:cNvSpPr/>
            <p:nvPr/>
          </p:nvSpPr>
          <p:spPr>
            <a:xfrm>
              <a:off x="4078613" y="1607046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7" name="object 837"/>
            <p:cNvSpPr/>
            <p:nvPr/>
          </p:nvSpPr>
          <p:spPr>
            <a:xfrm>
              <a:off x="4078613" y="1602193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8" name="object 838"/>
            <p:cNvSpPr/>
            <p:nvPr/>
          </p:nvSpPr>
          <p:spPr>
            <a:xfrm>
              <a:off x="4078613" y="1592674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9" name="object 839"/>
            <p:cNvSpPr/>
            <p:nvPr/>
          </p:nvSpPr>
          <p:spPr>
            <a:xfrm>
              <a:off x="4078613" y="1588008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0" name="object 840"/>
            <p:cNvSpPr/>
            <p:nvPr/>
          </p:nvSpPr>
          <p:spPr>
            <a:xfrm>
              <a:off x="4078613" y="1583155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1" name="object 841"/>
            <p:cNvSpPr/>
            <p:nvPr/>
          </p:nvSpPr>
          <p:spPr>
            <a:xfrm>
              <a:off x="4078613" y="1578489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2" name="object 842"/>
            <p:cNvSpPr/>
            <p:nvPr/>
          </p:nvSpPr>
          <p:spPr>
            <a:xfrm>
              <a:off x="4078613" y="1568970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3" name="object 843"/>
            <p:cNvSpPr/>
            <p:nvPr/>
          </p:nvSpPr>
          <p:spPr>
            <a:xfrm>
              <a:off x="4078613" y="1564118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4" name="object 844"/>
            <p:cNvSpPr/>
            <p:nvPr/>
          </p:nvSpPr>
          <p:spPr>
            <a:xfrm>
              <a:off x="4078613" y="1559452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5" name="object 845"/>
            <p:cNvSpPr/>
            <p:nvPr/>
          </p:nvSpPr>
          <p:spPr>
            <a:xfrm>
              <a:off x="4078613" y="1554599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6" name="object 846"/>
            <p:cNvSpPr/>
            <p:nvPr/>
          </p:nvSpPr>
          <p:spPr>
            <a:xfrm>
              <a:off x="4106982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7" name="object 847"/>
            <p:cNvSpPr/>
            <p:nvPr/>
          </p:nvSpPr>
          <p:spPr>
            <a:xfrm>
              <a:off x="4127140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8" name="object 848"/>
            <p:cNvSpPr/>
            <p:nvPr/>
          </p:nvSpPr>
          <p:spPr>
            <a:xfrm>
              <a:off x="4147298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9" name="object 849"/>
            <p:cNvSpPr/>
            <p:nvPr/>
          </p:nvSpPr>
          <p:spPr>
            <a:xfrm>
              <a:off x="4167269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0" name="object 850"/>
            <p:cNvSpPr/>
            <p:nvPr/>
          </p:nvSpPr>
          <p:spPr>
            <a:xfrm>
              <a:off x="4207584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1" name="object 851"/>
            <p:cNvSpPr/>
            <p:nvPr/>
          </p:nvSpPr>
          <p:spPr>
            <a:xfrm>
              <a:off x="4227741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2" name="object 852"/>
            <p:cNvSpPr/>
            <p:nvPr/>
          </p:nvSpPr>
          <p:spPr>
            <a:xfrm>
              <a:off x="4247712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3" name="object 853"/>
            <p:cNvSpPr/>
            <p:nvPr/>
          </p:nvSpPr>
          <p:spPr>
            <a:xfrm>
              <a:off x="4267870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4" name="object 854"/>
            <p:cNvSpPr/>
            <p:nvPr/>
          </p:nvSpPr>
          <p:spPr>
            <a:xfrm>
              <a:off x="4307998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5" name="object 855"/>
            <p:cNvSpPr/>
            <p:nvPr/>
          </p:nvSpPr>
          <p:spPr>
            <a:xfrm>
              <a:off x="4328156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6" name="object 856"/>
            <p:cNvSpPr/>
            <p:nvPr/>
          </p:nvSpPr>
          <p:spPr>
            <a:xfrm>
              <a:off x="4348313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7" name="object 857"/>
            <p:cNvSpPr/>
            <p:nvPr/>
          </p:nvSpPr>
          <p:spPr>
            <a:xfrm>
              <a:off x="4368471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8" name="object 858"/>
            <p:cNvSpPr/>
            <p:nvPr/>
          </p:nvSpPr>
          <p:spPr>
            <a:xfrm>
              <a:off x="4408600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9" name="object 859"/>
            <p:cNvSpPr/>
            <p:nvPr/>
          </p:nvSpPr>
          <p:spPr>
            <a:xfrm>
              <a:off x="4428757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0" name="object 860"/>
            <p:cNvSpPr/>
            <p:nvPr/>
          </p:nvSpPr>
          <p:spPr>
            <a:xfrm>
              <a:off x="4448728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1" name="object 861"/>
            <p:cNvSpPr/>
            <p:nvPr/>
          </p:nvSpPr>
          <p:spPr>
            <a:xfrm>
              <a:off x="4468886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2" name="object 862"/>
            <p:cNvSpPr/>
            <p:nvPr/>
          </p:nvSpPr>
          <p:spPr>
            <a:xfrm>
              <a:off x="4509201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3" name="object 863"/>
            <p:cNvSpPr/>
            <p:nvPr/>
          </p:nvSpPr>
          <p:spPr>
            <a:xfrm>
              <a:off x="4529172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4" name="object 864"/>
            <p:cNvSpPr/>
            <p:nvPr/>
          </p:nvSpPr>
          <p:spPr>
            <a:xfrm>
              <a:off x="4549329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5" name="object 865"/>
            <p:cNvSpPr/>
            <p:nvPr/>
          </p:nvSpPr>
          <p:spPr>
            <a:xfrm>
              <a:off x="4569487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6" name="object 866"/>
            <p:cNvSpPr/>
            <p:nvPr/>
          </p:nvSpPr>
          <p:spPr>
            <a:xfrm>
              <a:off x="4609615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7" name="object 867"/>
            <p:cNvSpPr/>
            <p:nvPr/>
          </p:nvSpPr>
          <p:spPr>
            <a:xfrm>
              <a:off x="4629773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8" name="object 868"/>
            <p:cNvSpPr/>
            <p:nvPr/>
          </p:nvSpPr>
          <p:spPr>
            <a:xfrm>
              <a:off x="4649931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9" name="object 869"/>
            <p:cNvSpPr/>
            <p:nvPr/>
          </p:nvSpPr>
          <p:spPr>
            <a:xfrm>
              <a:off x="4669902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D4D4D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0" name="object 870"/>
            <p:cNvSpPr/>
            <p:nvPr/>
          </p:nvSpPr>
          <p:spPr>
            <a:xfrm>
              <a:off x="4078613" y="1668825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1" name="object 871"/>
            <p:cNvSpPr/>
            <p:nvPr/>
          </p:nvSpPr>
          <p:spPr>
            <a:xfrm>
              <a:off x="4078613" y="1645121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2" name="object 872"/>
            <p:cNvSpPr/>
            <p:nvPr/>
          </p:nvSpPr>
          <p:spPr>
            <a:xfrm>
              <a:off x="4078613" y="1621231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3" name="object 873"/>
            <p:cNvSpPr/>
            <p:nvPr/>
          </p:nvSpPr>
          <p:spPr>
            <a:xfrm>
              <a:off x="4078613" y="1597527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4" name="object 874"/>
            <p:cNvSpPr/>
            <p:nvPr/>
          </p:nvSpPr>
          <p:spPr>
            <a:xfrm>
              <a:off x="4078613" y="1573636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5" name="object 875"/>
            <p:cNvSpPr/>
            <p:nvPr/>
          </p:nvSpPr>
          <p:spPr>
            <a:xfrm>
              <a:off x="4078613" y="1549933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6" name="object 876"/>
            <p:cNvSpPr/>
            <p:nvPr/>
          </p:nvSpPr>
          <p:spPr>
            <a:xfrm>
              <a:off x="4087012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7" name="object 877"/>
            <p:cNvSpPr/>
            <p:nvPr/>
          </p:nvSpPr>
          <p:spPr>
            <a:xfrm>
              <a:off x="4187426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8" name="object 878"/>
            <p:cNvSpPr/>
            <p:nvPr/>
          </p:nvSpPr>
          <p:spPr>
            <a:xfrm>
              <a:off x="4288027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9" name="object 879"/>
            <p:cNvSpPr/>
            <p:nvPr/>
          </p:nvSpPr>
          <p:spPr>
            <a:xfrm>
              <a:off x="4388442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0" name="object 880"/>
            <p:cNvSpPr/>
            <p:nvPr/>
          </p:nvSpPr>
          <p:spPr>
            <a:xfrm>
              <a:off x="4489043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1" name="object 881"/>
            <p:cNvSpPr/>
            <p:nvPr/>
          </p:nvSpPr>
          <p:spPr>
            <a:xfrm>
              <a:off x="4589458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2" name="object 882"/>
            <p:cNvSpPr/>
            <p:nvPr/>
          </p:nvSpPr>
          <p:spPr>
            <a:xfrm>
              <a:off x="4690059" y="1549933"/>
              <a:ext cx="0" cy="119380"/>
            </a:xfrm>
            <a:custGeom>
              <a:avLst/>
              <a:gdLst/>
              <a:ahLst/>
              <a:cxnLst/>
              <a:rect l="l" t="t" r="r" b="b"/>
              <a:pathLst>
                <a:path h="119380">
                  <a:moveTo>
                    <a:pt x="0" y="0"/>
                  </a:moveTo>
                  <a:lnTo>
                    <a:pt x="0" y="119079"/>
                  </a:lnTo>
                </a:path>
              </a:pathLst>
            </a:custGeom>
            <a:ln w="3175">
              <a:solidFill>
                <a:srgbClr val="ABABAB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3" name="object 883"/>
            <p:cNvSpPr/>
            <p:nvPr/>
          </p:nvSpPr>
          <p:spPr>
            <a:xfrm>
              <a:off x="4075440" y="1573636"/>
              <a:ext cx="614680" cy="85090"/>
            </a:xfrm>
            <a:custGeom>
              <a:avLst/>
              <a:gdLst/>
              <a:ahLst/>
              <a:cxnLst/>
              <a:rect l="l" t="t" r="r" b="b"/>
              <a:pathLst>
                <a:path w="614679" h="85089">
                  <a:moveTo>
                    <a:pt x="0" y="84549"/>
                  </a:moveTo>
                  <a:lnTo>
                    <a:pt x="11385" y="84549"/>
                  </a:lnTo>
                  <a:lnTo>
                    <a:pt x="11571" y="83989"/>
                  </a:lnTo>
                  <a:lnTo>
                    <a:pt x="11945" y="82683"/>
                  </a:lnTo>
                  <a:lnTo>
                    <a:pt x="11945" y="82123"/>
                  </a:lnTo>
                  <a:lnTo>
                    <a:pt x="12131" y="80816"/>
                  </a:lnTo>
                  <a:lnTo>
                    <a:pt x="12131" y="78390"/>
                  </a:lnTo>
                  <a:lnTo>
                    <a:pt x="12318" y="76524"/>
                  </a:lnTo>
                  <a:lnTo>
                    <a:pt x="12318" y="74657"/>
                  </a:lnTo>
                  <a:lnTo>
                    <a:pt x="12505" y="73351"/>
                  </a:lnTo>
                  <a:lnTo>
                    <a:pt x="12505" y="71484"/>
                  </a:lnTo>
                  <a:lnTo>
                    <a:pt x="12691" y="69431"/>
                  </a:lnTo>
                  <a:lnTo>
                    <a:pt x="12691" y="66258"/>
                  </a:lnTo>
                  <a:lnTo>
                    <a:pt x="12878" y="63459"/>
                  </a:lnTo>
                  <a:lnTo>
                    <a:pt x="13065" y="57486"/>
                  </a:lnTo>
                  <a:lnTo>
                    <a:pt x="13438" y="48900"/>
                  </a:lnTo>
                  <a:lnTo>
                    <a:pt x="13811" y="38075"/>
                  </a:lnTo>
                  <a:lnTo>
                    <a:pt x="14371" y="25756"/>
                  </a:lnTo>
                  <a:lnTo>
                    <a:pt x="18104" y="933"/>
                  </a:lnTo>
                  <a:lnTo>
                    <a:pt x="18664" y="559"/>
                  </a:lnTo>
                  <a:lnTo>
                    <a:pt x="19597" y="373"/>
                  </a:lnTo>
                  <a:lnTo>
                    <a:pt x="20717" y="186"/>
                  </a:lnTo>
                  <a:lnTo>
                    <a:pt x="22024" y="0"/>
                  </a:lnTo>
                  <a:lnTo>
                    <a:pt x="414536" y="0"/>
                  </a:lnTo>
                  <a:lnTo>
                    <a:pt x="414723" y="186"/>
                  </a:lnTo>
                  <a:lnTo>
                    <a:pt x="415096" y="186"/>
                  </a:lnTo>
                  <a:lnTo>
                    <a:pt x="422002" y="1679"/>
                  </a:lnTo>
                  <a:lnTo>
                    <a:pt x="614619" y="1679"/>
                  </a:lnTo>
                </a:path>
              </a:pathLst>
            </a:custGeom>
            <a:ln w="3175">
              <a:solidFill>
                <a:srgbClr val="FF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4" name="object 88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07978" y="1551612"/>
              <a:ext cx="13998" cy="9332"/>
            </a:xfrm>
            <a:prstGeom prst="rect">
              <a:avLst/>
            </a:prstGeom>
          </p:spPr>
        </p:pic>
      </p:grpSp>
      <p:sp>
        <p:nvSpPr>
          <p:cNvPr id="885" name="object 885"/>
          <p:cNvSpPr txBox="1"/>
          <p:nvPr/>
        </p:nvSpPr>
        <p:spPr>
          <a:xfrm>
            <a:off x="3812263" y="1537233"/>
            <a:ext cx="48260" cy="387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0" dirty="0">
                <a:latin typeface="Tahoma"/>
                <a:cs typeface="Tahoma"/>
              </a:rPr>
              <a:t>/vo4</a:t>
            </a:r>
            <a:endParaRPr sz="100">
              <a:latin typeface="Tahoma"/>
              <a:cs typeface="Tahoma"/>
            </a:endParaRPr>
          </a:p>
        </p:txBody>
      </p:sp>
      <p:grpSp>
        <p:nvGrpSpPr>
          <p:cNvPr id="886" name="object 886"/>
          <p:cNvGrpSpPr/>
          <p:nvPr/>
        </p:nvGrpSpPr>
        <p:grpSpPr>
          <a:xfrm>
            <a:off x="3899274" y="1545749"/>
            <a:ext cx="170815" cy="127635"/>
            <a:chOff x="3899274" y="1545749"/>
            <a:chExt cx="170815" cy="127635"/>
          </a:xfrm>
        </p:grpSpPr>
        <p:pic>
          <p:nvPicPr>
            <p:cNvPr id="887" name="object 88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9274" y="1552639"/>
              <a:ext cx="13998" cy="9332"/>
            </a:xfrm>
            <a:prstGeom prst="rect">
              <a:avLst/>
            </a:prstGeom>
          </p:spPr>
        </p:pic>
        <p:sp>
          <p:nvSpPr>
            <p:cNvPr id="888" name="object 888"/>
            <p:cNvSpPr/>
            <p:nvPr/>
          </p:nvSpPr>
          <p:spPr>
            <a:xfrm>
              <a:off x="4065734" y="1549559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4">
                  <a:moveTo>
                    <a:pt x="0" y="0"/>
                  </a:moveTo>
                  <a:lnTo>
                    <a:pt x="0" y="119638"/>
                  </a:lnTo>
                </a:path>
              </a:pathLst>
            </a:custGeom>
            <a:ln w="746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9" name="object 889"/>
          <p:cNvSpPr txBox="1"/>
          <p:nvPr/>
        </p:nvSpPr>
        <p:spPr>
          <a:xfrm>
            <a:off x="4000333" y="1578372"/>
            <a:ext cx="41275" cy="62865"/>
          </a:xfrm>
          <a:prstGeom prst="rect">
            <a:avLst/>
          </a:prstGeom>
        </p:spPr>
        <p:txBody>
          <a:bodyPr vert="vert270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" b="1" dirty="0">
                <a:latin typeface="Tahoma"/>
                <a:cs typeface="Tahoma"/>
              </a:rPr>
              <a:t>V</a:t>
            </a:r>
            <a:r>
              <a:rPr sz="100" b="1" spc="15" dirty="0">
                <a:latin typeface="Tahoma"/>
                <a:cs typeface="Tahoma"/>
              </a:rPr>
              <a:t> </a:t>
            </a:r>
            <a:r>
              <a:rPr sz="100" b="1" spc="-25" dirty="0">
                <a:latin typeface="Tahoma"/>
                <a:cs typeface="Tahoma"/>
              </a:rPr>
              <a:t>(V)</a:t>
            </a:r>
            <a:endParaRPr sz="100">
              <a:latin typeface="Tahoma"/>
              <a:cs typeface="Tahoma"/>
            </a:endParaRPr>
          </a:p>
        </p:txBody>
      </p:sp>
      <p:sp>
        <p:nvSpPr>
          <p:cNvPr id="890" name="object 890"/>
          <p:cNvSpPr txBox="1"/>
          <p:nvPr/>
        </p:nvSpPr>
        <p:spPr>
          <a:xfrm>
            <a:off x="3923113" y="1617508"/>
            <a:ext cx="170180" cy="9271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Times New Roman"/>
              <a:cs typeface="Times New Roman"/>
            </a:endParaRPr>
          </a:p>
          <a:p>
            <a:pPr marL="109220">
              <a:lnSpc>
                <a:spcPct val="100000"/>
              </a:lnSpc>
            </a:pPr>
            <a:r>
              <a:rPr sz="100" b="1" spc="-25" dirty="0">
                <a:latin typeface="Tahoma"/>
                <a:cs typeface="Tahoma"/>
              </a:rPr>
              <a:t>1.0</a:t>
            </a:r>
            <a:endParaRPr sz="100">
              <a:latin typeface="Tahoma"/>
              <a:cs typeface="Tahoma"/>
            </a:endParaRPr>
          </a:p>
          <a:p>
            <a:pPr marL="109220">
              <a:lnSpc>
                <a:spcPct val="100000"/>
              </a:lnSpc>
              <a:spcBef>
                <a:spcPts val="65"/>
              </a:spcBef>
            </a:pPr>
            <a:r>
              <a:rPr sz="100" b="1" spc="-25" dirty="0">
                <a:latin typeface="Tahoma"/>
                <a:cs typeface="Tahoma"/>
              </a:rPr>
              <a:t>.75</a:t>
            </a:r>
            <a:endParaRPr sz="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00" b="1" dirty="0">
                <a:latin typeface="Tahoma"/>
                <a:cs typeface="Tahoma"/>
              </a:rPr>
              <a:t>1.73183V</a:t>
            </a:r>
            <a:r>
              <a:rPr sz="100" b="1" spc="210" dirty="0">
                <a:latin typeface="Tahoma"/>
                <a:cs typeface="Tahoma"/>
              </a:rPr>
              <a:t> </a:t>
            </a:r>
            <a:r>
              <a:rPr sz="150" b="1" spc="-37" baseline="27777" dirty="0">
                <a:latin typeface="Tahoma"/>
                <a:cs typeface="Tahoma"/>
              </a:rPr>
              <a:t>2.0</a:t>
            </a:r>
            <a:endParaRPr sz="150" baseline="27777">
              <a:latin typeface="Tahoma"/>
              <a:cs typeface="Tahoma"/>
            </a:endParaRPr>
          </a:p>
        </p:txBody>
      </p:sp>
      <p:sp>
        <p:nvSpPr>
          <p:cNvPr id="891" name="object 891"/>
          <p:cNvSpPr txBox="1"/>
          <p:nvPr/>
        </p:nvSpPr>
        <p:spPr>
          <a:xfrm>
            <a:off x="4020185" y="1598732"/>
            <a:ext cx="55880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0" dirty="0">
                <a:latin typeface="Tahoma"/>
                <a:cs typeface="Tahoma"/>
              </a:rPr>
              <a:t>1.25</a:t>
            </a:r>
            <a:endParaRPr sz="100">
              <a:latin typeface="Tahoma"/>
              <a:cs typeface="Tahoma"/>
            </a:endParaRPr>
          </a:p>
        </p:txBody>
      </p:sp>
      <p:sp>
        <p:nvSpPr>
          <p:cNvPr id="892" name="object 892"/>
          <p:cNvSpPr txBox="1"/>
          <p:nvPr/>
        </p:nvSpPr>
        <p:spPr>
          <a:xfrm>
            <a:off x="4020185" y="1575028"/>
            <a:ext cx="47625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5" dirty="0">
                <a:latin typeface="Tahoma"/>
                <a:cs typeface="Tahoma"/>
              </a:rPr>
              <a:t>1.5</a:t>
            </a:r>
            <a:endParaRPr sz="100">
              <a:latin typeface="Tahoma"/>
              <a:cs typeface="Tahoma"/>
            </a:endParaRPr>
          </a:p>
        </p:txBody>
      </p:sp>
      <p:sp>
        <p:nvSpPr>
          <p:cNvPr id="893" name="object 893"/>
          <p:cNvSpPr txBox="1"/>
          <p:nvPr/>
        </p:nvSpPr>
        <p:spPr>
          <a:xfrm>
            <a:off x="4020185" y="1551138"/>
            <a:ext cx="55880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0" dirty="0">
                <a:latin typeface="Tahoma"/>
                <a:cs typeface="Tahoma"/>
              </a:rPr>
              <a:t>1.75</a:t>
            </a:r>
            <a:endParaRPr sz="100">
              <a:latin typeface="Tahoma"/>
              <a:cs typeface="Tahoma"/>
            </a:endParaRPr>
          </a:p>
        </p:txBody>
      </p:sp>
      <p:sp>
        <p:nvSpPr>
          <p:cNvPr id="894" name="object 894"/>
          <p:cNvSpPr txBox="1"/>
          <p:nvPr/>
        </p:nvSpPr>
        <p:spPr>
          <a:xfrm>
            <a:off x="3913968" y="1350980"/>
            <a:ext cx="179070" cy="22606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Times New Roman"/>
              <a:cs typeface="Times New Roman"/>
            </a:endParaRPr>
          </a:p>
          <a:p>
            <a:pPr marL="118745">
              <a:lnSpc>
                <a:spcPct val="100000"/>
              </a:lnSpc>
            </a:pPr>
            <a:r>
              <a:rPr sz="100" b="1" spc="-25" dirty="0">
                <a:latin typeface="Tahoma"/>
                <a:cs typeface="Tahoma"/>
              </a:rPr>
              <a:t>1.0</a:t>
            </a:r>
            <a:endParaRPr sz="100">
              <a:latin typeface="Tahoma"/>
              <a:cs typeface="Tahoma"/>
            </a:endParaRPr>
          </a:p>
          <a:p>
            <a:pPr marL="118745">
              <a:lnSpc>
                <a:spcPct val="100000"/>
              </a:lnSpc>
              <a:spcBef>
                <a:spcPts val="65"/>
              </a:spcBef>
            </a:pPr>
            <a:r>
              <a:rPr sz="100" b="1" spc="-25" dirty="0">
                <a:latin typeface="Tahoma"/>
                <a:cs typeface="Tahoma"/>
              </a:rPr>
              <a:t>.75</a:t>
            </a:r>
            <a:endParaRPr sz="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00" b="1" dirty="0">
                <a:latin typeface="Tahoma"/>
                <a:cs typeface="Tahoma"/>
              </a:rPr>
              <a:t>344.111mV</a:t>
            </a:r>
            <a:r>
              <a:rPr sz="100" b="1" spc="229" dirty="0">
                <a:latin typeface="Tahoma"/>
                <a:cs typeface="Tahoma"/>
              </a:rPr>
              <a:t> </a:t>
            </a:r>
            <a:r>
              <a:rPr sz="150" b="1" spc="-37" baseline="27777" dirty="0">
                <a:latin typeface="Tahoma"/>
                <a:cs typeface="Tahoma"/>
              </a:rPr>
              <a:t>2.0</a:t>
            </a:r>
            <a:endParaRPr sz="150" baseline="27777">
              <a:latin typeface="Tahoma"/>
              <a:cs typeface="Tahoma"/>
            </a:endParaRPr>
          </a:p>
          <a:p>
            <a:pPr marL="118745">
              <a:lnSpc>
                <a:spcPct val="100000"/>
              </a:lnSpc>
              <a:spcBef>
                <a:spcPts val="25"/>
              </a:spcBef>
            </a:pPr>
            <a:r>
              <a:rPr sz="100" b="1" spc="-25" dirty="0">
                <a:latin typeface="Tahoma"/>
                <a:cs typeface="Tahoma"/>
              </a:rPr>
              <a:t>1.5</a:t>
            </a:r>
            <a:endParaRPr sz="100">
              <a:latin typeface="Tahoma"/>
              <a:cs typeface="Tahoma"/>
            </a:endParaRPr>
          </a:p>
          <a:p>
            <a:pPr marL="118745">
              <a:lnSpc>
                <a:spcPct val="100000"/>
              </a:lnSpc>
              <a:spcBef>
                <a:spcPts val="70"/>
              </a:spcBef>
            </a:pPr>
            <a:r>
              <a:rPr sz="100" b="1" spc="-25" dirty="0">
                <a:latin typeface="Tahoma"/>
                <a:cs typeface="Tahoma"/>
              </a:rPr>
              <a:t>1.0</a:t>
            </a:r>
            <a:endParaRPr sz="100">
              <a:latin typeface="Tahoma"/>
              <a:cs typeface="Tahoma"/>
            </a:endParaRPr>
          </a:p>
          <a:p>
            <a:pPr marL="118745">
              <a:lnSpc>
                <a:spcPct val="100000"/>
              </a:lnSpc>
              <a:spcBef>
                <a:spcPts val="65"/>
              </a:spcBef>
            </a:pPr>
            <a:r>
              <a:rPr sz="100" b="1" spc="-25" dirty="0">
                <a:latin typeface="Tahoma"/>
                <a:cs typeface="Tahoma"/>
              </a:rPr>
              <a:t>.5</a:t>
            </a:r>
            <a:endParaRPr sz="100">
              <a:latin typeface="Tahoma"/>
              <a:cs typeface="Tahoma"/>
            </a:endParaRPr>
          </a:p>
          <a:p>
            <a:pPr marL="118745">
              <a:lnSpc>
                <a:spcPct val="100000"/>
              </a:lnSpc>
              <a:spcBef>
                <a:spcPts val="70"/>
              </a:spcBef>
            </a:pPr>
            <a:r>
              <a:rPr sz="100" b="1" spc="-25" dirty="0">
                <a:latin typeface="Tahoma"/>
                <a:cs typeface="Tahoma"/>
              </a:rPr>
              <a:t>0.0</a:t>
            </a:r>
            <a:endParaRPr sz="100">
              <a:latin typeface="Tahoma"/>
              <a:cs typeface="Tahoma"/>
            </a:endParaRPr>
          </a:p>
          <a:p>
            <a:pPr marL="118745">
              <a:lnSpc>
                <a:spcPct val="100000"/>
              </a:lnSpc>
              <a:spcBef>
                <a:spcPts val="65"/>
              </a:spcBef>
            </a:pPr>
            <a:r>
              <a:rPr sz="100" b="1" spc="-10" dirty="0">
                <a:latin typeface="Tahoma"/>
                <a:cs typeface="Tahoma"/>
              </a:rPr>
              <a:t>-</a:t>
            </a:r>
            <a:r>
              <a:rPr sz="100" b="1" spc="-25" dirty="0">
                <a:latin typeface="Tahoma"/>
                <a:cs typeface="Tahoma"/>
              </a:rPr>
              <a:t>.5</a:t>
            </a:r>
            <a:endParaRPr sz="100">
              <a:latin typeface="Tahoma"/>
              <a:cs typeface="Tahoma"/>
            </a:endParaRPr>
          </a:p>
          <a:p>
            <a:pPr marL="46990">
              <a:lnSpc>
                <a:spcPct val="100000"/>
              </a:lnSpc>
              <a:spcBef>
                <a:spcPts val="35"/>
              </a:spcBef>
            </a:pPr>
            <a:r>
              <a:rPr sz="100" b="1" dirty="0">
                <a:latin typeface="Tahoma"/>
                <a:cs typeface="Tahoma"/>
              </a:rPr>
              <a:t>1.73183V</a:t>
            </a:r>
            <a:r>
              <a:rPr sz="100" b="1" spc="210" dirty="0">
                <a:latin typeface="Tahoma"/>
                <a:cs typeface="Tahoma"/>
              </a:rPr>
              <a:t> </a:t>
            </a:r>
            <a:r>
              <a:rPr sz="150" b="1" spc="-37" baseline="27777" dirty="0">
                <a:latin typeface="Tahoma"/>
                <a:cs typeface="Tahoma"/>
              </a:rPr>
              <a:t>2.0</a:t>
            </a:r>
            <a:endParaRPr sz="150" baseline="27777">
              <a:latin typeface="Tahoma"/>
              <a:cs typeface="Tahoma"/>
            </a:endParaRPr>
          </a:p>
        </p:txBody>
      </p:sp>
      <p:sp>
        <p:nvSpPr>
          <p:cNvPr id="895" name="object 895"/>
          <p:cNvSpPr txBox="1"/>
          <p:nvPr/>
        </p:nvSpPr>
        <p:spPr>
          <a:xfrm>
            <a:off x="3796958" y="1115603"/>
            <a:ext cx="224790" cy="387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dirty="0">
                <a:latin typeface="Tahoma"/>
                <a:cs typeface="Tahoma"/>
              </a:rPr>
              <a:t>Name</a:t>
            </a:r>
            <a:r>
              <a:rPr sz="100" b="1" spc="434" dirty="0">
                <a:latin typeface="Tahoma"/>
                <a:cs typeface="Tahoma"/>
              </a:rPr>
              <a:t> </a:t>
            </a:r>
            <a:r>
              <a:rPr sz="100" b="1" dirty="0">
                <a:latin typeface="Tahoma"/>
                <a:cs typeface="Tahoma"/>
              </a:rPr>
              <a:t>Vis</a:t>
            </a:r>
            <a:r>
              <a:rPr sz="100" b="1" spc="295" dirty="0">
                <a:latin typeface="Tahoma"/>
                <a:cs typeface="Tahoma"/>
              </a:rPr>
              <a:t>  </a:t>
            </a:r>
            <a:r>
              <a:rPr sz="100" b="1" spc="-25" dirty="0">
                <a:latin typeface="Tahoma"/>
                <a:cs typeface="Tahoma"/>
              </a:rPr>
              <a:t>V2</a:t>
            </a:r>
            <a:endParaRPr sz="100">
              <a:latin typeface="Tahoma"/>
              <a:cs typeface="Tahoma"/>
            </a:endParaRPr>
          </a:p>
        </p:txBody>
      </p:sp>
      <p:grpSp>
        <p:nvGrpSpPr>
          <p:cNvPr id="896" name="object 896"/>
          <p:cNvGrpSpPr/>
          <p:nvPr/>
        </p:nvGrpSpPr>
        <p:grpSpPr>
          <a:xfrm>
            <a:off x="3809285" y="1142488"/>
            <a:ext cx="882015" cy="807720"/>
            <a:chOff x="3809285" y="1142488"/>
            <a:chExt cx="882015" cy="807720"/>
          </a:xfrm>
        </p:grpSpPr>
        <p:sp>
          <p:nvSpPr>
            <p:cNvPr id="897" name="object 897"/>
            <p:cNvSpPr/>
            <p:nvPr/>
          </p:nvSpPr>
          <p:spPr>
            <a:xfrm>
              <a:off x="3809285" y="1142488"/>
              <a:ext cx="199390" cy="0"/>
            </a:xfrm>
            <a:custGeom>
              <a:avLst/>
              <a:gdLst/>
              <a:ahLst/>
              <a:cxnLst/>
              <a:rect l="l" t="t" r="r" b="b"/>
              <a:pathLst>
                <a:path w="199389">
                  <a:moveTo>
                    <a:pt x="0" y="0"/>
                  </a:moveTo>
                  <a:lnTo>
                    <a:pt x="19933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8" name="object 898"/>
            <p:cNvSpPr/>
            <p:nvPr/>
          </p:nvSpPr>
          <p:spPr>
            <a:xfrm>
              <a:off x="4078613" y="1942446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6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9" name="object 899"/>
            <p:cNvSpPr/>
            <p:nvPr/>
          </p:nvSpPr>
          <p:spPr>
            <a:xfrm>
              <a:off x="4087011" y="1942446"/>
              <a:ext cx="0" cy="7620"/>
            </a:xfrm>
            <a:custGeom>
              <a:avLst/>
              <a:gdLst/>
              <a:ahLst/>
              <a:cxnLst/>
              <a:rect l="l" t="t" r="r" b="b"/>
              <a:pathLst>
                <a:path h="7619">
                  <a:moveTo>
                    <a:pt x="0" y="0"/>
                  </a:moveTo>
                  <a:lnTo>
                    <a:pt x="0" y="70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0" name="object 900"/>
            <p:cNvSpPr/>
            <p:nvPr/>
          </p:nvSpPr>
          <p:spPr>
            <a:xfrm>
              <a:off x="4187426" y="1942446"/>
              <a:ext cx="0" cy="7620"/>
            </a:xfrm>
            <a:custGeom>
              <a:avLst/>
              <a:gdLst/>
              <a:ahLst/>
              <a:cxnLst/>
              <a:rect l="l" t="t" r="r" b="b"/>
              <a:pathLst>
                <a:path h="7619">
                  <a:moveTo>
                    <a:pt x="0" y="0"/>
                  </a:moveTo>
                  <a:lnTo>
                    <a:pt x="0" y="70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1" name="object 901"/>
            <p:cNvSpPr/>
            <p:nvPr/>
          </p:nvSpPr>
          <p:spPr>
            <a:xfrm>
              <a:off x="4288027" y="1942446"/>
              <a:ext cx="0" cy="7620"/>
            </a:xfrm>
            <a:custGeom>
              <a:avLst/>
              <a:gdLst/>
              <a:ahLst/>
              <a:cxnLst/>
              <a:rect l="l" t="t" r="r" b="b"/>
              <a:pathLst>
                <a:path h="7619">
                  <a:moveTo>
                    <a:pt x="0" y="0"/>
                  </a:moveTo>
                  <a:lnTo>
                    <a:pt x="0" y="70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2" name="object 902"/>
            <p:cNvSpPr/>
            <p:nvPr/>
          </p:nvSpPr>
          <p:spPr>
            <a:xfrm>
              <a:off x="4388442" y="1942446"/>
              <a:ext cx="0" cy="7620"/>
            </a:xfrm>
            <a:custGeom>
              <a:avLst/>
              <a:gdLst/>
              <a:ahLst/>
              <a:cxnLst/>
              <a:rect l="l" t="t" r="r" b="b"/>
              <a:pathLst>
                <a:path h="7619">
                  <a:moveTo>
                    <a:pt x="0" y="0"/>
                  </a:moveTo>
                  <a:lnTo>
                    <a:pt x="0" y="70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3" name="object 903"/>
            <p:cNvSpPr/>
            <p:nvPr/>
          </p:nvSpPr>
          <p:spPr>
            <a:xfrm>
              <a:off x="4489043" y="1942446"/>
              <a:ext cx="0" cy="7620"/>
            </a:xfrm>
            <a:custGeom>
              <a:avLst/>
              <a:gdLst/>
              <a:ahLst/>
              <a:cxnLst/>
              <a:rect l="l" t="t" r="r" b="b"/>
              <a:pathLst>
                <a:path h="7619">
                  <a:moveTo>
                    <a:pt x="0" y="0"/>
                  </a:moveTo>
                  <a:lnTo>
                    <a:pt x="0" y="70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4" name="object 904"/>
            <p:cNvSpPr/>
            <p:nvPr/>
          </p:nvSpPr>
          <p:spPr>
            <a:xfrm>
              <a:off x="4589458" y="1942446"/>
              <a:ext cx="0" cy="7620"/>
            </a:xfrm>
            <a:custGeom>
              <a:avLst/>
              <a:gdLst/>
              <a:ahLst/>
              <a:cxnLst/>
              <a:rect l="l" t="t" r="r" b="b"/>
              <a:pathLst>
                <a:path h="7619">
                  <a:moveTo>
                    <a:pt x="0" y="0"/>
                  </a:moveTo>
                  <a:lnTo>
                    <a:pt x="0" y="70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5" name="object 905"/>
            <p:cNvSpPr/>
            <p:nvPr/>
          </p:nvSpPr>
          <p:spPr>
            <a:xfrm>
              <a:off x="4690059" y="1942446"/>
              <a:ext cx="0" cy="7620"/>
            </a:xfrm>
            <a:custGeom>
              <a:avLst/>
              <a:gdLst/>
              <a:ahLst/>
              <a:cxnLst/>
              <a:rect l="l" t="t" r="r" b="b"/>
              <a:pathLst>
                <a:path h="7619">
                  <a:moveTo>
                    <a:pt x="0" y="0"/>
                  </a:moveTo>
                  <a:lnTo>
                    <a:pt x="0" y="70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6" name="object 906"/>
            <p:cNvSpPr/>
            <p:nvPr/>
          </p:nvSpPr>
          <p:spPr>
            <a:xfrm>
              <a:off x="4106982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7" name="object 907"/>
            <p:cNvSpPr/>
            <p:nvPr/>
          </p:nvSpPr>
          <p:spPr>
            <a:xfrm>
              <a:off x="4127140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8" name="object 908"/>
            <p:cNvSpPr/>
            <p:nvPr/>
          </p:nvSpPr>
          <p:spPr>
            <a:xfrm>
              <a:off x="4147298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9" name="object 909"/>
            <p:cNvSpPr/>
            <p:nvPr/>
          </p:nvSpPr>
          <p:spPr>
            <a:xfrm>
              <a:off x="4167269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0" name="object 910"/>
            <p:cNvSpPr/>
            <p:nvPr/>
          </p:nvSpPr>
          <p:spPr>
            <a:xfrm>
              <a:off x="4207584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1" name="object 911"/>
            <p:cNvSpPr/>
            <p:nvPr/>
          </p:nvSpPr>
          <p:spPr>
            <a:xfrm>
              <a:off x="4227741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2" name="object 912"/>
            <p:cNvSpPr/>
            <p:nvPr/>
          </p:nvSpPr>
          <p:spPr>
            <a:xfrm>
              <a:off x="4247712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3" name="object 913"/>
            <p:cNvSpPr/>
            <p:nvPr/>
          </p:nvSpPr>
          <p:spPr>
            <a:xfrm>
              <a:off x="4267870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4" name="object 914"/>
            <p:cNvSpPr/>
            <p:nvPr/>
          </p:nvSpPr>
          <p:spPr>
            <a:xfrm>
              <a:off x="4307998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5" name="object 915"/>
            <p:cNvSpPr/>
            <p:nvPr/>
          </p:nvSpPr>
          <p:spPr>
            <a:xfrm>
              <a:off x="4328156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6" name="object 916"/>
            <p:cNvSpPr/>
            <p:nvPr/>
          </p:nvSpPr>
          <p:spPr>
            <a:xfrm>
              <a:off x="4348313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7" name="object 917"/>
            <p:cNvSpPr/>
            <p:nvPr/>
          </p:nvSpPr>
          <p:spPr>
            <a:xfrm>
              <a:off x="4368471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8" name="object 918"/>
            <p:cNvSpPr/>
            <p:nvPr/>
          </p:nvSpPr>
          <p:spPr>
            <a:xfrm>
              <a:off x="4408600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9" name="object 919"/>
            <p:cNvSpPr/>
            <p:nvPr/>
          </p:nvSpPr>
          <p:spPr>
            <a:xfrm>
              <a:off x="4428757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0" name="object 920"/>
            <p:cNvSpPr/>
            <p:nvPr/>
          </p:nvSpPr>
          <p:spPr>
            <a:xfrm>
              <a:off x="4448728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1" name="object 921"/>
            <p:cNvSpPr/>
            <p:nvPr/>
          </p:nvSpPr>
          <p:spPr>
            <a:xfrm>
              <a:off x="4468886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2" name="object 922"/>
            <p:cNvSpPr/>
            <p:nvPr/>
          </p:nvSpPr>
          <p:spPr>
            <a:xfrm>
              <a:off x="4509201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3" name="object 923"/>
            <p:cNvSpPr/>
            <p:nvPr/>
          </p:nvSpPr>
          <p:spPr>
            <a:xfrm>
              <a:off x="4529172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4" name="object 924"/>
            <p:cNvSpPr/>
            <p:nvPr/>
          </p:nvSpPr>
          <p:spPr>
            <a:xfrm>
              <a:off x="4549329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5" name="object 925"/>
            <p:cNvSpPr/>
            <p:nvPr/>
          </p:nvSpPr>
          <p:spPr>
            <a:xfrm>
              <a:off x="4569487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6" name="object 926"/>
            <p:cNvSpPr/>
            <p:nvPr/>
          </p:nvSpPr>
          <p:spPr>
            <a:xfrm>
              <a:off x="4609615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7" name="object 927"/>
            <p:cNvSpPr/>
            <p:nvPr/>
          </p:nvSpPr>
          <p:spPr>
            <a:xfrm>
              <a:off x="4629773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8" name="object 928"/>
            <p:cNvSpPr/>
            <p:nvPr/>
          </p:nvSpPr>
          <p:spPr>
            <a:xfrm>
              <a:off x="4649931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9" name="object 929"/>
            <p:cNvSpPr/>
            <p:nvPr/>
          </p:nvSpPr>
          <p:spPr>
            <a:xfrm>
              <a:off x="4669902" y="194244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0"/>
                  </a:moveTo>
                  <a:lnTo>
                    <a:pt x="0" y="46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0" name="object 930"/>
          <p:cNvSpPr txBox="1"/>
          <p:nvPr/>
        </p:nvSpPr>
        <p:spPr>
          <a:xfrm>
            <a:off x="4058913" y="1937958"/>
            <a:ext cx="659765" cy="628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dirty="0">
                <a:latin typeface="Tahoma"/>
                <a:cs typeface="Tahoma"/>
              </a:rPr>
              <a:t>10.0</a:t>
            </a:r>
            <a:r>
              <a:rPr sz="100" b="1" spc="445" dirty="0">
                <a:latin typeface="Tahoma"/>
                <a:cs typeface="Tahoma"/>
              </a:rPr>
              <a:t> </a:t>
            </a:r>
            <a:r>
              <a:rPr sz="100" b="1" dirty="0">
                <a:latin typeface="Tahoma"/>
                <a:cs typeface="Tahoma"/>
              </a:rPr>
              <a:t>15.0</a:t>
            </a:r>
            <a:r>
              <a:rPr sz="100" b="1" spc="450" dirty="0">
                <a:latin typeface="Tahoma"/>
                <a:cs typeface="Tahoma"/>
              </a:rPr>
              <a:t> </a:t>
            </a:r>
            <a:r>
              <a:rPr sz="100" b="1" dirty="0">
                <a:latin typeface="Tahoma"/>
                <a:cs typeface="Tahoma"/>
              </a:rPr>
              <a:t>20.0</a:t>
            </a:r>
            <a:r>
              <a:rPr sz="100" b="1" spc="445" dirty="0">
                <a:latin typeface="Tahoma"/>
                <a:cs typeface="Tahoma"/>
              </a:rPr>
              <a:t> </a:t>
            </a:r>
            <a:r>
              <a:rPr sz="100" b="1" dirty="0">
                <a:latin typeface="Tahoma"/>
                <a:cs typeface="Tahoma"/>
              </a:rPr>
              <a:t>25.0</a:t>
            </a:r>
            <a:r>
              <a:rPr sz="100" b="1" spc="450" dirty="0">
                <a:latin typeface="Tahoma"/>
                <a:cs typeface="Tahoma"/>
              </a:rPr>
              <a:t> </a:t>
            </a:r>
            <a:r>
              <a:rPr sz="100" b="1" dirty="0">
                <a:latin typeface="Tahoma"/>
                <a:cs typeface="Tahoma"/>
              </a:rPr>
              <a:t>30.0</a:t>
            </a:r>
            <a:r>
              <a:rPr sz="100" b="1" spc="445" dirty="0">
                <a:latin typeface="Tahoma"/>
                <a:cs typeface="Tahoma"/>
              </a:rPr>
              <a:t> </a:t>
            </a:r>
            <a:r>
              <a:rPr sz="100" b="1" dirty="0">
                <a:latin typeface="Tahoma"/>
                <a:cs typeface="Tahoma"/>
              </a:rPr>
              <a:t>35.0</a:t>
            </a:r>
            <a:r>
              <a:rPr sz="100" b="1" spc="450" dirty="0">
                <a:latin typeface="Tahoma"/>
                <a:cs typeface="Tahoma"/>
              </a:rPr>
              <a:t> </a:t>
            </a:r>
            <a:r>
              <a:rPr sz="100" b="1" spc="-20" dirty="0">
                <a:latin typeface="Tahoma"/>
                <a:cs typeface="Tahoma"/>
              </a:rPr>
              <a:t>40.0</a:t>
            </a:r>
            <a:endParaRPr sz="10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  <a:spcBef>
                <a:spcPts val="25"/>
              </a:spcBef>
            </a:pPr>
            <a:r>
              <a:rPr sz="100" b="1" dirty="0">
                <a:latin typeface="Tahoma"/>
                <a:cs typeface="Tahoma"/>
              </a:rPr>
              <a:t>time </a:t>
            </a:r>
            <a:r>
              <a:rPr sz="100" b="1" spc="-20" dirty="0">
                <a:latin typeface="Tahoma"/>
                <a:cs typeface="Tahoma"/>
              </a:rPr>
              <a:t>(us)</a:t>
            </a:r>
            <a:endParaRPr sz="100">
              <a:latin typeface="Tahoma"/>
              <a:cs typeface="Tahoma"/>
            </a:endParaRPr>
          </a:p>
        </p:txBody>
      </p:sp>
      <p:grpSp>
        <p:nvGrpSpPr>
          <p:cNvPr id="931" name="object 931"/>
          <p:cNvGrpSpPr/>
          <p:nvPr/>
        </p:nvGrpSpPr>
        <p:grpSpPr>
          <a:xfrm>
            <a:off x="4280169" y="1121397"/>
            <a:ext cx="22860" cy="822325"/>
            <a:chOff x="4280169" y="1121397"/>
            <a:chExt cx="22860" cy="822325"/>
          </a:xfrm>
        </p:grpSpPr>
        <p:sp>
          <p:nvSpPr>
            <p:cNvPr id="932" name="object 932"/>
            <p:cNvSpPr/>
            <p:nvPr/>
          </p:nvSpPr>
          <p:spPr>
            <a:xfrm>
              <a:off x="4703498" y="111523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3" name="object 933"/>
            <p:cNvSpPr/>
            <p:nvPr/>
          </p:nvSpPr>
          <p:spPr>
            <a:xfrm>
              <a:off x="4281122" y="1143235"/>
              <a:ext cx="0" cy="799465"/>
            </a:xfrm>
            <a:custGeom>
              <a:avLst/>
              <a:gdLst/>
              <a:ahLst/>
              <a:cxnLst/>
              <a:rect l="l" t="t" r="r" b="b"/>
              <a:pathLst>
                <a:path h="799464">
                  <a:moveTo>
                    <a:pt x="0" y="0"/>
                  </a:moveTo>
                  <a:lnTo>
                    <a:pt x="0" y="79921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4" name="object 9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1122" y="1121397"/>
              <a:ext cx="21464" cy="22024"/>
            </a:xfrm>
            <a:prstGeom prst="rect">
              <a:avLst/>
            </a:prstGeom>
          </p:spPr>
        </p:pic>
      </p:grpSp>
      <p:sp>
        <p:nvSpPr>
          <p:cNvPr id="935" name="object 935"/>
          <p:cNvSpPr txBox="1"/>
          <p:nvPr/>
        </p:nvSpPr>
        <p:spPr>
          <a:xfrm>
            <a:off x="4269355" y="1109257"/>
            <a:ext cx="44450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5" dirty="0">
                <a:solidFill>
                  <a:srgbClr val="FFFFFF"/>
                </a:solidFill>
                <a:latin typeface="Tahoma"/>
                <a:cs typeface="Tahoma"/>
              </a:rPr>
              <a:t>V1</a:t>
            </a:r>
            <a:endParaRPr sz="100">
              <a:latin typeface="Tahoma"/>
              <a:cs typeface="Tahoma"/>
            </a:endParaRPr>
          </a:p>
        </p:txBody>
      </p:sp>
      <p:grpSp>
        <p:nvGrpSpPr>
          <p:cNvPr id="936" name="object 936"/>
          <p:cNvGrpSpPr/>
          <p:nvPr/>
        </p:nvGrpSpPr>
        <p:grpSpPr>
          <a:xfrm>
            <a:off x="4416643" y="1141965"/>
            <a:ext cx="85725" cy="802005"/>
            <a:chOff x="4416643" y="1141965"/>
            <a:chExt cx="85725" cy="802005"/>
          </a:xfrm>
        </p:grpSpPr>
        <p:sp>
          <p:nvSpPr>
            <p:cNvPr id="937" name="object 937"/>
            <p:cNvSpPr/>
            <p:nvPr/>
          </p:nvSpPr>
          <p:spPr>
            <a:xfrm>
              <a:off x="4500802" y="1143235"/>
              <a:ext cx="0" cy="799465"/>
            </a:xfrm>
            <a:custGeom>
              <a:avLst/>
              <a:gdLst/>
              <a:ahLst/>
              <a:cxnLst/>
              <a:rect l="l" t="t" r="r" b="b"/>
              <a:pathLst>
                <a:path h="799464">
                  <a:moveTo>
                    <a:pt x="0" y="0"/>
                  </a:moveTo>
                  <a:lnTo>
                    <a:pt x="0" y="79921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8" name="object 938"/>
            <p:cNvSpPr/>
            <p:nvPr/>
          </p:nvSpPr>
          <p:spPr>
            <a:xfrm>
              <a:off x="4417278" y="1920515"/>
              <a:ext cx="80645" cy="19685"/>
            </a:xfrm>
            <a:custGeom>
              <a:avLst/>
              <a:gdLst/>
              <a:ahLst/>
              <a:cxnLst/>
              <a:rect l="l" t="t" r="r" b="b"/>
              <a:pathLst>
                <a:path w="80645" h="19685">
                  <a:moveTo>
                    <a:pt x="78167" y="19411"/>
                  </a:moveTo>
                  <a:lnTo>
                    <a:pt x="2089" y="19411"/>
                  </a:lnTo>
                  <a:lnTo>
                    <a:pt x="0" y="17321"/>
                  </a:lnTo>
                  <a:lnTo>
                    <a:pt x="0" y="2089"/>
                  </a:lnTo>
                  <a:lnTo>
                    <a:pt x="2089" y="0"/>
                  </a:lnTo>
                  <a:lnTo>
                    <a:pt x="4666" y="0"/>
                  </a:lnTo>
                  <a:lnTo>
                    <a:pt x="78167" y="0"/>
                  </a:lnTo>
                  <a:lnTo>
                    <a:pt x="80257" y="2089"/>
                  </a:lnTo>
                  <a:lnTo>
                    <a:pt x="80257" y="17321"/>
                  </a:lnTo>
                  <a:lnTo>
                    <a:pt x="78167" y="19411"/>
                  </a:lnTo>
                  <a:close/>
                </a:path>
              </a:pathLst>
            </a:custGeom>
            <a:solidFill>
              <a:srgbClr val="000000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9" name="object 939"/>
            <p:cNvSpPr/>
            <p:nvPr/>
          </p:nvSpPr>
          <p:spPr>
            <a:xfrm>
              <a:off x="4417278" y="1920515"/>
              <a:ext cx="80645" cy="19685"/>
            </a:xfrm>
            <a:custGeom>
              <a:avLst/>
              <a:gdLst/>
              <a:ahLst/>
              <a:cxnLst/>
              <a:rect l="l" t="t" r="r" b="b"/>
              <a:pathLst>
                <a:path w="80645" h="19685">
                  <a:moveTo>
                    <a:pt x="4666" y="0"/>
                  </a:moveTo>
                  <a:lnTo>
                    <a:pt x="2089" y="0"/>
                  </a:lnTo>
                  <a:lnTo>
                    <a:pt x="0" y="2089"/>
                  </a:lnTo>
                  <a:lnTo>
                    <a:pt x="0" y="4666"/>
                  </a:lnTo>
                  <a:lnTo>
                    <a:pt x="0" y="14744"/>
                  </a:lnTo>
                  <a:lnTo>
                    <a:pt x="0" y="17321"/>
                  </a:lnTo>
                  <a:lnTo>
                    <a:pt x="2089" y="19411"/>
                  </a:lnTo>
                  <a:lnTo>
                    <a:pt x="4666" y="19411"/>
                  </a:lnTo>
                  <a:lnTo>
                    <a:pt x="75590" y="19411"/>
                  </a:lnTo>
                  <a:lnTo>
                    <a:pt x="78167" y="19411"/>
                  </a:lnTo>
                  <a:lnTo>
                    <a:pt x="80257" y="17321"/>
                  </a:lnTo>
                  <a:lnTo>
                    <a:pt x="80257" y="14744"/>
                  </a:lnTo>
                  <a:lnTo>
                    <a:pt x="80257" y="4666"/>
                  </a:lnTo>
                  <a:lnTo>
                    <a:pt x="80257" y="2089"/>
                  </a:lnTo>
                  <a:lnTo>
                    <a:pt x="78167" y="0"/>
                  </a:lnTo>
                  <a:lnTo>
                    <a:pt x="75590" y="0"/>
                  </a:lnTo>
                  <a:lnTo>
                    <a:pt x="4666" y="0"/>
                  </a:lnTo>
                  <a:close/>
                </a:path>
              </a:pathLst>
            </a:custGeom>
            <a:ln w="3175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0" name="object 940"/>
          <p:cNvSpPr txBox="1"/>
          <p:nvPr/>
        </p:nvSpPr>
        <p:spPr>
          <a:xfrm>
            <a:off x="4405232" y="1907722"/>
            <a:ext cx="105410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solidFill>
                  <a:srgbClr val="FFFFFF"/>
                </a:solidFill>
                <a:latin typeface="Tahoma"/>
                <a:cs typeface="Tahoma"/>
              </a:rPr>
              <a:t>30.58886us</a:t>
            </a:r>
            <a:endParaRPr sz="100">
              <a:latin typeface="Tahoma"/>
              <a:cs typeface="Tahoma"/>
            </a:endParaRPr>
          </a:p>
        </p:txBody>
      </p:sp>
      <p:pic>
        <p:nvPicPr>
          <p:cNvPr id="941" name="object 94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00802" y="1121397"/>
            <a:ext cx="21464" cy="22024"/>
          </a:xfrm>
          <a:prstGeom prst="rect">
            <a:avLst/>
          </a:prstGeom>
        </p:spPr>
      </p:pic>
      <p:sp>
        <p:nvSpPr>
          <p:cNvPr id="942" name="object 942"/>
          <p:cNvSpPr txBox="1"/>
          <p:nvPr/>
        </p:nvSpPr>
        <p:spPr>
          <a:xfrm>
            <a:off x="4489035" y="1109257"/>
            <a:ext cx="44450" cy="444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5" dirty="0">
                <a:solidFill>
                  <a:srgbClr val="FFFFFF"/>
                </a:solidFill>
                <a:latin typeface="Tahoma"/>
                <a:cs typeface="Tahoma"/>
              </a:rPr>
              <a:t>V2</a:t>
            </a:r>
            <a:endParaRPr sz="100">
              <a:latin typeface="Tahoma"/>
              <a:cs typeface="Tahoma"/>
            </a:endParaRPr>
          </a:p>
        </p:txBody>
      </p:sp>
      <p:sp>
        <p:nvSpPr>
          <p:cNvPr id="943" name="object 943"/>
          <p:cNvSpPr txBox="1"/>
          <p:nvPr/>
        </p:nvSpPr>
        <p:spPr>
          <a:xfrm>
            <a:off x="3794905" y="1987839"/>
            <a:ext cx="921385" cy="6858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908050" algn="l"/>
              </a:tabLst>
            </a:pPr>
            <a:r>
              <a:rPr sz="100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Markern</a:t>
            </a:r>
            <a:r>
              <a:rPr sz="1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endParaRPr sz="100">
              <a:latin typeface="Cambria"/>
              <a:cs typeface="Cambria"/>
            </a:endParaRPr>
          </a:p>
          <a:p>
            <a:pPr marL="244475">
              <a:lnSpc>
                <a:spcPct val="100000"/>
              </a:lnSpc>
              <a:spcBef>
                <a:spcPts val="35"/>
              </a:spcBef>
            </a:pPr>
            <a:r>
              <a:rPr sz="100" dirty="0">
                <a:latin typeface="Cambria"/>
                <a:cs typeface="Cambria"/>
              </a:rPr>
              <a:t>!ł</a:t>
            </a:r>
            <a:r>
              <a:rPr sz="100" spc="365" dirty="0">
                <a:latin typeface="Cambria"/>
                <a:cs typeface="Cambria"/>
              </a:rPr>
              <a:t>   </a:t>
            </a:r>
            <a:r>
              <a:rPr sz="100" spc="-25" dirty="0">
                <a:latin typeface="Cambria"/>
                <a:cs typeface="Cambria"/>
              </a:rPr>
              <a:t>!P</a:t>
            </a:r>
            <a:endParaRPr sz="100">
              <a:latin typeface="Cambria"/>
              <a:cs typeface="Cambria"/>
            </a:endParaRPr>
          </a:p>
        </p:txBody>
      </p:sp>
      <p:grpSp>
        <p:nvGrpSpPr>
          <p:cNvPr id="944" name="object 944"/>
          <p:cNvGrpSpPr/>
          <p:nvPr/>
        </p:nvGrpSpPr>
        <p:grpSpPr>
          <a:xfrm>
            <a:off x="3851951" y="2047078"/>
            <a:ext cx="358775" cy="113664"/>
            <a:chOff x="3851951" y="2047078"/>
            <a:chExt cx="358775" cy="113664"/>
          </a:xfrm>
        </p:grpSpPr>
        <p:sp>
          <p:nvSpPr>
            <p:cNvPr id="945" name="object 945"/>
            <p:cNvSpPr/>
            <p:nvPr/>
          </p:nvSpPr>
          <p:spPr>
            <a:xfrm>
              <a:off x="3852586" y="2047713"/>
              <a:ext cx="357505" cy="0"/>
            </a:xfrm>
            <a:custGeom>
              <a:avLst/>
              <a:gdLst/>
              <a:ahLst/>
              <a:cxnLst/>
              <a:rect l="l" t="t" r="r" b="b"/>
              <a:pathLst>
                <a:path w="357504">
                  <a:moveTo>
                    <a:pt x="0" y="0"/>
                  </a:moveTo>
                  <a:lnTo>
                    <a:pt x="3570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6" name="object 9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52586" y="2068990"/>
              <a:ext cx="12505" cy="91642"/>
            </a:xfrm>
            <a:prstGeom prst="rect">
              <a:avLst/>
            </a:prstGeom>
          </p:spPr>
        </p:pic>
      </p:grpSp>
      <p:sp>
        <p:nvSpPr>
          <p:cNvPr id="947" name="object 947"/>
          <p:cNvSpPr txBox="1"/>
          <p:nvPr/>
        </p:nvSpPr>
        <p:spPr>
          <a:xfrm>
            <a:off x="3897373" y="2036058"/>
            <a:ext cx="48260" cy="1377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210600"/>
              </a:lnSpc>
              <a:spcBef>
                <a:spcPts val="90"/>
              </a:spcBef>
            </a:pPr>
            <a:r>
              <a:rPr sz="100" spc="-25" dirty="0">
                <a:latin typeface="Cambria"/>
                <a:cs typeface="Cambria"/>
              </a:rPr>
              <a:t>x</a:t>
            </a:r>
            <a:r>
              <a:rPr sz="100" spc="500" dirty="0">
                <a:latin typeface="Cambria"/>
                <a:cs typeface="Cambria"/>
              </a:rPr>
              <a:t> </a:t>
            </a:r>
            <a:r>
              <a:rPr sz="100" spc="-20" dirty="0">
                <a:latin typeface="Cambria"/>
                <a:cs typeface="Cambria"/>
              </a:rPr>
              <a:t>Jveł</a:t>
            </a:r>
            <a:r>
              <a:rPr sz="100" spc="500" dirty="0">
                <a:latin typeface="Cambria"/>
                <a:cs typeface="Cambria"/>
              </a:rPr>
              <a:t> </a:t>
            </a:r>
            <a:r>
              <a:rPr sz="100" spc="-20" dirty="0">
                <a:latin typeface="Cambria"/>
                <a:cs typeface="Cambria"/>
              </a:rPr>
              <a:t>JveP</a:t>
            </a:r>
            <a:r>
              <a:rPr sz="100" spc="500" dirty="0">
                <a:latin typeface="Cambria"/>
                <a:cs typeface="Cambria"/>
              </a:rPr>
              <a:t> </a:t>
            </a:r>
            <a:r>
              <a:rPr sz="100" spc="-20" dirty="0">
                <a:latin typeface="Cambria"/>
                <a:cs typeface="Cambria"/>
              </a:rPr>
              <a:t>JveE</a:t>
            </a:r>
            <a:r>
              <a:rPr sz="100" spc="500" dirty="0">
                <a:latin typeface="Cambria"/>
                <a:cs typeface="Cambria"/>
              </a:rPr>
              <a:t> </a:t>
            </a:r>
            <a:r>
              <a:rPr sz="100" spc="-20" dirty="0">
                <a:latin typeface="Cambria"/>
                <a:cs typeface="Cambria"/>
              </a:rPr>
              <a:t>Jve4</a:t>
            </a:r>
            <a:r>
              <a:rPr sz="100" spc="500" dirty="0">
                <a:latin typeface="Cambria"/>
                <a:cs typeface="Cambria"/>
              </a:rPr>
              <a:t> </a:t>
            </a:r>
            <a:r>
              <a:rPr sz="100" spc="-20" dirty="0">
                <a:latin typeface="Cambria"/>
                <a:cs typeface="Cambria"/>
              </a:rPr>
              <a:t>Jve5</a:t>
            </a:r>
            <a:r>
              <a:rPr sz="100" spc="500" dirty="0">
                <a:latin typeface="Cambria"/>
                <a:cs typeface="Cambria"/>
              </a:rPr>
              <a:t> </a:t>
            </a:r>
            <a:r>
              <a:rPr sz="100" spc="-20" dirty="0">
                <a:latin typeface="Cambria"/>
                <a:cs typeface="Cambria"/>
              </a:rPr>
              <a:t>Jveh</a:t>
            </a:r>
            <a:endParaRPr sz="100">
              <a:latin typeface="Cambria"/>
              <a:cs typeface="Cambria"/>
            </a:endParaRPr>
          </a:p>
        </p:txBody>
      </p:sp>
      <p:sp>
        <p:nvSpPr>
          <p:cNvPr id="948" name="object 948"/>
          <p:cNvSpPr txBox="1"/>
          <p:nvPr/>
        </p:nvSpPr>
        <p:spPr>
          <a:xfrm>
            <a:off x="4008986" y="2036058"/>
            <a:ext cx="74930" cy="1377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495" marR="5080" indent="-11430" algn="r">
              <a:lnSpc>
                <a:spcPct val="210600"/>
              </a:lnSpc>
              <a:spcBef>
                <a:spcPts val="90"/>
              </a:spcBef>
            </a:pPr>
            <a:r>
              <a:rPr sz="100" spc="-10" dirty="0">
                <a:latin typeface="Cambria"/>
                <a:cs typeface="Cambria"/>
              </a:rPr>
              <a:t>łR+h55Rkn</a:t>
            </a:r>
            <a:r>
              <a:rPr sz="100" spc="500" dirty="0">
                <a:latin typeface="Cambria"/>
                <a:cs typeface="Cambria"/>
              </a:rPr>
              <a:t> </a:t>
            </a:r>
            <a:r>
              <a:rPr sz="100" spc="-10" dirty="0">
                <a:latin typeface="Cambria"/>
                <a:cs typeface="Cambria"/>
              </a:rPr>
              <a:t>84R+łm!</a:t>
            </a:r>
            <a:endParaRPr sz="100">
              <a:latin typeface="Cambria"/>
              <a:cs typeface="Cambria"/>
            </a:endParaRPr>
          </a:p>
          <a:p>
            <a:pPr marL="17780" marR="5080" indent="5080" algn="r">
              <a:lnSpc>
                <a:spcPct val="210600"/>
              </a:lnSpc>
            </a:pPr>
            <a:r>
              <a:rPr sz="100" spc="-10" dirty="0">
                <a:latin typeface="Cambria"/>
                <a:cs typeface="Cambria"/>
              </a:rPr>
              <a:t>ł+7P⟡h!</a:t>
            </a:r>
            <a:r>
              <a:rPr sz="100" spc="500" dirty="0">
                <a:latin typeface="Cambria"/>
                <a:cs typeface="Cambria"/>
              </a:rPr>
              <a:t> </a:t>
            </a:r>
            <a:r>
              <a:rPr sz="100" spc="-10" dirty="0">
                <a:latin typeface="Cambria"/>
                <a:cs typeface="Cambria"/>
              </a:rPr>
              <a:t>P+PER8m!</a:t>
            </a:r>
            <a:r>
              <a:rPr sz="100" spc="500" dirty="0">
                <a:latin typeface="Cambria"/>
                <a:cs typeface="Cambria"/>
              </a:rPr>
              <a:t> </a:t>
            </a:r>
            <a:r>
              <a:rPr sz="100" spc="-10" dirty="0">
                <a:latin typeface="Cambria"/>
                <a:cs typeface="Cambria"/>
              </a:rPr>
              <a:t>ł+75⟡4!</a:t>
            </a:r>
            <a:r>
              <a:rPr sz="100" spc="500" dirty="0">
                <a:latin typeface="Cambria"/>
                <a:cs typeface="Cambria"/>
              </a:rPr>
              <a:t> </a:t>
            </a:r>
            <a:r>
              <a:rPr sz="100" spc="-10" dirty="0">
                <a:latin typeface="Cambria"/>
                <a:cs typeface="Cambria"/>
              </a:rPr>
              <a:t>ł+75⟡4!</a:t>
            </a:r>
            <a:endParaRPr sz="100">
              <a:latin typeface="Cambria"/>
              <a:cs typeface="Cambria"/>
            </a:endParaRPr>
          </a:p>
          <a:p>
            <a:pPr marL="23495">
              <a:lnSpc>
                <a:spcPct val="100000"/>
              </a:lnSpc>
              <a:spcBef>
                <a:spcPts val="70"/>
              </a:spcBef>
            </a:pPr>
            <a:r>
              <a:rPr sz="100" spc="-10" dirty="0">
                <a:latin typeface="Cambria"/>
                <a:cs typeface="Cambria"/>
              </a:rPr>
              <a:t>ł+E5hł!</a:t>
            </a:r>
            <a:endParaRPr sz="100">
              <a:latin typeface="Cambria"/>
              <a:cs typeface="Cambria"/>
            </a:endParaRPr>
          </a:p>
        </p:txBody>
      </p:sp>
      <p:sp>
        <p:nvSpPr>
          <p:cNvPr id="949" name="object 949"/>
          <p:cNvSpPr txBox="1"/>
          <p:nvPr/>
        </p:nvSpPr>
        <p:spPr>
          <a:xfrm>
            <a:off x="4148409" y="2036058"/>
            <a:ext cx="74930" cy="1377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" marR="5080" indent="-5715" algn="r">
              <a:lnSpc>
                <a:spcPct val="210600"/>
              </a:lnSpc>
              <a:spcBef>
                <a:spcPts val="90"/>
              </a:spcBef>
            </a:pPr>
            <a:r>
              <a:rPr sz="100" spc="-10" dirty="0">
                <a:latin typeface="Cambria"/>
                <a:cs typeface="Cambria"/>
              </a:rPr>
              <a:t>E⟡+588Rkn</a:t>
            </a:r>
            <a:r>
              <a:rPr sz="100" spc="500" dirty="0">
                <a:latin typeface="Cambria"/>
                <a:cs typeface="Cambria"/>
              </a:rPr>
              <a:t> </a:t>
            </a:r>
            <a:r>
              <a:rPr sz="100" spc="-10" dirty="0">
                <a:latin typeface="Cambria"/>
                <a:cs typeface="Cambria"/>
              </a:rPr>
              <a:t>ł+7⟡4!</a:t>
            </a:r>
            <a:r>
              <a:rPr sz="100" spc="500" dirty="0">
                <a:latin typeface="Cambria"/>
                <a:cs typeface="Cambria"/>
              </a:rPr>
              <a:t> </a:t>
            </a:r>
            <a:r>
              <a:rPr sz="100" spc="-10" dirty="0">
                <a:latin typeface="Cambria"/>
                <a:cs typeface="Cambria"/>
              </a:rPr>
              <a:t>ł+h8h8!</a:t>
            </a:r>
            <a:r>
              <a:rPr sz="100" spc="500" dirty="0">
                <a:latin typeface="Cambria"/>
                <a:cs typeface="Cambria"/>
              </a:rPr>
              <a:t> </a:t>
            </a:r>
            <a:r>
              <a:rPr sz="100" spc="-10" dirty="0">
                <a:latin typeface="Cambria"/>
                <a:cs typeface="Cambria"/>
              </a:rPr>
              <a:t>E44+łłm!</a:t>
            </a:r>
            <a:r>
              <a:rPr sz="100" spc="500" dirty="0">
                <a:latin typeface="Cambria"/>
                <a:cs typeface="Cambria"/>
              </a:rPr>
              <a:t> </a:t>
            </a:r>
            <a:r>
              <a:rPr sz="100" spc="-10" dirty="0">
                <a:latin typeface="Cambria"/>
                <a:cs typeface="Cambria"/>
              </a:rPr>
              <a:t>ł+7Eł8!</a:t>
            </a:r>
            <a:r>
              <a:rPr sz="100" spc="500" dirty="0">
                <a:latin typeface="Cambria"/>
                <a:cs typeface="Cambria"/>
              </a:rPr>
              <a:t> </a:t>
            </a:r>
            <a:r>
              <a:rPr sz="100" spc="-10" dirty="0">
                <a:latin typeface="Cambria"/>
                <a:cs typeface="Cambria"/>
              </a:rPr>
              <a:t>ł+7Eł8!</a:t>
            </a:r>
            <a:r>
              <a:rPr sz="100" spc="500" dirty="0">
                <a:latin typeface="Cambria"/>
                <a:cs typeface="Cambria"/>
              </a:rPr>
              <a:t> </a:t>
            </a:r>
            <a:r>
              <a:rPr sz="100" spc="-10" dirty="0">
                <a:latin typeface="Cambria"/>
                <a:cs typeface="Cambria"/>
              </a:rPr>
              <a:t>8E5+85m!</a:t>
            </a:r>
            <a:endParaRPr sz="100">
              <a:latin typeface="Cambria"/>
              <a:cs typeface="Cambria"/>
            </a:endParaRPr>
          </a:p>
        </p:txBody>
      </p:sp>
      <p:grpSp>
        <p:nvGrpSpPr>
          <p:cNvPr id="950" name="object 950"/>
          <p:cNvGrpSpPr/>
          <p:nvPr/>
        </p:nvGrpSpPr>
        <p:grpSpPr>
          <a:xfrm>
            <a:off x="3807605" y="2052939"/>
            <a:ext cx="895985" cy="140970"/>
            <a:chOff x="3807605" y="2052939"/>
            <a:chExt cx="895985" cy="140970"/>
          </a:xfrm>
        </p:grpSpPr>
        <p:sp>
          <p:nvSpPr>
            <p:cNvPr id="951" name="object 951"/>
            <p:cNvSpPr/>
            <p:nvPr/>
          </p:nvSpPr>
          <p:spPr>
            <a:xfrm>
              <a:off x="4115568" y="2052939"/>
              <a:ext cx="0" cy="107950"/>
            </a:xfrm>
            <a:custGeom>
              <a:avLst/>
              <a:gdLst/>
              <a:ahLst/>
              <a:cxnLst/>
              <a:rect l="l" t="t" r="r" b="b"/>
              <a:pathLst>
                <a:path h="107950">
                  <a:moveTo>
                    <a:pt x="0" y="0"/>
                  </a:moveTo>
                  <a:lnTo>
                    <a:pt x="0" y="1075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2" name="object 952"/>
            <p:cNvSpPr/>
            <p:nvPr/>
          </p:nvSpPr>
          <p:spPr>
            <a:xfrm>
              <a:off x="3807605" y="2193482"/>
              <a:ext cx="895985" cy="0"/>
            </a:xfrm>
            <a:custGeom>
              <a:avLst/>
              <a:gdLst/>
              <a:ahLst/>
              <a:cxnLst/>
              <a:rect l="l" t="t" r="r" b="b"/>
              <a:pathLst>
                <a:path w="895985">
                  <a:moveTo>
                    <a:pt x="0" y="0"/>
                  </a:moveTo>
                  <a:lnTo>
                    <a:pt x="8957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3" name="object 953"/>
          <p:cNvSpPr txBox="1"/>
          <p:nvPr/>
        </p:nvSpPr>
        <p:spPr>
          <a:xfrm>
            <a:off x="3794905" y="2189368"/>
            <a:ext cx="90170" cy="55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" dirty="0">
                <a:latin typeface="Cambria"/>
                <a:cs typeface="Cambria"/>
              </a:rPr>
              <a:t>Printe4</a:t>
            </a:r>
            <a:r>
              <a:rPr sz="100" spc="40" dirty="0">
                <a:latin typeface="Cambria"/>
                <a:cs typeface="Cambria"/>
              </a:rPr>
              <a:t> </a:t>
            </a:r>
            <a:r>
              <a:rPr sz="100" spc="-25" dirty="0">
                <a:latin typeface="Cambria"/>
                <a:cs typeface="Cambria"/>
              </a:rPr>
              <a:t>en</a:t>
            </a:r>
            <a:r>
              <a:rPr sz="100" spc="500" dirty="0">
                <a:latin typeface="Cambria"/>
                <a:cs typeface="Cambria"/>
              </a:rPr>
              <a:t> </a:t>
            </a:r>
            <a:r>
              <a:rPr sz="100" dirty="0">
                <a:latin typeface="Cambria"/>
                <a:cs typeface="Cambria"/>
              </a:rPr>
              <a:t>h;</a:t>
            </a:r>
            <a:r>
              <a:rPr sz="100" spc="50" dirty="0">
                <a:latin typeface="Cambria"/>
                <a:cs typeface="Cambria"/>
              </a:rPr>
              <a:t> </a:t>
            </a:r>
            <a:r>
              <a:rPr sz="100" spc="-20" dirty="0">
                <a:latin typeface="Cambria"/>
                <a:cs typeface="Cambria"/>
              </a:rPr>
              <a:t>hket</a:t>
            </a:r>
            <a:endParaRPr sz="100">
              <a:latin typeface="Cambria"/>
              <a:cs typeface="Cambria"/>
            </a:endParaRPr>
          </a:p>
        </p:txBody>
      </p:sp>
      <p:sp>
        <p:nvSpPr>
          <p:cNvPr id="954" name="object 954"/>
          <p:cNvSpPr txBox="1"/>
          <p:nvPr/>
        </p:nvSpPr>
        <p:spPr>
          <a:xfrm>
            <a:off x="4620993" y="2189368"/>
            <a:ext cx="96520" cy="40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" spc="-10" dirty="0">
                <a:latin typeface="Cambria"/>
                <a:cs typeface="Cambria"/>
              </a:rPr>
              <a:t>Page</a:t>
            </a:r>
            <a:r>
              <a:rPr sz="100" dirty="0">
                <a:latin typeface="Cambria"/>
                <a:cs typeface="Cambria"/>
              </a:rPr>
              <a:t>  </a:t>
            </a:r>
            <a:r>
              <a:rPr sz="100" spc="30" dirty="0">
                <a:latin typeface="Cambria"/>
                <a:cs typeface="Cambria"/>
              </a:rPr>
              <a:t>ł</a:t>
            </a:r>
            <a:r>
              <a:rPr sz="100" dirty="0">
                <a:latin typeface="Cambria"/>
                <a:cs typeface="Cambria"/>
              </a:rPr>
              <a:t>  eF  </a:t>
            </a:r>
            <a:r>
              <a:rPr sz="100" spc="30" dirty="0">
                <a:latin typeface="Cambria"/>
                <a:cs typeface="Cambria"/>
              </a:rPr>
              <a:t>ł</a:t>
            </a:r>
            <a:endParaRPr sz="100">
              <a:latin typeface="Cambria"/>
              <a:cs typeface="Cambria"/>
            </a:endParaRPr>
          </a:p>
        </p:txBody>
      </p:sp>
      <p:sp>
        <p:nvSpPr>
          <p:cNvPr id="955" name="object 955"/>
          <p:cNvSpPr txBox="1"/>
          <p:nvPr/>
        </p:nvSpPr>
        <p:spPr>
          <a:xfrm>
            <a:off x="4144885" y="1163743"/>
            <a:ext cx="88265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dirty="0">
                <a:latin typeface="Times New Roman"/>
                <a:cs typeface="Times New Roman"/>
              </a:rPr>
              <a:t>-</a:t>
            </a:r>
            <a:r>
              <a:rPr sz="550" spc="-50" dirty="0">
                <a:latin typeface="Times New Roman"/>
                <a:cs typeface="Times New Roman"/>
              </a:rPr>
              <a:t>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56" name="object 956"/>
          <p:cNvSpPr txBox="1"/>
          <p:nvPr/>
        </p:nvSpPr>
        <p:spPr>
          <a:xfrm>
            <a:off x="4166308" y="1396178"/>
            <a:ext cx="43307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23520" algn="l"/>
              </a:tabLst>
            </a:pPr>
            <a:r>
              <a:rPr sz="550" dirty="0">
                <a:latin typeface="Times New Roman"/>
                <a:cs typeface="Times New Roman"/>
              </a:rPr>
              <a:t>-</a:t>
            </a:r>
            <a:r>
              <a:rPr sz="550" spc="-50" dirty="0">
                <a:latin typeface="Times New Roman"/>
                <a:cs typeface="Times New Roman"/>
              </a:rPr>
              <a:t>1</a:t>
            </a:r>
            <a:r>
              <a:rPr sz="550" dirty="0">
                <a:latin typeface="Times New Roman"/>
                <a:cs typeface="Times New Roman"/>
              </a:rPr>
              <a:t>	-</a:t>
            </a:r>
            <a:r>
              <a:rPr sz="550" spc="-50" dirty="0">
                <a:latin typeface="Times New Roman"/>
                <a:cs typeface="Times New Roman"/>
              </a:rPr>
              <a:t>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57" name="object 957"/>
          <p:cNvSpPr txBox="1"/>
          <p:nvPr/>
        </p:nvSpPr>
        <p:spPr>
          <a:xfrm>
            <a:off x="4590192" y="1806290"/>
            <a:ext cx="88265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dirty="0">
                <a:latin typeface="Times New Roman"/>
                <a:cs typeface="Times New Roman"/>
              </a:rPr>
              <a:t>-</a:t>
            </a:r>
            <a:r>
              <a:rPr sz="550" spc="-50" dirty="0">
                <a:latin typeface="Times New Roman"/>
                <a:cs typeface="Times New Roman"/>
              </a:rPr>
              <a:t>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58" name="object 958"/>
          <p:cNvSpPr txBox="1"/>
          <p:nvPr/>
        </p:nvSpPr>
        <p:spPr>
          <a:xfrm>
            <a:off x="4379016" y="1157455"/>
            <a:ext cx="61594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-50" dirty="0">
                <a:latin typeface="Times New Roman"/>
                <a:cs typeface="Times New Roman"/>
              </a:rPr>
              <a:t>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59" name="object 959"/>
          <p:cNvSpPr txBox="1"/>
          <p:nvPr/>
        </p:nvSpPr>
        <p:spPr>
          <a:xfrm>
            <a:off x="4576421" y="1154396"/>
            <a:ext cx="61594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-50" dirty="0">
                <a:latin typeface="Times New Roman"/>
                <a:cs typeface="Times New Roman"/>
              </a:rPr>
              <a:t>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60" name="object 960"/>
          <p:cNvSpPr txBox="1"/>
          <p:nvPr/>
        </p:nvSpPr>
        <p:spPr>
          <a:xfrm>
            <a:off x="4178551" y="1282938"/>
            <a:ext cx="47498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06375" algn="l"/>
                <a:tab pos="425450" algn="l"/>
              </a:tabLst>
            </a:pPr>
            <a:r>
              <a:rPr sz="550" spc="-50" dirty="0">
                <a:latin typeface="Times New Roman"/>
                <a:cs typeface="Times New Roman"/>
              </a:rPr>
              <a:t>1</a:t>
            </a:r>
            <a:r>
              <a:rPr sz="550" dirty="0">
                <a:latin typeface="Times New Roman"/>
                <a:cs typeface="Times New Roman"/>
              </a:rPr>
              <a:t>	</a:t>
            </a:r>
            <a:r>
              <a:rPr sz="825" baseline="5050" dirty="0">
                <a:latin typeface="Times New Roman"/>
                <a:cs typeface="Times New Roman"/>
              </a:rPr>
              <a:t>-</a:t>
            </a:r>
            <a:r>
              <a:rPr sz="825" spc="-75" baseline="5050" dirty="0">
                <a:latin typeface="Times New Roman"/>
                <a:cs typeface="Times New Roman"/>
              </a:rPr>
              <a:t>1</a:t>
            </a:r>
            <a:r>
              <a:rPr sz="825" baseline="5050" dirty="0">
                <a:latin typeface="Times New Roman"/>
                <a:cs typeface="Times New Roman"/>
              </a:rPr>
              <a:t>	</a:t>
            </a:r>
            <a:r>
              <a:rPr sz="550" spc="-50" dirty="0">
                <a:latin typeface="Times New Roman"/>
                <a:cs typeface="Times New Roman"/>
              </a:rPr>
              <a:t>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61" name="object 961"/>
          <p:cNvSpPr txBox="1"/>
          <p:nvPr/>
        </p:nvSpPr>
        <p:spPr>
          <a:xfrm>
            <a:off x="4183141" y="1546143"/>
            <a:ext cx="61594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-50" dirty="0">
                <a:latin typeface="Times New Roman"/>
                <a:cs typeface="Times New Roman"/>
              </a:rPr>
              <a:t>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62" name="object 962"/>
          <p:cNvSpPr txBox="1"/>
          <p:nvPr/>
        </p:nvSpPr>
        <p:spPr>
          <a:xfrm>
            <a:off x="4395208" y="1550735"/>
            <a:ext cx="20447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">
              <a:lnSpc>
                <a:spcPct val="100000"/>
              </a:lnSpc>
              <a:spcBef>
                <a:spcPts val="135"/>
              </a:spcBef>
            </a:pPr>
            <a:r>
              <a:rPr sz="550" spc="-50" dirty="0">
                <a:latin typeface="Times New Roman"/>
                <a:cs typeface="Times New Roman"/>
              </a:rPr>
              <a:t>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63" name="object 963"/>
          <p:cNvSpPr txBox="1"/>
          <p:nvPr/>
        </p:nvSpPr>
        <p:spPr>
          <a:xfrm>
            <a:off x="4574890" y="1532371"/>
            <a:ext cx="61594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-50" dirty="0">
                <a:latin typeface="Times New Roman"/>
                <a:cs typeface="Times New Roman"/>
              </a:rPr>
              <a:t>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64" name="object 964"/>
          <p:cNvSpPr txBox="1"/>
          <p:nvPr/>
        </p:nvSpPr>
        <p:spPr>
          <a:xfrm>
            <a:off x="4098490" y="1671626"/>
            <a:ext cx="122555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35"/>
              </a:spcBef>
            </a:pPr>
            <a:r>
              <a:rPr sz="550" spc="-50" dirty="0">
                <a:latin typeface="Times New Roman"/>
                <a:cs typeface="Times New Roman"/>
              </a:rPr>
              <a:t>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65" name="object 965"/>
          <p:cNvSpPr txBox="1"/>
          <p:nvPr/>
        </p:nvSpPr>
        <p:spPr>
          <a:xfrm>
            <a:off x="4390186" y="1680807"/>
            <a:ext cx="243204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193675" algn="l"/>
              </a:tabLst>
            </a:pPr>
            <a:r>
              <a:rPr sz="550" spc="-50" dirty="0">
                <a:latin typeface="Times New Roman"/>
                <a:cs typeface="Times New Roman"/>
              </a:rPr>
              <a:t>1</a:t>
            </a:r>
            <a:r>
              <a:rPr sz="550" dirty="0">
                <a:latin typeface="Times New Roman"/>
                <a:cs typeface="Times New Roman"/>
              </a:rPr>
              <a:t>	</a:t>
            </a:r>
            <a:r>
              <a:rPr sz="550" spc="-50" dirty="0">
                <a:latin typeface="Times New Roman"/>
                <a:cs typeface="Times New Roman"/>
              </a:rPr>
              <a:t>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66" name="object 966"/>
          <p:cNvSpPr txBox="1"/>
          <p:nvPr/>
        </p:nvSpPr>
        <p:spPr>
          <a:xfrm>
            <a:off x="4187732" y="1824652"/>
            <a:ext cx="249554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00660" algn="l"/>
              </a:tabLst>
            </a:pPr>
            <a:r>
              <a:rPr sz="550" spc="-50" dirty="0">
                <a:latin typeface="Times New Roman"/>
                <a:cs typeface="Times New Roman"/>
              </a:rPr>
              <a:t>1</a:t>
            </a:r>
            <a:r>
              <a:rPr sz="550" dirty="0">
                <a:latin typeface="Times New Roman"/>
                <a:cs typeface="Times New Roman"/>
              </a:rPr>
              <a:t>	</a:t>
            </a:r>
            <a:r>
              <a:rPr sz="550" spc="-50" dirty="0">
                <a:latin typeface="Times New Roman"/>
                <a:cs typeface="Times New Roman"/>
              </a:rPr>
              <a:t>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67" name="object 967"/>
          <p:cNvSpPr txBox="1"/>
          <p:nvPr/>
        </p:nvSpPr>
        <p:spPr>
          <a:xfrm>
            <a:off x="402932" y="2207315"/>
            <a:ext cx="4530725" cy="66992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538480">
              <a:lnSpc>
                <a:spcPct val="100000"/>
              </a:lnSpc>
              <a:spcBef>
                <a:spcPts val="715"/>
              </a:spcBef>
              <a:tabLst>
                <a:tab pos="3232785" algn="l"/>
              </a:tabLst>
            </a:pPr>
            <a:r>
              <a:rPr sz="900" b="1" dirty="0">
                <a:latin typeface="Arial"/>
                <a:cs typeface="Arial"/>
              </a:rPr>
              <a:t>Input</a:t>
            </a:r>
            <a:r>
              <a:rPr sz="900" b="1" spc="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Pattern</a:t>
            </a:r>
            <a:r>
              <a:rPr sz="900" b="1" spc="40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Pulses</a:t>
            </a:r>
            <a:r>
              <a:rPr sz="900" b="1" dirty="0">
                <a:latin typeface="Arial"/>
                <a:cs typeface="Arial"/>
              </a:rPr>
              <a:t>	Output</a:t>
            </a:r>
            <a:r>
              <a:rPr sz="900" b="1" spc="30" dirty="0">
                <a:latin typeface="Arial"/>
                <a:cs typeface="Arial"/>
              </a:rPr>
              <a:t> </a:t>
            </a:r>
            <a:r>
              <a:rPr sz="900" b="1" spc="-30" dirty="0">
                <a:latin typeface="Arial"/>
                <a:cs typeface="Arial"/>
              </a:rPr>
              <a:t>Recalled</a:t>
            </a:r>
            <a:r>
              <a:rPr sz="900" b="1" spc="30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Pattern</a:t>
            </a:r>
            <a:endParaRPr sz="900">
              <a:latin typeface="Arial"/>
              <a:cs typeface="Arial"/>
            </a:endParaRPr>
          </a:p>
          <a:p>
            <a:pPr marL="12700" marR="320675">
              <a:lnSpc>
                <a:spcPct val="124500"/>
              </a:lnSpc>
              <a:spcBef>
                <a:spcPts val="385"/>
              </a:spcBef>
            </a:pPr>
            <a:r>
              <a:rPr sz="1000" b="1" spc="-10" dirty="0">
                <a:latin typeface="Arial"/>
                <a:cs typeface="Arial"/>
              </a:rPr>
              <a:t>Activation:</a:t>
            </a:r>
            <a:r>
              <a:rPr sz="1000" b="1" spc="70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Outputs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i="1" spc="-50" dirty="0">
                <a:latin typeface="Verdana"/>
                <a:cs typeface="Verdana"/>
              </a:rPr>
              <a:t>&gt;</a:t>
            </a:r>
            <a:r>
              <a:rPr sz="1000" i="1" spc="-75" dirty="0">
                <a:latin typeface="Verdana"/>
                <a:cs typeface="Verdana"/>
              </a:rPr>
              <a:t> </a:t>
            </a:r>
            <a:r>
              <a:rPr sz="1000" spc="-55" dirty="0">
                <a:latin typeface="Arial MT"/>
                <a:cs typeface="Arial MT"/>
              </a:rPr>
              <a:t>1</a:t>
            </a:r>
            <a:r>
              <a:rPr sz="1000" spc="-11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V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evaluate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logic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+1,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outputs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i="1" spc="-50" dirty="0">
                <a:latin typeface="Verdana"/>
                <a:cs typeface="Verdana"/>
              </a:rPr>
              <a:t>&lt;</a:t>
            </a:r>
            <a:r>
              <a:rPr sz="1000" i="1" spc="-75" dirty="0">
                <a:latin typeface="Verdana"/>
                <a:cs typeface="Verdana"/>
              </a:rPr>
              <a:t> </a:t>
            </a:r>
            <a:r>
              <a:rPr sz="1000" spc="-55" dirty="0">
                <a:latin typeface="Arial MT"/>
                <a:cs typeface="Arial MT"/>
              </a:rPr>
              <a:t>1</a:t>
            </a:r>
            <a:r>
              <a:rPr sz="1000" spc="-11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V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logic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25" dirty="0">
                <a:latin typeface="Lucida Sans Unicode"/>
                <a:cs typeface="Lucida Sans Unicode"/>
              </a:rPr>
              <a:t>−</a:t>
            </a:r>
            <a:r>
              <a:rPr sz="1000" spc="-25" dirty="0">
                <a:latin typeface="Arial MT"/>
                <a:cs typeface="Arial MT"/>
              </a:rPr>
              <a:t>1.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graph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successfully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demonstrates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expected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logic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exact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pattern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matches.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968" name="object 96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1089" y="2581147"/>
            <a:ext cx="65265" cy="65265"/>
          </a:xfrm>
          <a:prstGeom prst="rect">
            <a:avLst/>
          </a:prstGeom>
        </p:spPr>
      </p:pic>
      <p:pic>
        <p:nvPicPr>
          <p:cNvPr id="969" name="object 96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81089" y="2770936"/>
            <a:ext cx="65265" cy="65265"/>
          </a:xfrm>
          <a:prstGeom prst="rect">
            <a:avLst/>
          </a:prstGeom>
        </p:spPr>
      </p:pic>
      <p:grpSp>
        <p:nvGrpSpPr>
          <p:cNvPr id="970" name="object 970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971" name="object 971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2" name="object 972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3" name="object 973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4" name="object 97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975" name="object 975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13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76" name="object 97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977" name="object 97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567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0C46A0"/>
                </a:solidFill>
                <a:latin typeface="Tahoma"/>
                <a:cs typeface="Tahoma"/>
              </a:rPr>
              <a:t>Outline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739470"/>
            <a:ext cx="160096" cy="1600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80" y="1146746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554022"/>
            <a:ext cx="160096" cy="1600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9743" y="711363"/>
            <a:ext cx="900430" cy="10064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90"/>
              </a:spcBef>
              <a:buClr>
                <a:srgbClr val="FAFBFD"/>
              </a:buClr>
              <a:buSzPct val="72727"/>
              <a:buFont typeface="Tahoma"/>
              <a:buAutoNum type="arabicPlain"/>
              <a:tabLst>
                <a:tab pos="177165" algn="l"/>
              </a:tabLst>
            </a:pPr>
            <a:r>
              <a:rPr sz="1100" spc="-10" dirty="0">
                <a:solidFill>
                  <a:srgbClr val="CEDAEC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Clr>
                <a:srgbClr val="FAFBFD"/>
              </a:buClr>
              <a:buFont typeface="Tahoma"/>
              <a:buAutoNum type="arabicPlain"/>
            </a:pPr>
            <a:endParaRPr sz="1100">
              <a:latin typeface="Arial MT"/>
              <a:cs typeface="Arial MT"/>
            </a:endParaRPr>
          </a:p>
          <a:p>
            <a:pPr marL="177165" indent="-164465">
              <a:lnSpc>
                <a:spcPct val="100000"/>
              </a:lnSpc>
              <a:buClr>
                <a:srgbClr val="FAFBFD"/>
              </a:buClr>
              <a:buSzPct val="72727"/>
              <a:buFont typeface="Tahoma"/>
              <a:buAutoNum type="arabicPlain"/>
              <a:tabLst>
                <a:tab pos="177165" algn="l"/>
              </a:tabLst>
            </a:pPr>
            <a:r>
              <a:rPr sz="1100" spc="-10" dirty="0">
                <a:solidFill>
                  <a:srgbClr val="CEDAEC"/>
                </a:solidFill>
                <a:latin typeface="Arial MT"/>
                <a:cs typeface="Arial MT"/>
                <a:hlinkClick r:id="rId6" action="ppaction://hlinksldjump"/>
              </a:rPr>
              <a:t>Motivation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buClr>
                <a:srgbClr val="FAFBFD"/>
              </a:buClr>
              <a:buFont typeface="Tahoma"/>
              <a:buAutoNum type="arabicPlain"/>
            </a:pPr>
            <a:endParaRPr sz="1100">
              <a:latin typeface="Arial MT"/>
              <a:cs typeface="Arial MT"/>
            </a:endParaRPr>
          </a:p>
          <a:p>
            <a:pPr marL="177165" indent="-164465">
              <a:lnSpc>
                <a:spcPct val="100000"/>
              </a:lnSpc>
              <a:buClr>
                <a:srgbClr val="FAFBFD"/>
              </a:buClr>
              <a:buSzPct val="72727"/>
              <a:buFont typeface="Tahoma"/>
              <a:buAutoNum type="arabicPlain"/>
              <a:tabLst>
                <a:tab pos="177165" algn="l"/>
              </a:tabLst>
            </a:pPr>
            <a:r>
              <a:rPr sz="1100" spc="-10" dirty="0">
                <a:solidFill>
                  <a:srgbClr val="CEDAEC"/>
                </a:solidFill>
                <a:latin typeface="Arial MT"/>
                <a:cs typeface="Arial MT"/>
                <a:hlinkClick r:id="rId7" action="ppaction://hlinksldjump"/>
              </a:rPr>
              <a:t>Objective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280" y="1961299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196063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BFD"/>
                </a:solidFill>
                <a:latin typeface="Tahoma"/>
                <a:cs typeface="Tahoma"/>
              </a:rPr>
              <a:t>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173" y="1933205"/>
            <a:ext cx="681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CEDAEC"/>
                </a:solidFill>
                <a:latin typeface="Arial MT"/>
                <a:cs typeface="Arial MT"/>
                <a:hlinkClick r:id="rId9" action="ppaction://hlinksldjump"/>
              </a:rPr>
              <a:t>Work</a:t>
            </a:r>
            <a:r>
              <a:rPr sz="1100" spc="-30" dirty="0">
                <a:solidFill>
                  <a:srgbClr val="CEDAEC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1100" spc="-50" dirty="0">
                <a:solidFill>
                  <a:srgbClr val="CEDAEC"/>
                </a:solidFill>
                <a:latin typeface="Arial MT"/>
                <a:cs typeface="Arial MT"/>
                <a:hlinkClick r:id="rId9" action="ppaction://hlinksldjump"/>
              </a:rPr>
              <a:t>Done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2368575"/>
            <a:ext cx="160096" cy="16009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9743" y="236791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6ECF5"/>
                </a:solidFill>
                <a:latin typeface="Tahoma"/>
                <a:cs typeface="Tahoma"/>
              </a:rPr>
              <a:t>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5173" y="2340481"/>
            <a:ext cx="16814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Conclusion</a:t>
            </a:r>
            <a:r>
              <a:rPr sz="1100" spc="-10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100" spc="-45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and</a:t>
            </a:r>
            <a:r>
              <a:rPr sz="1100" spc="-10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100" spc="-25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Future</a:t>
            </a:r>
            <a:r>
              <a:rPr sz="1100" spc="-5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100" spc="-20" dirty="0">
                <a:solidFill>
                  <a:srgbClr val="0C46A0"/>
                </a:solidFill>
                <a:latin typeface="Arial MT"/>
                <a:cs typeface="Arial MT"/>
                <a:hlinkClick r:id="rId11" action="ppaction://hlinksldjump"/>
              </a:rPr>
              <a:t>Work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0148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Conclusion </a:t>
            </a:r>
            <a:r>
              <a:rPr spc="120" dirty="0"/>
              <a:t>&amp;</a:t>
            </a:r>
            <a:r>
              <a:rPr spc="-20" dirty="0"/>
              <a:t> Future 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737" y="1071194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737" y="1453299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9737" y="1835403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737" y="2217521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pc="-10" dirty="0"/>
              <a:t>Conclusions</a:t>
            </a:r>
          </a:p>
          <a:p>
            <a:pPr marL="289560" marR="5080">
              <a:lnSpc>
                <a:spcPct val="102600"/>
              </a:lnSpc>
              <a:spcBef>
                <a:spcPts val="640"/>
              </a:spcBef>
            </a:pPr>
            <a:r>
              <a:rPr sz="1100" b="0" spc="-65" dirty="0">
                <a:solidFill>
                  <a:srgbClr val="000000"/>
                </a:solidFill>
                <a:latin typeface="Arial MT"/>
                <a:cs typeface="Arial MT"/>
              </a:rPr>
              <a:t>Successfully</a:t>
            </a:r>
            <a:r>
              <a:rPr sz="1100" b="0" spc="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50" dirty="0">
                <a:solidFill>
                  <a:srgbClr val="000000"/>
                </a:solidFill>
                <a:latin typeface="Arial MT"/>
                <a:cs typeface="Arial MT"/>
              </a:rPr>
              <a:t>implemented</a:t>
            </a:r>
            <a:r>
              <a:rPr sz="1100" b="0" spc="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0000"/>
                </a:solidFill>
              </a:rPr>
              <a:t>6</a:t>
            </a:r>
            <a:r>
              <a:rPr sz="1100" b="0" dirty="0">
                <a:solidFill>
                  <a:srgbClr val="000000"/>
                </a:solidFill>
                <a:latin typeface="Lucida Sans Unicode"/>
                <a:cs typeface="Lucida Sans Unicode"/>
              </a:rPr>
              <a:t>×</a:t>
            </a:r>
            <a:r>
              <a:rPr sz="1100" dirty="0">
                <a:solidFill>
                  <a:srgbClr val="000000"/>
                </a:solidFill>
              </a:rPr>
              <a:t>6</a:t>
            </a:r>
            <a:r>
              <a:rPr sz="1100" spc="95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BAM</a:t>
            </a:r>
            <a:r>
              <a:rPr sz="1100" spc="60" dirty="0">
                <a:solidFill>
                  <a:srgbClr val="000000"/>
                </a:solidFill>
              </a:rPr>
              <a:t> </a:t>
            </a:r>
            <a:r>
              <a:rPr sz="1100" b="0" spc="-25" dirty="0">
                <a:solidFill>
                  <a:srgbClr val="000000"/>
                </a:solidFill>
                <a:latin typeface="Arial MT"/>
                <a:cs typeface="Arial MT"/>
              </a:rPr>
              <a:t>in </a:t>
            </a:r>
            <a:r>
              <a:rPr sz="1100" b="0" spc="-45" dirty="0">
                <a:solidFill>
                  <a:srgbClr val="000000"/>
                </a:solidFill>
                <a:latin typeface="Arial MT"/>
                <a:cs typeface="Arial MT"/>
              </a:rPr>
              <a:t>standard</a:t>
            </a:r>
            <a:r>
              <a:rPr sz="1100"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75" dirty="0">
                <a:solidFill>
                  <a:srgbClr val="000000"/>
                </a:solidFill>
                <a:latin typeface="Arial MT"/>
                <a:cs typeface="Arial MT"/>
              </a:rPr>
              <a:t>180</a:t>
            </a:r>
            <a:r>
              <a:rPr sz="1100" b="0" spc="-1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nm </a:t>
            </a:r>
            <a:r>
              <a:rPr sz="1100" b="0" spc="-10" dirty="0">
                <a:solidFill>
                  <a:srgbClr val="000000"/>
                </a:solidFill>
                <a:latin typeface="Arial MT"/>
                <a:cs typeface="Arial MT"/>
              </a:rPr>
              <a:t>CMOS.</a:t>
            </a:r>
            <a:endParaRPr sz="1100">
              <a:latin typeface="Arial MT"/>
              <a:cs typeface="Arial MT"/>
            </a:endParaRPr>
          </a:p>
          <a:p>
            <a:pPr marL="289560" marR="275590">
              <a:lnSpc>
                <a:spcPct val="102699"/>
              </a:lnSpc>
              <a:spcBef>
                <a:spcPts val="300"/>
              </a:spcBef>
            </a:pPr>
            <a:r>
              <a:rPr sz="1100" b="0" spc="-50" dirty="0">
                <a:solidFill>
                  <a:srgbClr val="000000"/>
                </a:solidFill>
                <a:latin typeface="Arial MT"/>
                <a:cs typeface="Arial MT"/>
              </a:rPr>
              <a:t>CMOS</a:t>
            </a:r>
            <a:r>
              <a:rPr sz="11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30" dirty="0">
                <a:solidFill>
                  <a:srgbClr val="000000"/>
                </a:solidFill>
                <a:latin typeface="Arial MT"/>
                <a:cs typeface="Arial MT"/>
              </a:rPr>
              <a:t>memristor</a:t>
            </a:r>
            <a:r>
              <a:rPr sz="11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55" dirty="0">
                <a:solidFill>
                  <a:srgbClr val="000000"/>
                </a:solidFill>
                <a:latin typeface="Arial MT"/>
                <a:cs typeface="Arial MT"/>
              </a:rPr>
              <a:t>provides</a:t>
            </a:r>
            <a:r>
              <a:rPr sz="1100" b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000000"/>
                </a:solidFill>
              </a:rPr>
              <a:t>tunable </a:t>
            </a:r>
            <a:r>
              <a:rPr sz="1100" spc="-50" dirty="0">
                <a:solidFill>
                  <a:srgbClr val="000000"/>
                </a:solidFill>
              </a:rPr>
              <a:t>non-</a:t>
            </a:r>
            <a:r>
              <a:rPr sz="1100" spc="-25" dirty="0">
                <a:solidFill>
                  <a:srgbClr val="000000"/>
                </a:solidFill>
              </a:rPr>
              <a:t>volatile</a:t>
            </a:r>
            <a:r>
              <a:rPr sz="1100" spc="30" dirty="0">
                <a:solidFill>
                  <a:srgbClr val="000000"/>
                </a:solidFill>
              </a:rPr>
              <a:t> </a:t>
            </a:r>
            <a:r>
              <a:rPr sz="1100" spc="-25" dirty="0">
                <a:solidFill>
                  <a:srgbClr val="000000"/>
                </a:solidFill>
              </a:rPr>
              <a:t>weight</a:t>
            </a:r>
            <a:r>
              <a:rPr sz="1100" spc="35" dirty="0">
                <a:solidFill>
                  <a:srgbClr val="000000"/>
                </a:solidFill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storage</a:t>
            </a:r>
            <a:r>
              <a:rPr sz="1100" b="0" spc="-10" dirty="0">
                <a:solidFill>
                  <a:srgbClr val="000000"/>
                </a:solidFill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289560" marR="170180">
              <a:lnSpc>
                <a:spcPct val="102600"/>
              </a:lnSpc>
              <a:spcBef>
                <a:spcPts val="300"/>
              </a:spcBef>
            </a:pPr>
            <a:r>
              <a:rPr sz="1100" b="0" spc="-10" dirty="0">
                <a:solidFill>
                  <a:srgbClr val="000000"/>
                </a:solidFill>
                <a:latin typeface="Arial MT"/>
                <a:cs typeface="Arial MT"/>
              </a:rPr>
              <a:t>Full</a:t>
            </a:r>
            <a:r>
              <a:rPr sz="1100" b="0" spc="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30" dirty="0">
                <a:solidFill>
                  <a:srgbClr val="000000"/>
                </a:solidFill>
                <a:latin typeface="Arial MT"/>
                <a:cs typeface="Arial MT"/>
              </a:rPr>
              <a:t>simulation</a:t>
            </a:r>
            <a:r>
              <a:rPr sz="1100" b="0" spc="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55" dirty="0">
                <a:solidFill>
                  <a:srgbClr val="000000"/>
                </a:solidFill>
                <a:latin typeface="Arial MT"/>
                <a:cs typeface="Arial MT"/>
              </a:rPr>
              <a:t>demonstrates</a:t>
            </a:r>
            <a:r>
              <a:rPr sz="1100" b="0" spc="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000000"/>
                </a:solidFill>
              </a:rPr>
              <a:t>correct </a:t>
            </a:r>
            <a:r>
              <a:rPr sz="1100" dirty="0">
                <a:solidFill>
                  <a:srgbClr val="000000"/>
                </a:solidFill>
              </a:rPr>
              <a:t>pattern</a:t>
            </a:r>
            <a:r>
              <a:rPr sz="1100" spc="-25" dirty="0">
                <a:solidFill>
                  <a:srgbClr val="000000"/>
                </a:solidFill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association</a:t>
            </a:r>
            <a:r>
              <a:rPr sz="1100" b="0" spc="-10" dirty="0">
                <a:solidFill>
                  <a:srgbClr val="000000"/>
                </a:solidFill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289560" marR="115570">
              <a:lnSpc>
                <a:spcPct val="102600"/>
              </a:lnSpc>
              <a:spcBef>
                <a:spcPts val="295"/>
              </a:spcBef>
            </a:pPr>
            <a:r>
              <a:rPr sz="1100" spc="-10" dirty="0">
                <a:solidFill>
                  <a:srgbClr val="000000"/>
                </a:solidFill>
              </a:rPr>
              <a:t>First</a:t>
            </a:r>
            <a:r>
              <a:rPr sz="1100" spc="5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full</a:t>
            </a:r>
            <a:r>
              <a:rPr sz="1100" spc="5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CMOS</a:t>
            </a:r>
            <a:r>
              <a:rPr sz="1100" spc="50" dirty="0">
                <a:solidFill>
                  <a:srgbClr val="000000"/>
                </a:solidFill>
              </a:rPr>
              <a:t> </a:t>
            </a:r>
            <a:r>
              <a:rPr sz="1100" spc="-30" dirty="0">
                <a:solidFill>
                  <a:srgbClr val="000000"/>
                </a:solidFill>
              </a:rPr>
              <a:t>implementation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b="0" spc="-25" dirty="0">
                <a:solidFill>
                  <a:srgbClr val="000000"/>
                </a:solidFill>
                <a:latin typeface="Arial MT"/>
                <a:cs typeface="Arial MT"/>
              </a:rPr>
              <a:t>of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BAM</a:t>
            </a:r>
            <a:r>
              <a:rPr sz="1100" b="0" spc="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with</a:t>
            </a:r>
            <a:r>
              <a:rPr sz="1100" b="0" spc="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1100" b="0" spc="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50" dirty="0">
                <a:solidFill>
                  <a:srgbClr val="000000"/>
                </a:solidFill>
                <a:latin typeface="Arial MT"/>
                <a:cs typeface="Arial MT"/>
              </a:rPr>
              <a:t>CMOS</a:t>
            </a:r>
            <a:r>
              <a:rPr sz="1100" b="0" spc="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000000"/>
                </a:solidFill>
                <a:latin typeface="Arial MT"/>
                <a:cs typeface="Arial MT"/>
              </a:rPr>
              <a:t>synapse.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78390" y="1071194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78390" y="1453299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78390" y="1835403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78390" y="2217521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023133" y="623242"/>
            <a:ext cx="2601595" cy="187515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200" b="1" spc="-10" dirty="0">
                <a:solidFill>
                  <a:srgbClr val="0C46A0"/>
                </a:solidFill>
                <a:latin typeface="Arial"/>
                <a:cs typeface="Arial"/>
              </a:rPr>
              <a:t>Future</a:t>
            </a:r>
            <a:r>
              <a:rPr sz="1200" b="1" spc="-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0C46A0"/>
                </a:solidFill>
                <a:latin typeface="Arial"/>
                <a:cs typeface="Arial"/>
              </a:rPr>
              <a:t>Work</a:t>
            </a:r>
            <a:endParaRPr sz="1200">
              <a:latin typeface="Arial"/>
              <a:cs typeface="Arial"/>
            </a:endParaRPr>
          </a:p>
          <a:p>
            <a:pPr marL="289560" marR="489584">
              <a:lnSpc>
                <a:spcPct val="102600"/>
              </a:lnSpc>
              <a:spcBef>
                <a:spcPts val="640"/>
              </a:spcBef>
            </a:pPr>
            <a:r>
              <a:rPr sz="1100" b="1" spc="-35" dirty="0">
                <a:latin typeface="Arial"/>
                <a:cs typeface="Arial"/>
              </a:rPr>
              <a:t>Layout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spc="-75" dirty="0">
                <a:latin typeface="Arial"/>
                <a:cs typeface="Arial"/>
              </a:rPr>
              <a:t>design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spc="-45" dirty="0">
                <a:latin typeface="Arial MT"/>
                <a:cs typeface="Arial MT"/>
              </a:rPr>
              <a:t>and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post-</a:t>
            </a:r>
            <a:r>
              <a:rPr sz="1100" spc="-25" dirty="0">
                <a:latin typeface="Arial MT"/>
                <a:cs typeface="Arial MT"/>
              </a:rPr>
              <a:t>layout </a:t>
            </a:r>
            <a:r>
              <a:rPr sz="1100" spc="-10" dirty="0">
                <a:latin typeface="Arial MT"/>
                <a:cs typeface="Arial MT"/>
              </a:rPr>
              <a:t>simulation.</a:t>
            </a:r>
            <a:endParaRPr sz="11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35" dirty="0">
                <a:latin typeface="Arial MT"/>
                <a:cs typeface="Arial MT"/>
              </a:rPr>
              <a:t>Extend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b="1" spc="-30" dirty="0">
                <a:latin typeface="Arial"/>
                <a:cs typeface="Arial"/>
              </a:rPr>
              <a:t>larger</a:t>
            </a:r>
            <a:r>
              <a:rPr sz="1100" b="1" spc="60" dirty="0">
                <a:latin typeface="Arial"/>
                <a:cs typeface="Arial"/>
              </a:rPr>
              <a:t> </a:t>
            </a:r>
            <a:r>
              <a:rPr sz="1100" b="1" spc="50" dirty="0">
                <a:latin typeface="Arial"/>
                <a:cs typeface="Arial"/>
              </a:rPr>
              <a:t>BAM</a:t>
            </a:r>
            <a:r>
              <a:rPr sz="1100" b="1" spc="6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networks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spc="-25" dirty="0">
                <a:latin typeface="Arial MT"/>
                <a:cs typeface="Arial MT"/>
              </a:rPr>
              <a:t>(12</a:t>
            </a:r>
            <a:r>
              <a:rPr sz="1100" spc="-25" dirty="0">
                <a:latin typeface="Lucida Sans Unicode"/>
                <a:cs typeface="Lucida Sans Unicode"/>
              </a:rPr>
              <a:t>×</a:t>
            </a:r>
            <a:r>
              <a:rPr sz="1100" spc="-25" dirty="0">
                <a:latin typeface="Arial MT"/>
                <a:cs typeface="Arial MT"/>
              </a:rPr>
              <a:t>12,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24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30" dirty="0">
                <a:latin typeface="Arial MT"/>
                <a:cs typeface="Arial MT"/>
              </a:rPr>
              <a:t>24)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image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recognition.</a:t>
            </a:r>
            <a:endParaRPr sz="1100">
              <a:latin typeface="Arial MT"/>
              <a:cs typeface="Arial MT"/>
            </a:endParaRP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sz="1100" spc="-35" dirty="0">
                <a:latin typeface="Arial MT"/>
                <a:cs typeface="Arial MT"/>
              </a:rPr>
              <a:t>Implement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b="1" spc="-60" dirty="0">
                <a:latin typeface="Arial"/>
                <a:cs typeface="Arial"/>
              </a:rPr>
              <a:t>on-</a:t>
            </a:r>
            <a:r>
              <a:rPr sz="1100" b="1" spc="-25" dirty="0">
                <a:latin typeface="Arial"/>
                <a:cs typeface="Arial"/>
              </a:rPr>
              <a:t>chip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STDP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b="1" spc="-45" dirty="0">
                <a:latin typeface="Arial"/>
                <a:cs typeface="Arial"/>
              </a:rPr>
              <a:t>learning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spc="-25" dirty="0">
                <a:latin typeface="Arial MT"/>
                <a:cs typeface="Arial MT"/>
              </a:rPr>
              <a:t>for </a:t>
            </a:r>
            <a:r>
              <a:rPr sz="1100" spc="-50" dirty="0">
                <a:latin typeface="Arial MT"/>
                <a:cs typeface="Arial MT"/>
              </a:rPr>
              <a:t>autonomous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updates.</a:t>
            </a:r>
            <a:endParaRPr sz="1100">
              <a:latin typeface="Arial MT"/>
              <a:cs typeface="Arial MT"/>
            </a:endParaRPr>
          </a:p>
          <a:p>
            <a:pPr marL="289560" marR="748030">
              <a:lnSpc>
                <a:spcPct val="102600"/>
              </a:lnSpc>
              <a:spcBef>
                <a:spcPts val="300"/>
              </a:spcBef>
            </a:pPr>
            <a:r>
              <a:rPr sz="1100" spc="-70" dirty="0">
                <a:latin typeface="Arial MT"/>
                <a:cs typeface="Arial MT"/>
              </a:rPr>
              <a:t>Power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analysis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and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b="1" spc="-50" dirty="0">
                <a:latin typeface="Arial"/>
                <a:cs typeface="Arial"/>
              </a:rPr>
              <a:t>energy </a:t>
            </a:r>
            <a:r>
              <a:rPr sz="1100" b="1" spc="-10" dirty="0">
                <a:latin typeface="Arial"/>
                <a:cs typeface="Arial"/>
              </a:rPr>
              <a:t>optimization</a:t>
            </a:r>
            <a:r>
              <a:rPr sz="1100" spc="-10" dirty="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References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3964" y="943780"/>
            <a:ext cx="106680" cy="144780"/>
            <a:chOff x="173964" y="943780"/>
            <a:chExt cx="106680" cy="1447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504" y="946320"/>
              <a:ext cx="101219" cy="1391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6504" y="946320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9156" y="965298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1809" y="984276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156" y="1015907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440" y="1012743"/>
              <a:ext cx="31635" cy="4428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33440" y="1066516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2419" y="94632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2249" y="952600"/>
            <a:ext cx="5261610" cy="1211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L.</a:t>
            </a:r>
            <a:r>
              <a:rPr sz="800" spc="1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Chua,</a:t>
            </a:r>
            <a:r>
              <a:rPr sz="800" spc="1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“Memristor-the</a:t>
            </a:r>
            <a:r>
              <a:rPr sz="800" spc="1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missing</a:t>
            </a:r>
            <a:r>
              <a:rPr sz="800" spc="1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circuit</a:t>
            </a:r>
            <a:r>
              <a:rPr sz="800" spc="1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element,”</a:t>
            </a:r>
            <a:r>
              <a:rPr sz="800" spc="1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i="1" dirty="0">
                <a:solidFill>
                  <a:srgbClr val="0C46A0"/>
                </a:solidFill>
                <a:latin typeface="Arial"/>
                <a:cs typeface="Arial"/>
              </a:rPr>
              <a:t>IEEE</a:t>
            </a:r>
            <a:r>
              <a:rPr sz="800" i="1" spc="4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0C46A0"/>
                </a:solidFill>
                <a:latin typeface="Arial"/>
                <a:cs typeface="Arial"/>
              </a:rPr>
              <a:t>Trans.</a:t>
            </a:r>
            <a:r>
              <a:rPr sz="800" i="1" spc="4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0C46A0"/>
                </a:solidFill>
                <a:latin typeface="Arial"/>
                <a:cs typeface="Arial"/>
              </a:rPr>
              <a:t>Circuit</a:t>
            </a:r>
            <a:r>
              <a:rPr sz="800" i="1" spc="4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0C46A0"/>
                </a:solidFill>
                <a:latin typeface="Arial"/>
                <a:cs typeface="Arial"/>
              </a:rPr>
              <a:t>Theory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,</a:t>
            </a:r>
            <a:r>
              <a:rPr sz="800" spc="1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vol.</a:t>
            </a:r>
            <a:r>
              <a:rPr sz="800" spc="1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18,</a:t>
            </a:r>
            <a:r>
              <a:rPr sz="800" spc="1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no.</a:t>
            </a:r>
            <a:r>
              <a:rPr sz="800" spc="1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5,</a:t>
            </a:r>
            <a:r>
              <a:rPr sz="800" spc="1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pp.</a:t>
            </a:r>
            <a:r>
              <a:rPr sz="800" spc="1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0C46A0"/>
                </a:solidFill>
                <a:latin typeface="Tahoma"/>
                <a:cs typeface="Tahoma"/>
              </a:rPr>
              <a:t>507–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519,</a:t>
            </a:r>
            <a:r>
              <a:rPr sz="800" spc="1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1971.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R.</a:t>
            </a:r>
            <a:r>
              <a:rPr sz="800" spc="3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S.</a:t>
            </a:r>
            <a:r>
              <a:rPr sz="800" spc="3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Williams,</a:t>
            </a:r>
            <a:r>
              <a:rPr sz="800" spc="3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“How</a:t>
            </a:r>
            <a:r>
              <a:rPr sz="800" spc="3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We</a:t>
            </a:r>
            <a:r>
              <a:rPr sz="800" spc="3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Found</a:t>
            </a:r>
            <a:r>
              <a:rPr sz="800" spc="3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The</a:t>
            </a:r>
            <a:r>
              <a:rPr sz="800" spc="3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Missing</a:t>
            </a:r>
            <a:r>
              <a:rPr sz="800" spc="3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Memristor,”</a:t>
            </a:r>
            <a:r>
              <a:rPr sz="800" spc="3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i="1" dirty="0">
                <a:solidFill>
                  <a:srgbClr val="0C46A0"/>
                </a:solidFill>
                <a:latin typeface="Arial"/>
                <a:cs typeface="Arial"/>
              </a:rPr>
              <a:t>IEEE</a:t>
            </a:r>
            <a:r>
              <a:rPr sz="800" i="1" spc="6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0C46A0"/>
                </a:solidFill>
                <a:latin typeface="Arial"/>
                <a:cs typeface="Arial"/>
              </a:rPr>
              <a:t>Spectrum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,</a:t>
            </a:r>
            <a:r>
              <a:rPr sz="800" spc="3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vol.</a:t>
            </a:r>
            <a:r>
              <a:rPr sz="800" spc="3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45,</a:t>
            </a:r>
            <a:r>
              <a:rPr sz="800" spc="3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no.</a:t>
            </a:r>
            <a:r>
              <a:rPr sz="800" spc="3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12,</a:t>
            </a:r>
            <a:r>
              <a:rPr sz="800" spc="3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pp.</a:t>
            </a:r>
            <a:r>
              <a:rPr sz="800" spc="3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0C46A0"/>
                </a:solidFill>
                <a:latin typeface="Tahoma"/>
                <a:cs typeface="Tahoma"/>
              </a:rPr>
              <a:t>28–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35,</a:t>
            </a:r>
            <a:r>
              <a:rPr sz="800" spc="3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2008.</a:t>
            </a:r>
            <a:endParaRPr sz="800">
              <a:latin typeface="Tahoma"/>
              <a:cs typeface="Tahoma"/>
            </a:endParaRPr>
          </a:p>
          <a:p>
            <a:pPr marL="12700" marR="88265">
              <a:lnSpc>
                <a:spcPts val="950"/>
              </a:lnSpc>
              <a:spcBef>
                <a:spcPts val="800"/>
              </a:spcBef>
            </a:pP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S.</a:t>
            </a:r>
            <a:r>
              <a:rPr sz="800" spc="4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50" dirty="0">
                <a:solidFill>
                  <a:srgbClr val="0C46A0"/>
                </a:solidFill>
                <a:latin typeface="Tahoma"/>
                <a:cs typeface="Tahoma"/>
              </a:rPr>
              <a:t>K.</a:t>
            </a:r>
            <a:r>
              <a:rPr sz="800" spc="4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Vohra,</a:t>
            </a:r>
            <a:r>
              <a:rPr sz="800" spc="4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S.</a:t>
            </a:r>
            <a:r>
              <a:rPr sz="800" spc="5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Thomas,</a:t>
            </a:r>
            <a:r>
              <a:rPr sz="800" spc="4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55" dirty="0">
                <a:solidFill>
                  <a:srgbClr val="0C46A0"/>
                </a:solidFill>
                <a:latin typeface="Tahoma"/>
                <a:cs typeface="Tahoma"/>
              </a:rPr>
              <a:t>M.</a:t>
            </a:r>
            <a:r>
              <a:rPr sz="800" spc="4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Sakare,</a:t>
            </a:r>
            <a:r>
              <a:rPr sz="800" spc="5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D.</a:t>
            </a:r>
            <a:r>
              <a:rPr sz="800" spc="4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55" dirty="0">
                <a:solidFill>
                  <a:srgbClr val="0C46A0"/>
                </a:solidFill>
                <a:latin typeface="Tahoma"/>
                <a:cs typeface="Tahoma"/>
              </a:rPr>
              <a:t>M.</a:t>
            </a:r>
            <a:r>
              <a:rPr sz="800" spc="4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Das,</a:t>
            </a:r>
            <a:r>
              <a:rPr sz="800" spc="5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“Full</a:t>
            </a:r>
            <a:r>
              <a:rPr sz="800" spc="4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65" dirty="0">
                <a:solidFill>
                  <a:srgbClr val="0C46A0"/>
                </a:solidFill>
                <a:latin typeface="Tahoma"/>
                <a:cs typeface="Tahoma"/>
              </a:rPr>
              <a:t>CMOS</a:t>
            </a:r>
            <a:r>
              <a:rPr sz="800" spc="4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Implementation</a:t>
            </a:r>
            <a:r>
              <a:rPr sz="800" spc="5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of</a:t>
            </a:r>
            <a:r>
              <a:rPr sz="800" spc="4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Bidirectional</a:t>
            </a:r>
            <a:r>
              <a:rPr sz="800" spc="4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Associative</a:t>
            </a:r>
            <a:r>
              <a:rPr sz="800" spc="5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Memory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Neural</a:t>
            </a:r>
            <a:r>
              <a:rPr sz="800" spc="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Network</a:t>
            </a:r>
            <a:r>
              <a:rPr sz="800" spc="1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with</a:t>
            </a:r>
            <a:r>
              <a:rPr sz="800" spc="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Analog</a:t>
            </a:r>
            <a:r>
              <a:rPr sz="800" spc="1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Memristive</a:t>
            </a:r>
            <a:r>
              <a:rPr sz="800" spc="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Synapse,”</a:t>
            </a:r>
            <a:r>
              <a:rPr sz="800" spc="1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i="1" dirty="0">
                <a:solidFill>
                  <a:srgbClr val="0C46A0"/>
                </a:solidFill>
                <a:latin typeface="Arial"/>
                <a:cs typeface="Arial"/>
              </a:rPr>
              <a:t>IEEE</a:t>
            </a:r>
            <a:r>
              <a:rPr sz="800" i="1" spc="3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0C46A0"/>
                </a:solidFill>
                <a:latin typeface="Arial"/>
                <a:cs typeface="Arial"/>
              </a:rPr>
              <a:t>MWSCAS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,</a:t>
            </a:r>
            <a:r>
              <a:rPr sz="800" spc="1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pp.</a:t>
            </a:r>
            <a:r>
              <a:rPr sz="800" spc="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0C46A0"/>
                </a:solidFill>
                <a:latin typeface="Tahoma"/>
                <a:cs typeface="Tahoma"/>
              </a:rPr>
              <a:t>445–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448,</a:t>
            </a:r>
            <a:r>
              <a:rPr sz="800" spc="1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2021.</a:t>
            </a:r>
            <a:endParaRPr sz="800">
              <a:latin typeface="Tahoma"/>
              <a:cs typeface="Tahoma"/>
            </a:endParaRPr>
          </a:p>
          <a:p>
            <a:pPr marL="12700" marR="631190">
              <a:lnSpc>
                <a:spcPts val="950"/>
              </a:lnSpc>
              <a:spcBef>
                <a:spcPts val="570"/>
              </a:spcBef>
            </a:pP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S.</a:t>
            </a:r>
            <a:r>
              <a:rPr sz="800" spc="2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N.</a:t>
            </a:r>
            <a:r>
              <a:rPr sz="800" spc="3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Truong,</a:t>
            </a:r>
            <a:r>
              <a:rPr sz="800" spc="3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50" dirty="0">
                <a:solidFill>
                  <a:srgbClr val="0C46A0"/>
                </a:solidFill>
                <a:latin typeface="Tahoma"/>
                <a:cs typeface="Tahoma"/>
              </a:rPr>
              <a:t>K.</a:t>
            </a:r>
            <a:r>
              <a:rPr sz="800" spc="2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Min,</a:t>
            </a:r>
            <a:r>
              <a:rPr sz="800" spc="3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“New</a:t>
            </a:r>
            <a:r>
              <a:rPr sz="800" spc="3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0C46A0"/>
                </a:solidFill>
                <a:latin typeface="Tahoma"/>
                <a:cs typeface="Tahoma"/>
              </a:rPr>
              <a:t>memristor-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based</a:t>
            </a:r>
            <a:r>
              <a:rPr sz="800" spc="2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crossbar</a:t>
            </a:r>
            <a:r>
              <a:rPr sz="800" spc="3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array</a:t>
            </a:r>
            <a:r>
              <a:rPr sz="800" spc="3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architecture</a:t>
            </a:r>
            <a:r>
              <a:rPr sz="800" spc="2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with</a:t>
            </a:r>
            <a:r>
              <a:rPr sz="800" spc="3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0C46A0"/>
                </a:solidFill>
                <a:latin typeface="Tahoma"/>
                <a:cs typeface="Tahoma"/>
              </a:rPr>
              <a:t>50%</a:t>
            </a:r>
            <a:r>
              <a:rPr sz="800" spc="3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area</a:t>
            </a:r>
            <a:r>
              <a:rPr sz="800" spc="3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reduction,”</a:t>
            </a:r>
            <a:r>
              <a:rPr sz="800" spc="2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i="1" spc="-25" dirty="0">
                <a:solidFill>
                  <a:srgbClr val="0C46A0"/>
                </a:solidFill>
                <a:latin typeface="Arial"/>
                <a:cs typeface="Arial"/>
              </a:rPr>
              <a:t>J.</a:t>
            </a:r>
            <a:r>
              <a:rPr sz="800" i="1" spc="-10" dirty="0">
                <a:solidFill>
                  <a:srgbClr val="0C46A0"/>
                </a:solidFill>
                <a:latin typeface="Arial"/>
                <a:cs typeface="Arial"/>
              </a:rPr>
              <a:t> Semiconductor</a:t>
            </a:r>
            <a:r>
              <a:rPr sz="800" i="1" spc="2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800" i="1" spc="-10" dirty="0">
                <a:solidFill>
                  <a:srgbClr val="0C46A0"/>
                </a:solidFill>
                <a:latin typeface="Arial"/>
                <a:cs typeface="Arial"/>
              </a:rPr>
              <a:t>Technol.</a:t>
            </a:r>
            <a:r>
              <a:rPr sz="800" i="1" spc="20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0C46A0"/>
                </a:solidFill>
                <a:latin typeface="Arial"/>
                <a:cs typeface="Arial"/>
              </a:rPr>
              <a:t>Sci.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,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vol.</a:t>
            </a:r>
            <a:r>
              <a:rPr sz="800" spc="-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14,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no.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3,</a:t>
            </a:r>
            <a:r>
              <a:rPr sz="800" spc="-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pp.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0C46A0"/>
                </a:solidFill>
                <a:latin typeface="Tahoma"/>
                <a:cs typeface="Tahoma"/>
              </a:rPr>
              <a:t>356–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363,</a:t>
            </a:r>
            <a:r>
              <a:rPr sz="800" spc="-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2014.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V.</a:t>
            </a:r>
            <a:r>
              <a:rPr sz="800" spc="-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Saxena,</a:t>
            </a:r>
            <a:r>
              <a:rPr sz="800" spc="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90" dirty="0">
                <a:solidFill>
                  <a:srgbClr val="0C46A0"/>
                </a:solidFill>
                <a:latin typeface="Tahoma"/>
                <a:cs typeface="Tahoma"/>
              </a:rPr>
              <a:t>“A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 compact </a:t>
            </a:r>
            <a:r>
              <a:rPr sz="800" spc="65" dirty="0">
                <a:solidFill>
                  <a:srgbClr val="0C46A0"/>
                </a:solidFill>
                <a:latin typeface="Tahoma"/>
                <a:cs typeface="Tahoma"/>
              </a:rPr>
              <a:t>CMOS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memristor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emulator</a:t>
            </a:r>
            <a:r>
              <a:rPr sz="800" spc="-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circuit and its applications,”</a:t>
            </a:r>
            <a:r>
              <a:rPr sz="800" spc="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i="1" spc="-10" dirty="0">
                <a:solidFill>
                  <a:srgbClr val="0C46A0"/>
                </a:solidFill>
                <a:latin typeface="Arial"/>
                <a:cs typeface="Arial"/>
              </a:rPr>
              <a:t>IEEE</a:t>
            </a:r>
            <a:r>
              <a:rPr sz="800" i="1" spc="25" dirty="0">
                <a:solidFill>
                  <a:srgbClr val="0C46A0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0C46A0"/>
                </a:solidFill>
                <a:latin typeface="Arial"/>
                <a:cs typeface="Arial"/>
              </a:rPr>
              <a:t>MWSCAS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,</a:t>
            </a:r>
            <a:r>
              <a:rPr sz="800" spc="-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pp. </a:t>
            </a:r>
            <a:r>
              <a:rPr sz="800" spc="-25" dirty="0">
                <a:solidFill>
                  <a:srgbClr val="0C46A0"/>
                </a:solidFill>
                <a:latin typeface="Tahoma"/>
                <a:cs typeface="Tahoma"/>
              </a:rPr>
              <a:t>190–</a:t>
            </a:r>
            <a:r>
              <a:rPr sz="800" dirty="0">
                <a:solidFill>
                  <a:srgbClr val="0C46A0"/>
                </a:solidFill>
                <a:latin typeface="Tahoma"/>
                <a:cs typeface="Tahoma"/>
              </a:rPr>
              <a:t>193,</a:t>
            </a:r>
            <a:r>
              <a:rPr sz="800" spc="5" dirty="0">
                <a:solidFill>
                  <a:srgbClr val="0C46A0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0C46A0"/>
                </a:solidFill>
                <a:latin typeface="Tahoma"/>
                <a:cs typeface="Tahoma"/>
              </a:rPr>
              <a:t>2019.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73964" y="1162029"/>
            <a:ext cx="106680" cy="144780"/>
            <a:chOff x="173964" y="1162029"/>
            <a:chExt cx="106680" cy="14478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504" y="1164569"/>
              <a:ext cx="101219" cy="1391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76504" y="1164569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9156" y="1183548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1809" y="1202526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9156" y="1234157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3440" y="1230992"/>
              <a:ext cx="31635" cy="4428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33440" y="1284766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2419" y="11645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73964" y="1380291"/>
            <a:ext cx="106680" cy="144780"/>
            <a:chOff x="173964" y="1380291"/>
            <a:chExt cx="106680" cy="144780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504" y="1382831"/>
              <a:ext cx="101219" cy="13917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504" y="1382831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9156" y="1401810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1809" y="1420788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9156" y="1452419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3440" y="1449255"/>
              <a:ext cx="31635" cy="4428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33440" y="1503028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2419" y="138283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173964" y="1694146"/>
            <a:ext cx="106680" cy="144780"/>
            <a:chOff x="173964" y="1694146"/>
            <a:chExt cx="106680" cy="144780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504" y="1696686"/>
              <a:ext cx="101219" cy="13917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76504" y="1696686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156" y="1715665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1809" y="173464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9156" y="1766274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3440" y="1763110"/>
              <a:ext cx="31635" cy="4428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33440" y="1816883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2419" y="169668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173964" y="2008002"/>
            <a:ext cx="106680" cy="144780"/>
            <a:chOff x="173964" y="2008002"/>
            <a:chExt cx="106680" cy="144780"/>
          </a:xfrm>
        </p:grpSpPr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504" y="2010541"/>
              <a:ext cx="101219" cy="13917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76504" y="2010542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89156" y="2029520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01809" y="2048498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89156" y="2080129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3440" y="2076965"/>
              <a:ext cx="31635" cy="44283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33440" y="2130738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52419" y="201054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50" name="object 50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75497" y="541920"/>
            <a:ext cx="160972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000000"/>
                </a:solidFill>
                <a:latin typeface="Arial"/>
                <a:cs typeface="Arial"/>
              </a:rPr>
              <a:t>Thank</a:t>
            </a:r>
            <a:r>
              <a:rPr sz="2450" b="1" spc="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50" b="1" spc="-65" dirty="0">
                <a:solidFill>
                  <a:srgbClr val="000000"/>
                </a:solidFill>
                <a:latin typeface="Arial"/>
                <a:cs typeface="Arial"/>
              </a:rPr>
              <a:t>You</a:t>
            </a:r>
            <a:endParaRPr sz="24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75777" y="1015502"/>
            <a:ext cx="2209165" cy="1131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200" spc="-55" dirty="0">
                <a:latin typeface="Tahoma"/>
                <a:cs typeface="Tahoma"/>
              </a:rPr>
              <a:t>Questions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65" dirty="0">
                <a:latin typeface="Tahoma"/>
                <a:cs typeface="Tahoma"/>
              </a:rPr>
              <a:t>&amp;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Discussion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1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0C46A0"/>
                </a:solidFill>
                <a:latin typeface="Arial"/>
                <a:cs typeface="Arial"/>
              </a:rPr>
              <a:t>Contact</a:t>
            </a:r>
            <a:endParaRPr sz="1200">
              <a:latin typeface="Arial"/>
              <a:cs typeface="Arial"/>
            </a:endParaRPr>
          </a:p>
          <a:p>
            <a:pPr marL="12700" marR="5080" algn="ctr">
              <a:lnSpc>
                <a:spcPct val="102600"/>
              </a:lnSpc>
              <a:spcBef>
                <a:spcPts val="340"/>
              </a:spcBef>
              <a:tabLst>
                <a:tab pos="848360" algn="l"/>
                <a:tab pos="1172210" algn="l"/>
              </a:tabLst>
            </a:pPr>
            <a:r>
              <a:rPr sz="1100" spc="-30" dirty="0">
                <a:latin typeface="Arial MT"/>
                <a:cs typeface="Arial MT"/>
              </a:rPr>
              <a:t>Your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Name</a:t>
            </a:r>
            <a:r>
              <a:rPr sz="1100" dirty="0">
                <a:latin typeface="Arial MT"/>
                <a:cs typeface="Arial MT"/>
              </a:rPr>
              <a:t>	—	</a:t>
            </a:r>
            <a:r>
              <a:rPr sz="1100" spc="-10" dirty="0">
                <a:latin typeface="Arial MT"/>
                <a:cs typeface="Arial MT"/>
              </a:rPr>
              <a:t>Roll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No: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2003019 </a:t>
            </a:r>
            <a:r>
              <a:rPr sz="1100" spc="-30" dirty="0">
                <a:latin typeface="Arial MT"/>
                <a:cs typeface="Arial MT"/>
              </a:rPr>
              <a:t>Department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ECE,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IIIT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Guwahati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6D9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D6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C46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spc="25" dirty="0"/>
              <a:t> </a:t>
            </a:r>
            <a:r>
              <a:rPr dirty="0"/>
              <a:t>Mohanty</a:t>
            </a:r>
            <a:r>
              <a:rPr spc="250" dirty="0"/>
              <a:t> </a:t>
            </a:r>
            <a:r>
              <a:rPr dirty="0"/>
              <a:t>(IIIT</a:t>
            </a:r>
            <a:r>
              <a:rPr spc="30" dirty="0"/>
              <a:t> </a:t>
            </a:r>
            <a:r>
              <a:rPr spc="-10" dirty="0"/>
              <a:t>Guwahati)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76042" y="3135783"/>
            <a:ext cx="10083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CMOS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7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BAM</a:t>
            </a:r>
            <a:r>
              <a:rPr sz="600" spc="9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Neural</a:t>
            </a:r>
            <a:r>
              <a:rPr sz="600" spc="1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Network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25th</a:t>
            </a:r>
            <a:r>
              <a:rPr spc="40" dirty="0"/>
              <a:t> </a:t>
            </a:r>
            <a:r>
              <a:rPr dirty="0"/>
              <a:t>April,</a:t>
            </a:r>
            <a:r>
              <a:rPr spc="40" dirty="0"/>
              <a:t> </a:t>
            </a:r>
            <a:r>
              <a:rPr spc="-20" dirty="0"/>
              <a:t>2022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2324</Words>
  <Application>Microsoft Office PowerPoint</Application>
  <PresentationFormat>Custom</PresentationFormat>
  <Paragraphs>578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Arial MT</vt:lpstr>
      <vt:lpstr>Cambria</vt:lpstr>
      <vt:lpstr>Franklin Gothic Medium</vt:lpstr>
      <vt:lpstr>Lucida Sans Unicode</vt:lpstr>
      <vt:lpstr>Segoe UI Symbol</vt:lpstr>
      <vt:lpstr>Tahoma</vt:lpstr>
      <vt:lpstr>Times New Roman</vt:lpstr>
      <vt:lpstr>Verdana</vt:lpstr>
      <vt:lpstr>Office Theme</vt:lpstr>
      <vt:lpstr>Full CMOS Implementation of Bidirectional Associative Memory Neural Network with Analog Memristive Synapse B.Tech Thesis Presentation</vt:lpstr>
      <vt:lpstr>PowerPoint Presentation</vt:lpstr>
      <vt:lpstr>PowerPoint Presentation</vt:lpstr>
      <vt:lpstr>What is Neuromorphic Computing &amp; Why Use It?</vt:lpstr>
      <vt:lpstr>What is a Memristor?</vt:lpstr>
      <vt:lpstr>Memristors as Artificial Synapses</vt:lpstr>
      <vt:lpstr>PowerPoint Presentation</vt:lpstr>
      <vt:lpstr>Literature Review &amp; Motivation</vt:lpstr>
      <vt:lpstr>PowerPoint Presentation</vt:lpstr>
      <vt:lpstr>Problem Statement &amp; Objectives</vt:lpstr>
      <vt:lpstr>PowerPoint Presentation</vt:lpstr>
      <vt:lpstr>Proposed Technique: BAM Algorithm &amp; Weight Calculation</vt:lpstr>
      <vt:lpstr>Implementation: CMOS Memristor Emulator</vt:lpstr>
      <vt:lpstr>Implementation: Crossbar Architecture &amp; Mapping</vt:lpstr>
      <vt:lpstr>Circuit Implementation: Reference vs. Our Design</vt:lpstr>
      <vt:lpstr>Results: Learning Phase (Memristor Programming)</vt:lpstr>
      <vt:lpstr>Results: Simulation Waveforms (Pattern Recall)</vt:lpstr>
      <vt:lpstr>PowerPoint Presentation</vt:lpstr>
      <vt:lpstr>Conclusion &amp; 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CMOS Implementation of Bidirectional Associative Memory Neural Network with Analog Memristive Synapse - B.Tech Thesis Presentation</dc:title>
  <dc:creator> Sachin Mohanty  Roll No: 2301180 [0.3cm] Under the Supervision of:  Dr. Mourina Ghosh </dc:creator>
  <cp:lastModifiedBy>Sachin Mohanty</cp:lastModifiedBy>
  <cp:revision>1</cp:revision>
  <dcterms:created xsi:type="dcterms:W3CDTF">2026-04-18T06:30:45Z</dcterms:created>
  <dcterms:modified xsi:type="dcterms:W3CDTF">2026-04-18T06:38:45Z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2026-04-18T00:00:00Z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2026-04-18T00:00:00Z</vt:filetime>
  </property>
  <property fmtid="{D5CDD505-2E9C-101B-9397-08002B2CF9AE}" pid="6" name="PTEX.Fullbanner">
    <vt:lpwstr>This is pdfTeX, Version 3.141592653-2.6-1.40.27 (TeX Live 2025) kpathsea version 6.4.1</vt:lpwstr>
  </property>
  <property fmtid="{D5CDD505-2E9C-101B-9397-08002B2CF9AE}" pid="7" name="Producer">
    <vt:lpwstr>pdfTeX-1.40.27</vt:lpwstr>
  </property>
</Properties>
</file>